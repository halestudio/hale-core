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8"/>
  </p:notesMasterIdLst>
  <p:sldIdLst>
    <p:sldId id="297" r:id="rId2"/>
    <p:sldId id="647" r:id="rId3"/>
    <p:sldId id="660" r:id="rId4"/>
    <p:sldId id="644" r:id="rId5"/>
    <p:sldId id="648" r:id="rId6"/>
    <p:sldId id="651" r:id="rId7"/>
    <p:sldId id="659" r:id="rId8"/>
    <p:sldId id="649" r:id="rId9"/>
    <p:sldId id="650" r:id="rId10"/>
    <p:sldId id="652" r:id="rId11"/>
    <p:sldId id="653" r:id="rId12"/>
    <p:sldId id="654" r:id="rId13"/>
    <p:sldId id="655" r:id="rId14"/>
    <p:sldId id="656" r:id="rId15"/>
    <p:sldId id="657" r:id="rId16"/>
    <p:sldId id="661"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4" pos="7680" userDrawn="1">
          <p15:clr>
            <a:srgbClr val="F26B43"/>
          </p15:clr>
        </p15:guide>
        <p15:guide id="6" pos="3840" userDrawn="1">
          <p15:clr>
            <a:srgbClr val="F26B43"/>
          </p15:clr>
        </p15:guide>
        <p15:guide id="7" orient="horz" userDrawn="1">
          <p15:clr>
            <a:srgbClr val="F26B43"/>
          </p15:clr>
        </p15:guide>
        <p15:guide id="9" pos="30" userDrawn="1">
          <p15:clr>
            <a:srgbClr val="F26B43"/>
          </p15:clr>
        </p15:guide>
        <p15:guide id="10" orient="horz" pos="2183" userDrawn="1">
          <p15:clr>
            <a:srgbClr val="F26B43"/>
          </p15:clr>
        </p15:guide>
        <p15:guide id="11" orient="horz" pos="4320" userDrawn="1">
          <p15:clr>
            <a:srgbClr val="F26B43"/>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1A1E9"/>
    <a:srgbClr val="98C14F"/>
    <a:srgbClr val="A7DC72"/>
    <a:srgbClr val="176DBB"/>
    <a:srgbClr val="1C84E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86" autoAdjust="0"/>
    <p:restoredTop sz="52542" autoAdjust="0"/>
  </p:normalViewPr>
  <p:slideViewPr>
    <p:cSldViewPr snapToGrid="0" showGuides="1">
      <p:cViewPr varScale="1">
        <p:scale>
          <a:sx n="43" d="100"/>
          <a:sy n="43" d="100"/>
        </p:scale>
        <p:origin x="2232" y="48"/>
      </p:cViewPr>
      <p:guideLst>
        <p:guide pos="7680"/>
        <p:guide pos="3840"/>
        <p:guide orient="horz"/>
        <p:guide pos="30"/>
        <p:guide orient="horz" pos="2183"/>
        <p:guide orient="horz" pos="4320"/>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C9BBC5-1F67-41FB-A8A4-95382B5B8A5F}" type="datetimeFigureOut">
              <a:rPr lang="en-US" smtClean="0"/>
              <a:t>9/29/2026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B2BE2D-578C-4925-9F89-CF92B7E8868C}" type="slidenum">
              <a:rPr lang="en-US" smtClean="0"/>
              <a:t>‹#›</a:t>
            </a:fld>
            <a:endParaRPr lang="en-US"/>
          </a:p>
        </p:txBody>
      </p:sp>
    </p:spTree>
    <p:extLst>
      <p:ext uri="{BB962C8B-B14F-4D97-AF65-F5344CB8AC3E}">
        <p14:creationId xmlns:p14="http://schemas.microsoft.com/office/powerpoint/2010/main" val="41741005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Thanks for making time today.</a:t>
            </a:r>
          </a:p>
          <a:p>
            <a:endParaRPr lang="en-GB" dirty="0"/>
          </a:p>
          <a:p>
            <a:r>
              <a:rPr lang="en-GB" dirty="0"/>
              <a:t>This presentation is about a short research task – a "spike" – under ticket ING-5399. The question behind it is simple: should hale-core be able to save data as GeoParquet files?</a:t>
            </a:r>
          </a:p>
          <a:p>
            <a:endParaRPr lang="en-GB" dirty="0"/>
          </a:p>
          <a:p>
            <a:r>
              <a:rPr lang="en-GB" dirty="0"/>
              <a:t>I've split the session into two parts. In the first part I'll explain what GeoParquet is, how it would fit into hale, and what we found out when we tried it. I'll start from the beginning, so you don't need any background. If something is unclear, please interrupt me and ask.</a:t>
            </a:r>
          </a:p>
          <a:p>
            <a:endParaRPr lang="en-GB" dirty="0"/>
          </a:p>
          <a:p>
            <a:r>
              <a:rPr lang="en-GB" dirty="0"/>
              <a:t>In the second part, at the end, we decide together what happens next.</a:t>
            </a:r>
          </a:p>
          <a:p>
            <a:endParaRPr lang="en-GB" dirty="0"/>
          </a:p>
          <a:p>
            <a:r>
              <a:rPr lang="en-GB" dirty="0"/>
              <a:t>One important thing to keep in mind: this was research, not product work. Nothing you'll see today goes into hale as it is. The spike was a small experiment to answer one question: is this worth building properly? That's the decision we're here to make.</a:t>
            </a:r>
          </a:p>
        </p:txBody>
      </p:sp>
      <p:sp>
        <p:nvSpPr>
          <p:cNvPr id="4" name="Slide Number Placeholder 3"/>
          <p:cNvSpPr>
            <a:spLocks noGrp="1"/>
          </p:cNvSpPr>
          <p:nvPr>
            <p:ph type="sldNum" sz="quarter" idx="5"/>
          </p:nvPr>
        </p:nvSpPr>
        <p:spPr/>
        <p:txBody>
          <a:bodyPr/>
          <a:lstStyle/>
          <a:p>
            <a:fld id="{C1B2BE2D-578C-4925-9F89-CF92B7E8868C}" type="slidenum">
              <a:rPr lang="en-US" smtClean="0"/>
              <a:t>1</a:t>
            </a:fld>
            <a:endParaRPr lang="en-US"/>
          </a:p>
        </p:txBody>
      </p:sp>
    </p:spTree>
    <p:extLst>
      <p:ext uri="{BB962C8B-B14F-4D97-AF65-F5344CB8AC3E}">
        <p14:creationId xmlns:p14="http://schemas.microsoft.com/office/powerpoint/2010/main" val="9295152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Here's the plan for today, in six steps.</a:t>
            </a:r>
          </a:p>
          <a:p>
            <a:endParaRPr lang="en-GB" dirty="0"/>
          </a:p>
          <a:p>
            <a:r>
              <a:rPr lang="en-GB" dirty="0"/>
              <a:t>First, what GeoParquet actually is – explained from zero, no background needed.</a:t>
            </a:r>
          </a:p>
          <a:p>
            <a:endParaRPr lang="en-GB" dirty="0"/>
          </a:p>
          <a:p>
            <a:r>
              <a:rPr lang="en-GB" dirty="0"/>
              <a:t>Second, how it would fit into hale-core. The short version: it's not a new kind of thing for us. It follows the same pattern as export formats we already have.</a:t>
            </a:r>
          </a:p>
          <a:p>
            <a:endParaRPr lang="en-GB" dirty="0"/>
          </a:p>
          <a:p>
            <a:r>
              <a:rPr lang="en-GB" dirty="0"/>
              <a:t>Third, a look inside the spike: what we built and how it works. I'll keep the technical parts short.</a:t>
            </a:r>
          </a:p>
          <a:p>
            <a:endParaRPr lang="en-GB" dirty="0"/>
          </a:p>
          <a:p>
            <a:r>
              <a:rPr lang="en-GB" dirty="0"/>
              <a:t>Fourth, what we found when we ran it – including two mistakes we made along the way and fixed. I think those are useful to see.</a:t>
            </a:r>
          </a:p>
          <a:p>
            <a:endParaRPr lang="en-GB" dirty="0"/>
          </a:p>
          <a:p>
            <a:r>
              <a:rPr lang="en-GB" dirty="0"/>
              <a:t>Fifth, the arguments for and against building this for real.</a:t>
            </a:r>
          </a:p>
          <a:p>
            <a:endParaRPr lang="en-GB" dirty="0"/>
          </a:p>
          <a:p>
            <a:r>
              <a:rPr lang="en-GB" dirty="0"/>
              <a:t>And sixth, the next steps – the decisions I'd like us to take before we leave the room.</a:t>
            </a:r>
          </a:p>
        </p:txBody>
      </p:sp>
      <p:sp>
        <p:nvSpPr>
          <p:cNvPr id="4" name="Slide Number Placeholder 3"/>
          <p:cNvSpPr>
            <a:spLocks noGrp="1"/>
          </p:cNvSpPr>
          <p:nvPr>
            <p:ph type="sldNum" sz="quarter" idx="5"/>
          </p:nvPr>
        </p:nvSpPr>
        <p:spPr/>
        <p:txBody>
          <a:bodyPr/>
          <a:lstStyle/>
          <a:p>
            <a:fld id="{C1B2BE2D-578C-4925-9F89-CF92B7E8868C}" type="slidenum">
              <a:rPr lang="en-US" smtClean="0"/>
              <a:t>2</a:t>
            </a:fld>
            <a:endParaRPr lang="en-US"/>
          </a:p>
        </p:txBody>
      </p:sp>
    </p:spTree>
    <p:extLst>
      <p:ext uri="{BB962C8B-B14F-4D97-AF65-F5344CB8AC3E}">
        <p14:creationId xmlns:p14="http://schemas.microsoft.com/office/powerpoint/2010/main" val="4545128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Let's start with the basics: what is GeoParquet?</a:t>
            </a:r>
          </a:p>
          <a:p>
            <a:endParaRPr lang="en-GB" dirty="0"/>
          </a:p>
          <a:p>
            <a:r>
              <a:rPr lang="en-GB" dirty="0"/>
              <a:t>GeoParquet combines two things. The first is Parquet. Parquet is a file format for tables of data – rows and columns, like a big spreadsheet. It's the standard format in the data and analytics world. Tools that data teams use every day – DuckDB, Spark, pandas – read and write it directly.</a:t>
            </a:r>
          </a:p>
          <a:p>
            <a:endParaRPr lang="en-GB" dirty="0"/>
          </a:p>
          <a:p>
            <a:r>
              <a:rPr lang="en-GB" dirty="0"/>
              <a:t>What makes Parquet special is how it stores the table: column by column, instead of row by row. Imagine a huge spreadsheet where you only care about one column. With Parquet, a tool can read just that column and skip everything else. That makes searching very fast, and it also compresses very well, so the files are small.</a:t>
            </a:r>
          </a:p>
          <a:p>
            <a:endParaRPr lang="en-GB" dirty="0"/>
          </a:p>
          <a:p>
            <a:r>
              <a:rPr lang="en-GB" dirty="0"/>
              <a:t>The second thing is geometries – points, lines and polygons – together with their coordinate reference system, the CRS, which says where on Earth the coordinates are. That's what we work with in hale every day, for example in GML.</a:t>
            </a:r>
          </a:p>
          <a:p>
            <a:endParaRPr lang="en-GB" dirty="0"/>
          </a:p>
          <a:p>
            <a:r>
              <a:rPr lang="en-GB" dirty="0"/>
              <a:t>GeoParquet simply says: here is the agreed way to put geometries into a Parquet file, so that every tool understands them the same way.</a:t>
            </a:r>
          </a:p>
          <a:p>
            <a:endParaRPr lang="en-GB" dirty="0"/>
          </a:p>
          <a:p>
            <a:r>
              <a:rPr lang="en-GB" dirty="0"/>
              <a:t>Why does that matter? Until now, if you wanted to share a large map dataset as a file, you mostly had two choices: Shapefile, which is old and has many limits, or GeoPackage, which is good but stores data row by row, like a classic database. GeoParquet brings Parquet's advantages – small files, fast queries and many tools – to map data.</a:t>
            </a:r>
          </a:p>
          <a:p>
            <a:endParaRPr lang="en-GB" dirty="0"/>
          </a:p>
          <a:p>
            <a:r>
              <a:rPr lang="en-GB" dirty="0"/>
              <a:t>And a nice detail for us: inside the file, each geometry is stored in a standard binary format called WKB – Well-Known Binary. hale already produces WKB today, using a library called JTS (Java Topology Suite) . So there's no new geometry format to learn.</a:t>
            </a:r>
          </a:p>
        </p:txBody>
      </p:sp>
      <p:sp>
        <p:nvSpPr>
          <p:cNvPr id="4" name="Slide Number Placeholder 3"/>
          <p:cNvSpPr>
            <a:spLocks noGrp="1"/>
          </p:cNvSpPr>
          <p:nvPr>
            <p:ph type="sldNum" sz="quarter" idx="5"/>
          </p:nvPr>
        </p:nvSpPr>
        <p:spPr/>
        <p:txBody>
          <a:bodyPr/>
          <a:lstStyle/>
          <a:p>
            <a:fld id="{C1B2BE2D-578C-4925-9F89-CF92B7E8868C}" type="slidenum">
              <a:rPr lang="en-US" smtClean="0"/>
              <a:t>3</a:t>
            </a:fld>
            <a:endParaRPr lang="en-US"/>
          </a:p>
        </p:txBody>
      </p:sp>
    </p:spTree>
    <p:extLst>
      <p:ext uri="{BB962C8B-B14F-4D97-AF65-F5344CB8AC3E}">
        <p14:creationId xmlns:p14="http://schemas.microsoft.com/office/powerpoint/2010/main" val="38822356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The important point on this slide: there are two versions of GeoParquet, and the difference really matters for us.</a:t>
            </a:r>
          </a:p>
          <a:p>
            <a:endParaRPr lang="en-GB" dirty="0"/>
          </a:p>
          <a:p>
            <a:r>
              <a:rPr lang="en-GB" dirty="0"/>
              <a:t>Version 1. Here, the geometry is stored in a completely ordinary column of raw bytes. Everything that says "this is geometry, and this is its coordinate system" is written separately, in a small JSON note in the file's metadata. A normal Parquet tool that doesn't know the GeoParquet rules just sees a column full of meaningless bytes.</a:t>
            </a:r>
          </a:p>
          <a:p>
            <a:endParaRPr lang="en-GB" dirty="0"/>
          </a:p>
          <a:p>
            <a:r>
              <a:rPr lang="en-GB" dirty="0"/>
              <a:t>Version 2, is the one we need. Since last year, Parquet itself has a built-in type for geometry, called GEOMETRY. So the column itself says "I contain geometry", and any Parquet tool can recognise it, even without knowing the GeoParquet rules. The JSON note still exists on top, for more detailed information like the exact coordinate system.</a:t>
            </a:r>
          </a:p>
          <a:p>
            <a:endParaRPr lang="en-GB" dirty="0"/>
          </a:p>
          <a:p>
            <a:r>
              <a:rPr lang="en-GB" dirty="0"/>
              <a:t>Two more points. First: there was a competing idea called GeoArrow – storing geometries in the format of another library, Apache Arrow. It was dropped in version 2. That's good news for us, because Arrow is a big, heavy library we wanted to keep out of hale.</a:t>
            </a:r>
          </a:p>
          <a:p>
            <a:endParaRPr lang="en-GB" dirty="0"/>
          </a:p>
          <a:p>
            <a:r>
              <a:rPr lang="en-GB" dirty="0"/>
              <a:t>Second: the coordinate system – the information that says where on Earth our coordinates are. Usually we identify it with a short code, like EPSG:2056 for Switzerland. That's like saying "recipe number 2056": you need the cookbook to know what it means. </a:t>
            </a:r>
            <a:r>
              <a:rPr lang="en-GB" dirty="0" err="1"/>
              <a:t>GeoParquet</a:t>
            </a:r>
            <a:r>
              <a:rPr lang="en-GB" dirty="0"/>
              <a:t> wants the full recipe inside the file – written out as JSON, called PROJJSON – with the Earth model, the projection and the axes. That way any tool can read it, without needing its own cookbook. hale doesn't produce that today. For the spike, we download it from a public website, spatialreference.org, and keep a copy. That can't ship – exports would fail without internet – so for production we'd ship those definitions with the plugin instead.</a:t>
            </a:r>
          </a:p>
        </p:txBody>
      </p:sp>
      <p:sp>
        <p:nvSpPr>
          <p:cNvPr id="4" name="Slide Number Placeholder 3"/>
          <p:cNvSpPr>
            <a:spLocks noGrp="1"/>
          </p:cNvSpPr>
          <p:nvPr>
            <p:ph type="sldNum" sz="quarter" idx="5"/>
          </p:nvPr>
        </p:nvSpPr>
        <p:spPr/>
        <p:txBody>
          <a:bodyPr/>
          <a:lstStyle/>
          <a:p>
            <a:fld id="{C1B2BE2D-578C-4925-9F89-CF92B7E8868C}" type="slidenum">
              <a:rPr lang="en-US" smtClean="0"/>
              <a:t>4</a:t>
            </a:fld>
            <a:endParaRPr lang="en-US"/>
          </a:p>
        </p:txBody>
      </p:sp>
    </p:spTree>
    <p:extLst>
      <p:ext uri="{BB962C8B-B14F-4D97-AF65-F5344CB8AC3E}">
        <p14:creationId xmlns:p14="http://schemas.microsoft.com/office/powerpoint/2010/main" val="1877248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slide should be reassuring: GeoParquet would not be a new kind of thing in hale. It fits a pattern we already use.</a:t>
            </a:r>
          </a:p>
          <a:p>
            <a:endParaRPr lang="en-GB" dirty="0"/>
          </a:p>
          <a:p>
            <a:r>
              <a:rPr lang="en-GB" dirty="0"/>
              <a:t>In hale, every export format is a "writer" – a piece of code that takes hale's data and saves it as a file in a certain format. All writers are built in layers, like a family tree. At the top is InstanceWriter – the general rule that every export follows. Below it are shared building blocks, and one of them, AbstractGeoInstanceWriter, adds everything needed for map data: geometries and coordinate systems. All of this exists today.</a:t>
            </a:r>
          </a:p>
          <a:p>
            <a:endParaRPr lang="en-GB" dirty="0"/>
          </a:p>
          <a:p>
            <a:r>
              <a:rPr lang="en-GB" dirty="0"/>
              <a:t>One of the writers built on it is our GeoPackage export, which users already have. I looked at what it does. In four steps: it takes the geometry and coordinate system from hale's data, converts the coordinate system with a library called GeoTools, turns the geometry into WKB bytes with JTS, and then writes the file with the GeoPackage library.</a:t>
            </a:r>
          </a:p>
          <a:p>
            <a:endParaRPr lang="en-GB" dirty="0"/>
          </a:p>
          <a:p>
            <a:r>
              <a:rPr lang="en-GB" dirty="0"/>
              <a:t>A GeoParquet writer would be a sibling of the GeoPackage writer. The first three steps would be the same. Only the last step changes: instead of handing the WKB bytes to the GeoPackage library, we hand them to the Parquet library.</a:t>
            </a:r>
          </a:p>
          <a:p>
            <a:endParaRPr lang="en-GB" dirty="0"/>
          </a:p>
          <a:p>
            <a:r>
              <a:rPr lang="en-GB" dirty="0"/>
              <a:t>That last step is the new part – and that's exactly what the spike tested, on its own, outside hale. Connecting it to hale's data model is not part of this spike; that would be the follow-up work.</a:t>
            </a:r>
          </a:p>
        </p:txBody>
      </p:sp>
      <p:sp>
        <p:nvSpPr>
          <p:cNvPr id="4" name="Slide Number Placeholder 3"/>
          <p:cNvSpPr>
            <a:spLocks noGrp="1"/>
          </p:cNvSpPr>
          <p:nvPr>
            <p:ph type="sldNum" sz="quarter" idx="5"/>
          </p:nvPr>
        </p:nvSpPr>
        <p:spPr/>
        <p:txBody>
          <a:bodyPr/>
          <a:lstStyle/>
          <a:p>
            <a:fld id="{C1B2BE2D-578C-4925-9F89-CF92B7E8868C}" type="slidenum">
              <a:rPr lang="en-US" smtClean="0"/>
              <a:t>5</a:t>
            </a:fld>
            <a:endParaRPr lang="en-US"/>
          </a:p>
        </p:txBody>
      </p:sp>
    </p:spTree>
    <p:extLst>
      <p:ext uri="{BB962C8B-B14F-4D97-AF65-F5344CB8AC3E}">
        <p14:creationId xmlns:p14="http://schemas.microsoft.com/office/powerpoint/2010/main" val="31364976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we go into the details, here is the whole idea in one picture. Data goes in on the left, and a checked GeoParquet file comes out on the right. Let me walk through the five boxes.</a:t>
            </a:r>
          </a:p>
          <a:p>
            <a:endParaRPr lang="en-GB" dirty="0"/>
          </a:p>
          <a:p>
            <a:r>
              <a:rPr lang="en-GB" dirty="0"/>
              <a:t>One: read the data. For the test, we read map data from an existing GeoPackage file.</a:t>
            </a:r>
          </a:p>
          <a:p>
            <a:endParaRPr lang="en-GB" dirty="0"/>
          </a:p>
          <a:p>
            <a:r>
              <a:rPr lang="en-GB" dirty="0"/>
              <a:t>Two: encode the shapes. Each geometry is turned into WKB bytes, the standard binary format, using JTS – the same library hale already uses.</a:t>
            </a:r>
          </a:p>
          <a:p>
            <a:endParaRPr lang="en-GB" dirty="0"/>
          </a:p>
          <a:p>
            <a:r>
              <a:rPr lang="en-GB" dirty="0"/>
              <a:t>Three: label it as geometry. The bytes go into a Parquet column, and the column gets the built-in GEOMETRY type, plus the JSON note with the coordinate system. This is the highlighted box, and it's the only really new step. Version 1 writers never needed it.</a:t>
            </a:r>
          </a:p>
          <a:p>
            <a:endParaRPr lang="en-GB" dirty="0"/>
          </a:p>
          <a:p>
            <a:r>
              <a:rPr lang="en-GB" dirty="0"/>
              <a:t>Four: save the file. The result is a .parquet file that follows GeoParquet 2.0.</a:t>
            </a:r>
          </a:p>
          <a:p>
            <a:endParaRPr lang="en-GB" dirty="0"/>
          </a:p>
          <a:p>
            <a:r>
              <a:rPr lang="en-GB" dirty="0"/>
              <a:t>Five: check it. We use a separate tool, DuckDB, to open the file and confirm that everything came out correctly.</a:t>
            </a:r>
          </a:p>
          <a:p>
            <a:endParaRPr lang="en-GB" dirty="0"/>
          </a:p>
          <a:p>
            <a:r>
              <a:rPr lang="en-GB" dirty="0"/>
              <a:t>And the connection to hale: in a real hale plugin, only the first box changes. Instead of reading from a GeoPackage file, we'd start from hale's own data – the same starting point our GeoPackage and Shapefile exports already use. Everything from box two onwards stays exactly the same. That's why it made sense to test the pipeline on its own first.</a:t>
            </a:r>
          </a:p>
        </p:txBody>
      </p:sp>
      <p:sp>
        <p:nvSpPr>
          <p:cNvPr id="4" name="Slide Number Placeholder 3"/>
          <p:cNvSpPr>
            <a:spLocks noGrp="1"/>
          </p:cNvSpPr>
          <p:nvPr>
            <p:ph type="sldNum" sz="quarter" idx="5"/>
          </p:nvPr>
        </p:nvSpPr>
        <p:spPr/>
        <p:txBody>
          <a:bodyPr/>
          <a:lstStyle/>
          <a:p>
            <a:fld id="{C1B2BE2D-578C-4925-9F89-CF92B7E8868C}" type="slidenum">
              <a:rPr lang="en-US" smtClean="0"/>
              <a:t>6</a:t>
            </a:fld>
            <a:endParaRPr lang="en-US"/>
          </a:p>
        </p:txBody>
      </p:sp>
    </p:spTree>
    <p:extLst>
      <p:ext uri="{BB962C8B-B14F-4D97-AF65-F5344CB8AC3E}">
        <p14:creationId xmlns:p14="http://schemas.microsoft.com/office/powerpoint/2010/main" val="260989337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what's actually in the spike folder in our code repository. You don't need to remember the file names. What matters is that the spike does three jobs: it writes a GeoParquet file, it tries that on real data, and it lets an independent tool check the result.</a:t>
            </a:r>
          </a:p>
          <a:p>
            <a:endParaRPr lang="en-GB" dirty="0"/>
          </a:p>
          <a:p>
            <a:r>
              <a:rPr lang="en-GB" dirty="0"/>
              <a:t>For the developers, a quick tour.</a:t>
            </a:r>
          </a:p>
          <a:p>
            <a:endParaRPr lang="en-GB" dirty="0"/>
          </a:p>
          <a:p>
            <a:r>
              <a:rPr lang="en-GB" dirty="0"/>
              <a:t>pom.xml is the build setup. It's a separate, standalone project, not part of hale's normal build. It deliberately leaves out two compression libraries, snappy-java and zstd-jni. They contain native code – code compiled for specific operating systems, not pure Java – and we don't need them for uncompressed files.</a:t>
            </a:r>
          </a:p>
          <a:p>
            <a:endParaRPr lang="en-GB" dirty="0"/>
          </a:p>
          <a:p>
            <a:r>
              <a:rPr lang="en-GB" dirty="0"/>
              <a:t>CrsUtil.java is the coordinate-system shortcut I mentioned earlier. It downloads the full PROJJSON description for each EPSG code and keeps a local copy. That's only for the spike – a real plugin would ship these definitions instead of downloading them.</a:t>
            </a:r>
          </a:p>
          <a:p>
            <a:endParaRPr lang="en-GB" dirty="0"/>
          </a:p>
          <a:p>
            <a:r>
              <a:rPr lang="en-GB" dirty="0"/>
              <a:t>GeoParquetPoc.java is the core demo. It writes three made-up shapes – a point, a line and a polygon – as a GeoParquet 2.0 file.</a:t>
            </a:r>
          </a:p>
          <a:p>
            <a:endParaRPr lang="en-GB" dirty="0"/>
          </a:p>
          <a:p>
            <a:r>
              <a:rPr lang="en-GB" dirty="0"/>
              <a:t>GeoPackageToGeoParquet.java does the same with real data: it reads an actual GeoPackage file and writes it out as GeoParquet.</a:t>
            </a:r>
          </a:p>
          <a:p>
            <a:endParaRPr lang="en-GB" dirty="0"/>
          </a:p>
          <a:p>
            <a:r>
              <a:rPr lang="en-GB" dirty="0"/>
              <a:t>validate.py is our independent check, using DuckDB.</a:t>
            </a:r>
          </a:p>
          <a:p>
            <a:endParaRPr lang="en-GB" dirty="0"/>
          </a:p>
          <a:p>
            <a:r>
              <a:rPr lang="en-GB" dirty="0"/>
              <a:t>data/013_Grindelwald.gpkg is the real test data – a Swiss geological survey dataset, not something we made up.</a:t>
            </a:r>
          </a:p>
          <a:p>
            <a:endParaRPr lang="en-GB" dirty="0"/>
          </a:p>
          <a:p>
            <a:r>
              <a:rPr lang="en-GB" dirty="0"/>
              <a:t>And NOTES.md is the full investigation log. This presentation is a summary of it, so if you want the details – exact error messages, lists of dependencies – that's where to look.</a:t>
            </a:r>
          </a:p>
        </p:txBody>
      </p:sp>
      <p:sp>
        <p:nvSpPr>
          <p:cNvPr id="4" name="Slide Number Placeholder 3"/>
          <p:cNvSpPr>
            <a:spLocks noGrp="1"/>
          </p:cNvSpPr>
          <p:nvPr>
            <p:ph type="sldNum" sz="quarter" idx="5"/>
          </p:nvPr>
        </p:nvSpPr>
        <p:spPr/>
        <p:txBody>
          <a:bodyPr/>
          <a:lstStyle/>
          <a:p>
            <a:fld id="{C1B2BE2D-578C-4925-9F89-CF92B7E8868C}" type="slidenum">
              <a:rPr lang="en-US" smtClean="0"/>
              <a:t>7</a:t>
            </a:fld>
            <a:endParaRPr lang="en-US"/>
          </a:p>
        </p:txBody>
      </p:sp>
    </p:spTree>
    <p:extLst>
      <p:ext uri="{BB962C8B-B14F-4D97-AF65-F5344CB8AC3E}">
        <p14:creationId xmlns:p14="http://schemas.microsoft.com/office/powerpoint/2010/main" val="307737474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only piece of code in the presentation, and it's the most important line of the spike.</a:t>
            </a:r>
          </a:p>
          <a:p>
            <a:endParaRPr lang="en-GB" dirty="0"/>
          </a:p>
          <a:p>
            <a:r>
              <a:rPr lang="en-GB" dirty="0"/>
              <a:t>For everyone, an analogy: think of a moving box. In version 1, the box had no label. To know what was inside, you had to find the packing list, which was kept somewhere else. In version 2, the box itself says "geometry" on the outside. This line of code is that label.</a:t>
            </a:r>
          </a:p>
          <a:p>
            <a:endParaRPr lang="en-GB" dirty="0"/>
          </a:p>
          <a:p>
            <a:r>
              <a:rPr lang="en-GB" dirty="0"/>
              <a:t>For the developers: it defines a binary column named "geometry" and marks it with Parquet's built-in GEOMETRY type, including the coordinate system. That mark is what makes it a real GeoParquet 2.0 column – not just a column of bytes that happens to contain WKB.</a:t>
            </a:r>
          </a:p>
          <a:p>
            <a:endParaRPr lang="en-GB" dirty="0"/>
          </a:p>
          <a:p>
            <a:r>
              <a:rPr lang="en-GB" dirty="0"/>
              <a:t>The rest of this file writes the three test shapes, encodes them with JTS, adds the JSON note, and runs without Hadoop. Hadoop is a large big-data framework that we don't want inside hale – I'll come back to it on the findings slide.</a:t>
            </a:r>
          </a:p>
        </p:txBody>
      </p:sp>
      <p:sp>
        <p:nvSpPr>
          <p:cNvPr id="4" name="Slide Number Placeholder 3"/>
          <p:cNvSpPr>
            <a:spLocks noGrp="1"/>
          </p:cNvSpPr>
          <p:nvPr>
            <p:ph type="sldNum" sz="quarter" idx="5"/>
          </p:nvPr>
        </p:nvSpPr>
        <p:spPr/>
        <p:txBody>
          <a:bodyPr/>
          <a:lstStyle/>
          <a:p>
            <a:fld id="{C1B2BE2D-578C-4925-9F89-CF92B7E8868C}" type="slidenum">
              <a:rPr lang="en-US" smtClean="0"/>
              <a:t>8</a:t>
            </a:fld>
            <a:endParaRPr lang="en-US"/>
          </a:p>
        </p:txBody>
      </p:sp>
    </p:spTree>
    <p:extLst>
      <p:ext uri="{BB962C8B-B14F-4D97-AF65-F5344CB8AC3E}">
        <p14:creationId xmlns:p14="http://schemas.microsoft.com/office/powerpoint/2010/main" val="22523288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we tested with real data.</a:t>
            </a:r>
          </a:p>
          <a:p>
            <a:endParaRPr lang="en-GB" dirty="0"/>
          </a:p>
          <a:p>
            <a:r>
              <a:rPr lang="en-GB" dirty="0"/>
              <a:t>This part of the spike reads an actual GeoPackage file. There's one technical trick: GeoPackage stores each geometry with a small extra header in front of the WKB. We removed that header, following the official GeoPackage specification, so we were left with plain WKB. Then we sent it through exactly the same writing code as the demo – there's no special path for real data.</a:t>
            </a:r>
          </a:p>
          <a:p>
            <a:endParaRPr lang="en-GB" dirty="0"/>
          </a:p>
          <a:p>
            <a:r>
              <a:rPr lang="en-GB" dirty="0"/>
              <a:t>The test data is a real layer called Bedrock_PLG – bedrock areas – from a Swiss geological survey dataset, in the Swiss coordinate system EPSG:2056.</a:t>
            </a:r>
          </a:p>
          <a:p>
            <a:endParaRPr lang="en-GB" dirty="0"/>
          </a:p>
          <a:p>
            <a:r>
              <a:rPr lang="en-GB" dirty="0"/>
              <a:t>The numbers on the right tell the story. 1,097 real polygons were written. The file is 2.77 megabytes, without compression. Each feature has 14 text attributes, including IDs and texts with French and German accents – like "Aalénien". That's a good test, because special characters are often where things break. And zero Hadoop classes were needed while running.</a:t>
            </a:r>
          </a:p>
          <a:p>
            <a:endParaRPr lang="en-GB" dirty="0"/>
          </a:p>
          <a:p>
            <a:r>
              <a:rPr lang="en-GB" dirty="0"/>
              <a:t>Then the most important part: all 1,097 rows were read back correctly by DuckDB – a tool we didn't write and have no influence on. So it's not our own code telling us that our own code works.</a:t>
            </a:r>
          </a:p>
        </p:txBody>
      </p:sp>
      <p:sp>
        <p:nvSpPr>
          <p:cNvPr id="4" name="Slide Number Placeholder 3"/>
          <p:cNvSpPr>
            <a:spLocks noGrp="1"/>
          </p:cNvSpPr>
          <p:nvPr>
            <p:ph type="sldNum" sz="quarter" idx="5"/>
          </p:nvPr>
        </p:nvSpPr>
        <p:spPr/>
        <p:txBody>
          <a:bodyPr/>
          <a:lstStyle/>
          <a:p>
            <a:fld id="{C1B2BE2D-578C-4925-9F89-CF92B7E8868C}" type="slidenum">
              <a:rPr lang="en-US" smtClean="0"/>
              <a:t>9</a:t>
            </a:fld>
            <a:endParaRPr lang="en-US"/>
          </a:p>
        </p:txBody>
      </p:sp>
    </p:spTree>
    <p:extLst>
      <p:ext uri="{BB962C8B-B14F-4D97-AF65-F5344CB8AC3E}">
        <p14:creationId xmlns:p14="http://schemas.microsoft.com/office/powerpoint/2010/main" val="4087261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 think this is the most important slide, because it's not just a list of things that went well. It's an summary of what we learned by actually running the code – including two corrections to our own earlier work. There are six cards, each marked Fixed, Risk, Open or Confirmed.</a:t>
            </a:r>
          </a:p>
          <a:p>
            <a:endParaRPr lang="en-GB" dirty="0"/>
          </a:p>
          <a:p>
            <a:r>
              <a:rPr lang="en-GB" dirty="0"/>
              <a:t>Fixed – plain WKB wasn't 2.0-compliant. That's the missing-label story from the code slide. Found, fixed, and no newer library version was needed.</a:t>
            </a:r>
          </a:p>
          <a:p>
            <a:endParaRPr lang="en-GB" dirty="0"/>
          </a:p>
          <a:p>
            <a:r>
              <a:rPr lang="en-GB" dirty="0"/>
              <a:t>Risk – compression brings Hadoop back. This is the one to remember. Hadoop is a large framework from the big-data world. We don't want it inside hale, because it's big and brings many other libraries with it. The Parquet library can run without Hadoop – but only as long as we write uncompressed files. As soon as we switch on any compression, even the simple GZIP, the library needs Hadoop again. So today: no Hadoop means no compression, and the files are bigger than they need to be. For the follow-up there are three options: ship uncompressed first, accept Hadoop as a dependency just for compression, or write our own small piece of code that compresses without Hadoop.</a:t>
            </a:r>
          </a:p>
          <a:p>
            <a:endParaRPr lang="en-GB" dirty="0"/>
          </a:p>
          <a:p>
            <a:r>
              <a:rPr lang="en-GB" dirty="0"/>
              <a:t>Fixed – plugin packaging. hale is built from plugins, using a system called OSGi, and each plugin has to declare exactly what it needs. Instead of assuming the Parquet library would fit, we actually built a plugin package with hale's own tools. It declared hard requirements on Hadoop and the compression libraries, which would have stopped the plugin from starting. We marked those as optional, and that fixed it.</a:t>
            </a:r>
          </a:p>
          <a:p>
            <a:endParaRPr lang="en-GB" dirty="0"/>
          </a:p>
          <a:p>
            <a:r>
              <a:rPr lang="en-GB" dirty="0"/>
              <a:t>Open – one more small packaging fix. The Parquet library contains its own internal copy of another library, Jackson, and that copy isn't declared correctly. We know the fix; we just didn't apply it in the spike.</a:t>
            </a:r>
          </a:p>
          <a:p>
            <a:endParaRPr lang="en-GB" dirty="0"/>
          </a:p>
          <a:p>
            <a:r>
              <a:rPr lang="en-GB" dirty="0"/>
              <a:t>Confirmed – real data. That's the 1,097 polygons from the previous slide.</a:t>
            </a:r>
          </a:p>
          <a:p>
            <a:endParaRPr lang="en-GB" dirty="0"/>
          </a:p>
          <a:p>
            <a:r>
              <a:rPr lang="en-GB" dirty="0"/>
              <a:t>Open – the coordinate-system text. The built-in GEOMETRY type has a field for the coordinate system, but the Parquet rules don't say what exactly should go in it – a short code, a full description, or something else. I haven't checked yet how other tools fill it in.</a:t>
            </a:r>
          </a:p>
        </p:txBody>
      </p:sp>
      <p:sp>
        <p:nvSpPr>
          <p:cNvPr id="4" name="Slide Number Placeholder 3"/>
          <p:cNvSpPr>
            <a:spLocks noGrp="1"/>
          </p:cNvSpPr>
          <p:nvPr>
            <p:ph type="sldNum" sz="quarter" idx="5"/>
          </p:nvPr>
        </p:nvSpPr>
        <p:spPr/>
        <p:txBody>
          <a:bodyPr/>
          <a:lstStyle/>
          <a:p>
            <a:fld id="{C1B2BE2D-578C-4925-9F89-CF92B7E8868C}" type="slidenum">
              <a:rPr lang="en-US" smtClean="0"/>
              <a:t>10</a:t>
            </a:fld>
            <a:endParaRPr lang="en-US"/>
          </a:p>
        </p:txBody>
      </p:sp>
    </p:spTree>
    <p:extLst>
      <p:ext uri="{BB962C8B-B14F-4D97-AF65-F5344CB8AC3E}">
        <p14:creationId xmlns:p14="http://schemas.microsoft.com/office/powerpoint/2010/main" val="164380816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Before recommending an approach,  more alternatives have been looked into. I was not looking for just any library: the ticket asked for something pure Java – so no native code – and without the heavy Arrow library. Here are the six options.</a:t>
            </a:r>
          </a:p>
          <a:p>
            <a:endParaRPr lang="en-GB" dirty="0"/>
          </a:p>
          <a:p>
            <a:r>
              <a:rPr lang="en-GB" dirty="0"/>
              <a:t>parquet-java, used directly: the official Java library for Parquet, from the Apache project, free to use under the Apache 2.0 licence. This is what the spike is built on, and it’s what I would recommend.</a:t>
            </a:r>
          </a:p>
          <a:p>
            <a:endParaRPr lang="en-GB" dirty="0"/>
          </a:p>
          <a:p>
            <a:r>
              <a:rPr lang="en-GB" dirty="0"/>
              <a:t>Carpet: a friendlier layer on top of parquet-java. Its documentation says it doesn't need Hadoop. We checked its actual dependencies, and it does – it needs hadoop-common. It also doesn't add anything specific to GeoParquet. So: not recommended.</a:t>
            </a:r>
          </a:p>
          <a:p>
            <a:endParaRPr lang="en-GB" dirty="0"/>
          </a:p>
          <a:p>
            <a:r>
              <a:rPr lang="en-GB" dirty="0"/>
              <a:t>Parquetry: a newer library built specifically for GeoParquet, which sounds perfect. But it needs Java 25, and hale runs on an older Java version today. So we can't use it now – but it's worth watching for later.</a:t>
            </a:r>
          </a:p>
          <a:p>
            <a:endParaRPr lang="en-GB" dirty="0"/>
          </a:p>
          <a:p>
            <a:r>
              <a:rPr lang="en-GB" dirty="0"/>
              <a:t>GeoTools: a library hale already uses a lot. It can read GeoParquet, but not write it – and writing is what we need. Disqualified.</a:t>
            </a:r>
          </a:p>
          <a:p>
            <a:endParaRPr lang="en-GB" dirty="0"/>
          </a:p>
          <a:p>
            <a:r>
              <a:rPr lang="en-GB" dirty="0"/>
              <a:t>GDAL: the best-known toolkit in the geo world, and the most complete GeoParquet implementation. But it's native code, not Java, which goes against the goal of keeping hale pure Java. Disqualified.</a:t>
            </a:r>
          </a:p>
          <a:p>
            <a:endParaRPr lang="en-GB" dirty="0"/>
          </a:p>
          <a:p>
            <a:r>
              <a:rPr lang="en-GB" dirty="0"/>
              <a:t>Apache Sedona: only runs inside big-data platforms like Spark or Flink. It can't be built into an application like hale. Disqualified.</a:t>
            </a:r>
          </a:p>
          <a:p>
            <a:endParaRPr lang="en-GB" dirty="0"/>
          </a:p>
          <a:p>
            <a:r>
              <a:rPr lang="en-GB" dirty="0"/>
              <a:t>On licences, since the ticket asked about them: everything here is permissively licensed – free to use in our product – except GeoTools, which is LGPL. But hale already uses GeoTools under that same licence, so nothing changes. In the end, the licence wasn't what decided it – fit and maturity were.</a:t>
            </a:r>
          </a:p>
        </p:txBody>
      </p:sp>
      <p:sp>
        <p:nvSpPr>
          <p:cNvPr id="4" name="Slide Number Placeholder 3"/>
          <p:cNvSpPr>
            <a:spLocks noGrp="1"/>
          </p:cNvSpPr>
          <p:nvPr>
            <p:ph type="sldNum" sz="quarter" idx="5"/>
          </p:nvPr>
        </p:nvSpPr>
        <p:spPr/>
        <p:txBody>
          <a:bodyPr/>
          <a:lstStyle/>
          <a:p>
            <a:fld id="{C1B2BE2D-578C-4925-9F89-CF92B7E8868C}" type="slidenum">
              <a:rPr lang="en-US" smtClean="0"/>
              <a:t>11</a:t>
            </a:fld>
            <a:endParaRPr lang="en-US"/>
          </a:p>
        </p:txBody>
      </p:sp>
    </p:spTree>
    <p:extLst>
      <p:ext uri="{BB962C8B-B14F-4D97-AF65-F5344CB8AC3E}">
        <p14:creationId xmlns:p14="http://schemas.microsoft.com/office/powerpoint/2010/main" val="343791560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Now the actual decision material. I'll go through both sides without giving my opinion.</a:t>
            </a:r>
          </a:p>
          <a:p>
            <a:endParaRPr lang="en-GB" dirty="0"/>
          </a:p>
          <a:p>
            <a:r>
              <a:rPr lang="en-GB" dirty="0"/>
              <a:t>Arguments for building it.</a:t>
            </a:r>
          </a:p>
          <a:p>
            <a:r>
              <a:rPr lang="en-GB" dirty="0"/>
              <a:t>It's real, not theoretical: the spike actually writes files, in pure Java, without Arrow, checked against the official 2.0 rules.</a:t>
            </a:r>
          </a:p>
          <a:p>
            <a:r>
              <a:rPr lang="en-GB" dirty="0"/>
              <a:t>It fits hale's existing pattern exactly – the same shape as our GeoPackage and Shapefile exports, so there's no new architecture to design.</a:t>
            </a:r>
          </a:p>
          <a:p>
            <a:r>
              <a:rPr lang="en-GB" dirty="0"/>
              <a:t>The plugin packaging is a known problem with a known solution. hale already has a way of doing this, and the spike showed it works here too.</a:t>
            </a:r>
          </a:p>
          <a:p>
            <a:r>
              <a:rPr lang="en-GB" dirty="0"/>
              <a:t>The extra libraries we'd bring in are small and under control.</a:t>
            </a:r>
          </a:p>
          <a:p>
            <a:r>
              <a:rPr lang="en-GB" dirty="0"/>
              <a:t>It's been tested with real data, not just a toy example.</a:t>
            </a:r>
          </a:p>
          <a:p>
            <a:r>
              <a:rPr lang="en-GB" dirty="0"/>
              <a:t>And the licences are permissive, so no new legal review is needed.</a:t>
            </a:r>
          </a:p>
          <a:p>
            <a:endParaRPr lang="en-GB" dirty="0"/>
          </a:p>
          <a:p>
            <a:r>
              <a:rPr lang="en-GB" dirty="0"/>
              <a:t>Reasons to pause.</a:t>
            </a:r>
          </a:p>
          <a:p>
            <a:r>
              <a:rPr lang="en-GB" dirty="0"/>
              <a:t>No compression yet: without Hadoop, files have to be uncompressed for now, so they're bigger.</a:t>
            </a:r>
          </a:p>
          <a:p>
            <a:r>
              <a:rPr lang="en-GB" dirty="0"/>
              <a:t>The coordinate-system handling isn't ready for production – right now it downloads definitions from a public website.</a:t>
            </a:r>
          </a:p>
          <a:p>
            <a:r>
              <a:rPr lang="en-GB" dirty="0"/>
              <a:t>Two small packaging details are still open.</a:t>
            </a:r>
          </a:p>
          <a:p>
            <a:r>
              <a:rPr lang="en-GB" dirty="0"/>
              <a:t>What goes into the coordinate-system field of the GEOMETRY type is still our best guess.</a:t>
            </a:r>
          </a:p>
          <a:p>
            <a:r>
              <a:rPr lang="en-GB" dirty="0"/>
              <a:t>The GeoParquet 2.0 specification is still a "release candidate" – an almost-final draft, not the official final version. It could still change.</a:t>
            </a:r>
          </a:p>
          <a:p>
            <a:r>
              <a:rPr lang="en-GB" dirty="0"/>
              <a:t>No library does the GeoParquet-specific work for us – we'd write that part ourselves.</a:t>
            </a:r>
          </a:p>
          <a:p>
            <a:r>
              <a:rPr lang="en-GB" dirty="0"/>
              <a:t>And two small gaps: we don't yet write the optional bounding-box column, which some tools use to find data faster, and we don't yet support coordinate systems that have no EPSG code.</a:t>
            </a:r>
          </a:p>
        </p:txBody>
      </p:sp>
      <p:sp>
        <p:nvSpPr>
          <p:cNvPr id="4" name="Slide Number Placeholder 3"/>
          <p:cNvSpPr>
            <a:spLocks noGrp="1"/>
          </p:cNvSpPr>
          <p:nvPr>
            <p:ph type="sldNum" sz="quarter" idx="5"/>
          </p:nvPr>
        </p:nvSpPr>
        <p:spPr/>
        <p:txBody>
          <a:bodyPr/>
          <a:lstStyle/>
          <a:p>
            <a:fld id="{C1B2BE2D-578C-4925-9F89-CF92B7E8868C}" type="slidenum">
              <a:rPr lang="en-US" smtClean="0"/>
              <a:t>12</a:t>
            </a:fld>
            <a:endParaRPr lang="en-US"/>
          </a:p>
        </p:txBody>
      </p:sp>
    </p:spTree>
    <p:extLst>
      <p:ext uri="{BB962C8B-B14F-4D97-AF65-F5344CB8AC3E}">
        <p14:creationId xmlns:p14="http://schemas.microsoft.com/office/powerpoint/2010/main" val="37674443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Quickly: where does the ticket stand compared to what it asked for? The ticket had four conditions for being "done".</a:t>
            </a:r>
          </a:p>
          <a:p>
            <a:endParaRPr lang="en-GB" dirty="0"/>
          </a:p>
          <a:p>
            <a:r>
              <a:rPr lang="en-GB" dirty="0"/>
              <a:t>One: a written comparison of the library options, looking at maturity, licence and fit with hale – done; that's the options slide.</a:t>
            </a:r>
          </a:p>
          <a:p>
            <a:r>
              <a:rPr lang="en-GB" dirty="0"/>
              <a:t>Two: a recommendation for the follow-up work – done; you'll see it on the last slide.</a:t>
            </a:r>
          </a:p>
          <a:p>
            <a:r>
              <a:rPr lang="en-GB" dirty="0"/>
              <a:t>Three: a small proof of concept with real data, checked by an independent tool – done.</a:t>
            </a:r>
          </a:p>
          <a:p>
            <a:r>
              <a:rPr lang="en-GB" dirty="0"/>
              <a:t>Four: a documented list of open questions and risks for the follow-up – done; that's the findings slide and the reasons to pause.</a:t>
            </a:r>
          </a:p>
          <a:p>
            <a:endParaRPr lang="en-GB" dirty="0"/>
          </a:p>
          <a:p>
            <a:r>
              <a:rPr lang="en-GB" dirty="0"/>
              <a:t>One honest remark on point three. So far, only one independent tool, DuckDB, has checked our files. We also tried a second one, GDAL, but in both versions we had access to, the part of GDAL that reads Parquet wasn't installed. So that test didn't fail – it simply couldn't run. That's a problem with our test setup, not with our files. Still, it would be good to repeat it with a complete GDAL installation before we call this fully closed.</a:t>
            </a:r>
          </a:p>
          <a:p>
            <a:endParaRPr lang="en-GB" dirty="0"/>
          </a:p>
          <a:p>
            <a:r>
              <a:rPr lang="en-GB" dirty="0"/>
              <a:t>So all four conditions are met. What's left now isn't more research – it's a decision to make.</a:t>
            </a:r>
          </a:p>
        </p:txBody>
      </p:sp>
      <p:sp>
        <p:nvSpPr>
          <p:cNvPr id="4" name="Slide Number Placeholder 3"/>
          <p:cNvSpPr>
            <a:spLocks noGrp="1"/>
          </p:cNvSpPr>
          <p:nvPr>
            <p:ph type="sldNum" sz="quarter" idx="5"/>
          </p:nvPr>
        </p:nvSpPr>
        <p:spPr/>
        <p:txBody>
          <a:bodyPr/>
          <a:lstStyle/>
          <a:p>
            <a:fld id="{C1B2BE2D-578C-4925-9F89-CF92B7E8868C}" type="slidenum">
              <a:rPr lang="en-US" smtClean="0"/>
              <a:t>13</a:t>
            </a:fld>
            <a:endParaRPr lang="en-US"/>
          </a:p>
        </p:txBody>
      </p:sp>
    </p:spTree>
    <p:extLst>
      <p:ext uri="{BB962C8B-B14F-4D97-AF65-F5344CB8AC3E}">
        <p14:creationId xmlns:p14="http://schemas.microsoft.com/office/powerpoint/2010/main" val="9219526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This is the part where I need you to talk, not me. There are five questions. Let's take them one at a time and try to agree on an answer for each before moving on</a:t>
            </a:r>
          </a:p>
          <a:p>
            <a:endParaRPr lang="en-GB" dirty="0"/>
          </a:p>
          <a:p>
            <a:r>
              <a:rPr lang="en-GB" dirty="0"/>
              <a:t>Question one: are the open risks work to plan in, or reasons not to start? </a:t>
            </a:r>
          </a:p>
          <a:p>
            <a:r>
              <a:rPr lang="en-GB" dirty="0"/>
              <a:t>We've seen three open risks today. First, compression: without Hadoop, we can only write uncompressed files for now. </a:t>
            </a:r>
          </a:p>
          <a:p>
            <a:r>
              <a:rPr lang="en-GB" dirty="0"/>
              <a:t>Second, the coordinate system: the spike downloads the descriptions from a website, and we still need to check what other tools write into the coordinate-system field of the GEOMETRY type. </a:t>
            </a:r>
          </a:p>
          <a:p>
            <a:r>
              <a:rPr lang="en-GB" dirty="0"/>
              <a:t>Third, two small packaging fixes for the plugin.</a:t>
            </a:r>
          </a:p>
          <a:p>
            <a:r>
              <a:rPr lang="en-GB" dirty="0"/>
              <a:t>What they have in common: we know what the problem is, and we know at least one way to solve it. None of them is a question where we don't know where to start.</a:t>
            </a:r>
          </a:p>
          <a:p>
            <a:r>
              <a:rPr lang="en-GB" dirty="0"/>
              <a:t> So the question is: do we put them into the follow-up ticket as planned tasks, with an owner? Or does anyone think one of them is serious enough that we should wait?▎▎ </a:t>
            </a:r>
          </a:p>
          <a:p>
            <a:endParaRPr lang="en-GB" dirty="0"/>
          </a:p>
          <a:p>
            <a:r>
              <a:rPr lang="en-GB" dirty="0"/>
              <a:t>Question two: is a first version without compression acceptable?▎▎ Compressed files are smaller – often much smaller. But today, the only way to compress with this library would bring Hadoop into hale, and we don't want that. So a first version would write uncompressed files.▎▎ To give you a sense of size: our test with 1,097 polygons produced a 2.77 megabyte file. For bigger exports, the files grow accordingly. The files are still completely valid and every tool can read them – they just take more space and take longer to download.▎▎ So: is that good enough for a first release, with compression added later? Or we need compressed files from day one? If it's the second, the follow-up ticket gets bigger.▎▎ </a:t>
            </a:r>
          </a:p>
          <a:p>
            <a:endParaRPr lang="en-GB" dirty="0"/>
          </a:p>
          <a:p>
            <a:r>
              <a:rPr lang="en-GB" dirty="0"/>
              <a:t>Question three: who takes care of the two packaging fixes?▎▎ hale is built from plugins, and each plugin has to declare exactly which other libraries it needs. We found two small problems with how the Parquet library declares this. One is already solved in the spike; for the other, we know exactly what to change.▎▎</a:t>
            </a:r>
          </a:p>
          <a:p>
            <a:endParaRPr lang="en-GB" dirty="0"/>
          </a:p>
          <a:p>
            <a:r>
              <a:rPr lang="en-GB" dirty="0"/>
              <a:t>Question four: does the coordinate-system problem need </a:t>
            </a:r>
            <a:r>
              <a:rPr lang="en-GB" dirty="0" err="1"/>
              <a:t>solviw</a:t>
            </a:r>
            <a:r>
              <a:rPr lang="en-GB" dirty="0"/>
              <a:t>-up?▎▎ Right now, the spike gets the full coordinate-system descriptions by downloading them from a public website. That's fine for a test, but it can't ship: exports would fail without internet, or if the website change descriptions with the plugin.▎▎ The question is about timing. Do we want this solved and tested first, before the follow-up ticket starts – as a small preparation task? Or is it fine▎ to solve it as part of the follow-up ticket itself? </a:t>
            </a:r>
          </a:p>
          <a:p>
            <a:endParaRPr lang="en-GB" dirty="0"/>
          </a:p>
          <a:p>
            <a:r>
              <a:rPr lang="en-GB" dirty="0"/>
              <a:t>Question five: are we comfortable building on a specification that isn't final yet?▎▎ </a:t>
            </a:r>
          </a:p>
          <a:p>
            <a:r>
              <a:rPr lang="en-GB" dirty="0" err="1"/>
              <a:t>GeoParquet</a:t>
            </a:r>
            <a:r>
              <a:rPr lang="en-GB" dirty="0"/>
              <a:t> 2.0 is officially a "release candidate" – an almost-final draft. Usually that means only small changes happen before the final version, but it's not guaranteed. If something changes, we might have to adjust our writer later.▎▎ On the other side, the requirement is specifically for version 2.0, so waiting for the final version would also mean waiting to deliver. That's a question about how much risk we accept, and it's more a business decision than a technical.</a:t>
            </a:r>
          </a:p>
          <a:p>
            <a:endParaRPr lang="en-GB" dirty="0"/>
          </a:p>
          <a:p>
            <a:endParaRPr lang="en-GB" dirty="0"/>
          </a:p>
          <a:p>
            <a:endParaRPr lang="en-GB" dirty="0"/>
          </a:p>
        </p:txBody>
      </p:sp>
      <p:sp>
        <p:nvSpPr>
          <p:cNvPr id="4" name="Slide Number Placeholder 3"/>
          <p:cNvSpPr>
            <a:spLocks noGrp="1"/>
          </p:cNvSpPr>
          <p:nvPr>
            <p:ph type="sldNum" sz="quarter" idx="5"/>
          </p:nvPr>
        </p:nvSpPr>
        <p:spPr/>
        <p:txBody>
          <a:bodyPr/>
          <a:lstStyle/>
          <a:p>
            <a:fld id="{C1B2BE2D-578C-4925-9F89-CF92B7E8868C}" type="slidenum">
              <a:rPr lang="en-US" smtClean="0"/>
              <a:t>14</a:t>
            </a:fld>
            <a:endParaRPr lang="en-US"/>
          </a:p>
        </p:txBody>
      </p:sp>
    </p:spTree>
    <p:extLst>
      <p:ext uri="{BB962C8B-B14F-4D97-AF65-F5344CB8AC3E}">
        <p14:creationId xmlns:p14="http://schemas.microsoft.com/office/powerpoint/2010/main" val="127847952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my recommendation: go ahead with parquet-java, used directly, as the approach. And plan the open risks we discussed into the follow-up ticket – as part of its scope, not as reasons to wait.</a:t>
            </a:r>
          </a:p>
          <a:p>
            <a:endParaRPr lang="en-GB" dirty="0"/>
          </a:p>
          <a:p>
            <a:r>
              <a:rPr lang="en-GB" dirty="0"/>
              <a:t>Why do I think that's right? First, there's no better pure-Java option today. Carpet adds a nicer interface, but it doesn't solve anything GeoParquet-specific, and it isn't really free of Hadoop. Parquetry is the one library made for exactly this, and I'd definitely look at it again later – but it needs a Java version we don't use yet.</a:t>
            </a:r>
          </a:p>
          <a:p>
            <a:endParaRPr lang="en-GB" dirty="0"/>
          </a:p>
          <a:p>
            <a:r>
              <a:rPr lang="en-GB" dirty="0"/>
              <a:t>Second, every open point we've seen today is understood and limited in size: compression, the coordinate-system field, the two packaging fixes. None of them is an open-ended unknown. That's exactly the kind of risk that belongs in a well-planned ticket – not a reason to stop before we've started.</a:t>
            </a:r>
          </a:p>
          <a:p>
            <a:endParaRPr lang="en-GB" dirty="0"/>
          </a:p>
          <a:p>
            <a:r>
              <a:rPr lang="en-GB" dirty="0"/>
              <a:t>Everything I've shown today, with much more technical detail, is written up in NOTES.md in the spike folder, under ticket ING-5399, if anyone wants to go deeper after the meeting.</a:t>
            </a:r>
          </a:p>
          <a:p>
            <a:endParaRPr lang="en-GB" dirty="0"/>
          </a:p>
          <a:p>
            <a:r>
              <a:rPr lang="en-GB" dirty="0"/>
              <a:t>Thank you – and let's make sure we've agreed on those five decisions before we finish.</a:t>
            </a:r>
          </a:p>
        </p:txBody>
      </p:sp>
      <p:sp>
        <p:nvSpPr>
          <p:cNvPr id="4" name="Slide Number Placeholder 3"/>
          <p:cNvSpPr>
            <a:spLocks noGrp="1"/>
          </p:cNvSpPr>
          <p:nvPr>
            <p:ph type="sldNum" sz="quarter" idx="5"/>
          </p:nvPr>
        </p:nvSpPr>
        <p:spPr/>
        <p:txBody>
          <a:bodyPr/>
          <a:lstStyle/>
          <a:p>
            <a:fld id="{C1B2BE2D-578C-4925-9F89-CF92B7E8868C}" type="slidenum">
              <a:rPr lang="en-US" smtClean="0"/>
              <a:t>15</a:t>
            </a:fld>
            <a:endParaRPr lang="en-US"/>
          </a:p>
        </p:txBody>
      </p:sp>
    </p:spTree>
    <p:extLst>
      <p:ext uri="{BB962C8B-B14F-4D97-AF65-F5344CB8AC3E}">
        <p14:creationId xmlns:p14="http://schemas.microsoft.com/office/powerpoint/2010/main" val="146736041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here is my recommendation: go ahead with parquet-java, used directly, as the approach. And plan the open risks we discussed into the follow-up ticket – as part of its scope, not as reasons to wait.</a:t>
            </a:r>
          </a:p>
          <a:p>
            <a:endParaRPr lang="en-GB" dirty="0"/>
          </a:p>
          <a:p>
            <a:r>
              <a:rPr lang="en-GB" dirty="0"/>
              <a:t>Why do I think that's right? First, there's no better pure-Java option today. Carpet adds a nicer interface, but it doesn't solve anything GeoParquet-specific, and it isn't really free of Hadoop. Parquetry is the one library made for exactly this, and I'd definitely look at it again later – but it needs a Java version we don't use yet.</a:t>
            </a:r>
          </a:p>
          <a:p>
            <a:endParaRPr lang="en-GB" dirty="0"/>
          </a:p>
          <a:p>
            <a:r>
              <a:rPr lang="en-GB" dirty="0"/>
              <a:t>Second, every open point we've seen today is understood and limited in size: compression, the coordinate-system field, the two packaging fixes. None of them is an open-ended unknown. That's exactly the kind of risk that belongs in a well-planned ticket – not a reason to stop before we've started.</a:t>
            </a:r>
          </a:p>
          <a:p>
            <a:endParaRPr lang="en-GB" dirty="0"/>
          </a:p>
          <a:p>
            <a:r>
              <a:rPr lang="en-GB" dirty="0"/>
              <a:t>Everything I've shown today, with much more technical detail, is written up in NOTES.md in the spike folder, under ticket ING-5399, if anyone wants to go deeper after the meeting.</a:t>
            </a:r>
          </a:p>
          <a:p>
            <a:endParaRPr lang="en-GB" dirty="0"/>
          </a:p>
          <a:p>
            <a:r>
              <a:rPr lang="en-GB" dirty="0"/>
              <a:t>Thank you – and let's make sure we've agreed on those five decisions before we finish.</a:t>
            </a:r>
          </a:p>
        </p:txBody>
      </p:sp>
      <p:sp>
        <p:nvSpPr>
          <p:cNvPr id="4" name="Slide Number Placeholder 3"/>
          <p:cNvSpPr>
            <a:spLocks noGrp="1"/>
          </p:cNvSpPr>
          <p:nvPr>
            <p:ph type="sldNum" sz="quarter" idx="5"/>
          </p:nvPr>
        </p:nvSpPr>
        <p:spPr/>
        <p:txBody>
          <a:bodyPr/>
          <a:lstStyle/>
          <a:p>
            <a:fld id="{C1B2BE2D-578C-4925-9F89-CF92B7E8868C}" type="slidenum">
              <a:rPr lang="en-US" smtClean="0"/>
              <a:t>16</a:t>
            </a:fld>
            <a:endParaRPr lang="en-US"/>
          </a:p>
        </p:txBody>
      </p:sp>
    </p:spTree>
    <p:extLst>
      <p:ext uri="{BB962C8B-B14F-4D97-AF65-F5344CB8AC3E}">
        <p14:creationId xmlns:p14="http://schemas.microsoft.com/office/powerpoint/2010/main" val="34274761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D0D883-2407-4AD9-9054-9639F67F329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FCA8D1D-7482-40BF-917B-24880D36ED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403CD48-95D1-4ADA-AAB1-FBE709EFA991}"/>
              </a:ext>
            </a:extLst>
          </p:cNvPr>
          <p:cNvSpPr>
            <a:spLocks noGrp="1"/>
          </p:cNvSpPr>
          <p:nvPr>
            <p:ph type="dt" sz="half" idx="10"/>
          </p:nvPr>
        </p:nvSpPr>
        <p:spPr/>
        <p:txBody>
          <a:bodyPr/>
          <a:lstStyle/>
          <a:p>
            <a:fld id="{239C0094-66D6-4007-8D89-557F6A75C6F4}" type="datetime1">
              <a:rPr lang="en-US" smtClean="0"/>
              <a:t>9/29/2026</a:t>
            </a:fld>
            <a:endParaRPr lang="en-US"/>
          </a:p>
        </p:txBody>
      </p:sp>
      <p:sp>
        <p:nvSpPr>
          <p:cNvPr id="5" name="Footer Placeholder 4">
            <a:extLst>
              <a:ext uri="{FF2B5EF4-FFF2-40B4-BE49-F238E27FC236}">
                <a16:creationId xmlns:a16="http://schemas.microsoft.com/office/drawing/2014/main" id="{E9B5EF36-9A33-48CE-ABEC-9ACF983F189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FC3956C-4344-4ACD-998D-BD8CCC2785EB}"/>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2478300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304B32-4F0C-46E4-9169-CADB7F66FA1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4E29C9F-C4EA-4170-B750-6C307C294EB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C053D04-2E01-49DB-9BBC-CFD7ABD9E9DF}"/>
              </a:ext>
            </a:extLst>
          </p:cNvPr>
          <p:cNvSpPr>
            <a:spLocks noGrp="1"/>
          </p:cNvSpPr>
          <p:nvPr>
            <p:ph type="dt" sz="half" idx="10"/>
          </p:nvPr>
        </p:nvSpPr>
        <p:spPr/>
        <p:txBody>
          <a:bodyPr/>
          <a:lstStyle/>
          <a:p>
            <a:fld id="{6EF26E47-1AD7-4BC9-943B-CC8E7E694A54}" type="datetime1">
              <a:rPr lang="en-US" smtClean="0"/>
              <a:t>9/29/2026</a:t>
            </a:fld>
            <a:endParaRPr lang="en-US"/>
          </a:p>
        </p:txBody>
      </p:sp>
      <p:sp>
        <p:nvSpPr>
          <p:cNvPr id="5" name="Footer Placeholder 4">
            <a:extLst>
              <a:ext uri="{FF2B5EF4-FFF2-40B4-BE49-F238E27FC236}">
                <a16:creationId xmlns:a16="http://schemas.microsoft.com/office/drawing/2014/main" id="{3CE48804-3E22-4E16-BA28-3858D58EA2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B95FBE5-08D7-4263-9A89-F13D85E0456C}"/>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11831423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9D1E0-E5D4-4E17-B660-8F6DAD5907C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BF4D49C-2E84-4B30-8528-2ED789581075}"/>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CA7A2E9-D8AF-40ED-AC4F-B0CC6266DDDA}"/>
              </a:ext>
            </a:extLst>
          </p:cNvPr>
          <p:cNvSpPr>
            <a:spLocks noGrp="1"/>
          </p:cNvSpPr>
          <p:nvPr>
            <p:ph type="dt" sz="half" idx="10"/>
          </p:nvPr>
        </p:nvSpPr>
        <p:spPr/>
        <p:txBody>
          <a:bodyPr/>
          <a:lstStyle/>
          <a:p>
            <a:fld id="{3F3410E1-FA68-46F2-B406-D457A05CC697}" type="datetime1">
              <a:rPr lang="en-US" smtClean="0"/>
              <a:t>9/29/2026</a:t>
            </a:fld>
            <a:endParaRPr lang="en-US"/>
          </a:p>
        </p:txBody>
      </p:sp>
      <p:sp>
        <p:nvSpPr>
          <p:cNvPr id="5" name="Footer Placeholder 4">
            <a:extLst>
              <a:ext uri="{FF2B5EF4-FFF2-40B4-BE49-F238E27FC236}">
                <a16:creationId xmlns:a16="http://schemas.microsoft.com/office/drawing/2014/main" id="{A2F96DA1-BE3D-428C-BF33-109B6E7F2F7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59F37EB-7D75-407A-A98E-F0056780A4AA}"/>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89521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519D1-5373-4C69-81CC-4333CAA5E1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940258-037A-49BD-B2C0-1BA6B73B873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A332390-BFBB-4E7D-BCEA-EF9EF75C842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E6643A6-CB93-4915-AC90-B00E78F779B4}"/>
              </a:ext>
            </a:extLst>
          </p:cNvPr>
          <p:cNvSpPr>
            <a:spLocks noGrp="1"/>
          </p:cNvSpPr>
          <p:nvPr>
            <p:ph type="dt" sz="half" idx="10"/>
          </p:nvPr>
        </p:nvSpPr>
        <p:spPr/>
        <p:txBody>
          <a:bodyPr/>
          <a:lstStyle/>
          <a:p>
            <a:fld id="{CBFAF317-09B9-4DD3-BFA3-0308158818C9}" type="datetime1">
              <a:rPr lang="en-US" smtClean="0"/>
              <a:t>9/29/2026</a:t>
            </a:fld>
            <a:endParaRPr lang="en-US"/>
          </a:p>
        </p:txBody>
      </p:sp>
      <p:sp>
        <p:nvSpPr>
          <p:cNvPr id="6" name="Footer Placeholder 5">
            <a:extLst>
              <a:ext uri="{FF2B5EF4-FFF2-40B4-BE49-F238E27FC236}">
                <a16:creationId xmlns:a16="http://schemas.microsoft.com/office/drawing/2014/main" id="{B160BA81-2394-4157-B022-CE5FCFE46C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0502C96-A80E-4688-9B45-B29B2C9AAF4D}"/>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2924242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D4F396-637B-4B28-B9F3-485FE25B928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640AE2-5337-4617-B08A-3FA0885E198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080D54B-7BB1-448D-ABB7-B08424CEBF2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75816116-8EA5-4271-AED4-D5B97926013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4C0BECF-05C7-43C3-976D-0166ECBC17A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ABE11A5-2492-4EA7-96EA-805F39A12772}"/>
              </a:ext>
            </a:extLst>
          </p:cNvPr>
          <p:cNvSpPr>
            <a:spLocks noGrp="1"/>
          </p:cNvSpPr>
          <p:nvPr>
            <p:ph type="dt" sz="half" idx="10"/>
          </p:nvPr>
        </p:nvSpPr>
        <p:spPr/>
        <p:txBody>
          <a:bodyPr/>
          <a:lstStyle/>
          <a:p>
            <a:fld id="{B0ACD9A1-EC20-430F-98C9-8920695276E0}" type="datetime1">
              <a:rPr lang="en-US" smtClean="0"/>
              <a:t>9/29/2026</a:t>
            </a:fld>
            <a:endParaRPr lang="en-US"/>
          </a:p>
        </p:txBody>
      </p:sp>
      <p:sp>
        <p:nvSpPr>
          <p:cNvPr id="8" name="Footer Placeholder 7">
            <a:extLst>
              <a:ext uri="{FF2B5EF4-FFF2-40B4-BE49-F238E27FC236}">
                <a16:creationId xmlns:a16="http://schemas.microsoft.com/office/drawing/2014/main" id="{ADC75D2F-5796-40D0-8F37-27E1E269F76D}"/>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C936290-F20C-4D7B-9761-86CA17057614}"/>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41860456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731AB4-4FE3-455A-B8BD-E932C28EFD1A}"/>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25CAB15-9FDA-4AA1-9F6D-004F0067E281}"/>
              </a:ext>
            </a:extLst>
          </p:cNvPr>
          <p:cNvSpPr>
            <a:spLocks noGrp="1"/>
          </p:cNvSpPr>
          <p:nvPr>
            <p:ph type="dt" sz="half" idx="10"/>
          </p:nvPr>
        </p:nvSpPr>
        <p:spPr/>
        <p:txBody>
          <a:bodyPr/>
          <a:lstStyle/>
          <a:p>
            <a:fld id="{49979CD6-7DD7-4224-8F9E-2F80DC6DDE3B}" type="datetime1">
              <a:rPr lang="en-US" smtClean="0"/>
              <a:t>9/29/2026</a:t>
            </a:fld>
            <a:endParaRPr lang="en-US"/>
          </a:p>
        </p:txBody>
      </p:sp>
      <p:sp>
        <p:nvSpPr>
          <p:cNvPr id="4" name="Footer Placeholder 3">
            <a:extLst>
              <a:ext uri="{FF2B5EF4-FFF2-40B4-BE49-F238E27FC236}">
                <a16:creationId xmlns:a16="http://schemas.microsoft.com/office/drawing/2014/main" id="{3452248A-5B6D-4617-8437-31E2504858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11288C71-98BF-4B07-A333-D40A3F2A9A00}"/>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40965751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944B9EF-9A91-4778-87CA-EC3A3AE89D05}"/>
              </a:ext>
            </a:extLst>
          </p:cNvPr>
          <p:cNvSpPr>
            <a:spLocks noGrp="1"/>
          </p:cNvSpPr>
          <p:nvPr>
            <p:ph type="dt" sz="half" idx="10"/>
          </p:nvPr>
        </p:nvSpPr>
        <p:spPr/>
        <p:txBody>
          <a:bodyPr/>
          <a:lstStyle/>
          <a:p>
            <a:fld id="{4ACDEB64-B559-411D-AE07-BBD5B7248028}" type="datetime1">
              <a:rPr lang="en-US" smtClean="0"/>
              <a:t>9/29/2026</a:t>
            </a:fld>
            <a:endParaRPr lang="en-US"/>
          </a:p>
        </p:txBody>
      </p:sp>
      <p:sp>
        <p:nvSpPr>
          <p:cNvPr id="3" name="Footer Placeholder 2">
            <a:extLst>
              <a:ext uri="{FF2B5EF4-FFF2-40B4-BE49-F238E27FC236}">
                <a16:creationId xmlns:a16="http://schemas.microsoft.com/office/drawing/2014/main" id="{8A84730E-5D4A-41A8-801C-B2DCFADBA4D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11E8357-5AAE-42E4-9003-AD337A0519F5}"/>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25119077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922C14-CCDA-4B61-8AF3-0EBE4A72B91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A31830E0-614D-42CF-9073-4499AE4F9C7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61022E3-4F24-4776-9D3D-1D6605CE040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C4C3ACD-28AC-4521-9DDC-A07DB998C594}"/>
              </a:ext>
            </a:extLst>
          </p:cNvPr>
          <p:cNvSpPr>
            <a:spLocks noGrp="1"/>
          </p:cNvSpPr>
          <p:nvPr>
            <p:ph type="dt" sz="half" idx="10"/>
          </p:nvPr>
        </p:nvSpPr>
        <p:spPr/>
        <p:txBody>
          <a:bodyPr/>
          <a:lstStyle/>
          <a:p>
            <a:fld id="{B5108133-22E3-498E-A9DE-AF8A93B8A171}" type="datetime1">
              <a:rPr lang="en-US" smtClean="0"/>
              <a:t>9/29/2026</a:t>
            </a:fld>
            <a:endParaRPr lang="en-US"/>
          </a:p>
        </p:txBody>
      </p:sp>
      <p:sp>
        <p:nvSpPr>
          <p:cNvPr id="6" name="Footer Placeholder 5">
            <a:extLst>
              <a:ext uri="{FF2B5EF4-FFF2-40B4-BE49-F238E27FC236}">
                <a16:creationId xmlns:a16="http://schemas.microsoft.com/office/drawing/2014/main" id="{4C951F60-ECDC-4152-B9CE-0125A4BFC1D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56788B4-1108-41CC-A5B5-40567784EB81}"/>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219181952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37C3B1-E28E-4CE4-A4ED-255BEB99E1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DF1A67-7A9A-42A3-B919-18EC03A1D2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F6E135E2-05E2-4BF5-945A-194B25113B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E8995DD-CCC0-4202-9627-302AA627AE37}"/>
              </a:ext>
            </a:extLst>
          </p:cNvPr>
          <p:cNvSpPr>
            <a:spLocks noGrp="1"/>
          </p:cNvSpPr>
          <p:nvPr>
            <p:ph type="dt" sz="half" idx="10"/>
          </p:nvPr>
        </p:nvSpPr>
        <p:spPr/>
        <p:txBody>
          <a:bodyPr/>
          <a:lstStyle/>
          <a:p>
            <a:fld id="{9911626B-BD27-4B41-A5FF-E41611FDEA8F}" type="datetime1">
              <a:rPr lang="en-US" smtClean="0"/>
              <a:t>9/29/2026</a:t>
            </a:fld>
            <a:endParaRPr lang="en-US"/>
          </a:p>
        </p:txBody>
      </p:sp>
      <p:sp>
        <p:nvSpPr>
          <p:cNvPr id="6" name="Footer Placeholder 5">
            <a:extLst>
              <a:ext uri="{FF2B5EF4-FFF2-40B4-BE49-F238E27FC236}">
                <a16:creationId xmlns:a16="http://schemas.microsoft.com/office/drawing/2014/main" id="{DCE513A1-5356-4A0F-85B8-E290E469DDD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B4C3E0B-B8C2-4E59-9145-9B48C9F84D17}"/>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310748279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E37B88-2D2A-4D31-863F-28AC0F808FD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C577619-91A8-423F-AF8C-6B536D69E9A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23B1A4-0058-4D37-BA03-C6F76D8E245A}"/>
              </a:ext>
            </a:extLst>
          </p:cNvPr>
          <p:cNvSpPr>
            <a:spLocks noGrp="1"/>
          </p:cNvSpPr>
          <p:nvPr>
            <p:ph type="dt" sz="half" idx="10"/>
          </p:nvPr>
        </p:nvSpPr>
        <p:spPr/>
        <p:txBody>
          <a:bodyPr/>
          <a:lstStyle/>
          <a:p>
            <a:fld id="{02C07767-410D-4D79-9975-D80113B8A809}" type="datetime1">
              <a:rPr lang="en-US" smtClean="0"/>
              <a:t>9/29/2026</a:t>
            </a:fld>
            <a:endParaRPr lang="en-US"/>
          </a:p>
        </p:txBody>
      </p:sp>
      <p:sp>
        <p:nvSpPr>
          <p:cNvPr id="5" name="Footer Placeholder 4">
            <a:extLst>
              <a:ext uri="{FF2B5EF4-FFF2-40B4-BE49-F238E27FC236}">
                <a16:creationId xmlns:a16="http://schemas.microsoft.com/office/drawing/2014/main" id="{A1F64952-8432-4D4C-9F34-A66BAFE8170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3BA1B31-BF34-4439-A927-B5702799ADFD}"/>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21983270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6044A0C-93CE-4E6D-AEE5-6FC83CBB9B7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686A1BC-0137-4639-8106-5345D92BFE1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1E1D254-3167-4D67-A3FE-E8D9CA8DF47F}"/>
              </a:ext>
            </a:extLst>
          </p:cNvPr>
          <p:cNvSpPr>
            <a:spLocks noGrp="1"/>
          </p:cNvSpPr>
          <p:nvPr>
            <p:ph type="dt" sz="half" idx="10"/>
          </p:nvPr>
        </p:nvSpPr>
        <p:spPr/>
        <p:txBody>
          <a:bodyPr/>
          <a:lstStyle/>
          <a:p>
            <a:fld id="{BC142615-E607-408D-B80F-568D5033D504}" type="datetime1">
              <a:rPr lang="en-US" smtClean="0"/>
              <a:t>9/29/2026</a:t>
            </a:fld>
            <a:endParaRPr lang="en-US"/>
          </a:p>
        </p:txBody>
      </p:sp>
      <p:sp>
        <p:nvSpPr>
          <p:cNvPr id="5" name="Footer Placeholder 4">
            <a:extLst>
              <a:ext uri="{FF2B5EF4-FFF2-40B4-BE49-F238E27FC236}">
                <a16:creationId xmlns:a16="http://schemas.microsoft.com/office/drawing/2014/main" id="{9A1307A3-827D-45D6-974D-BD7F522937E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42E1F1-608C-417E-B135-C74F38B2184A}"/>
              </a:ext>
            </a:extLst>
          </p:cNvPr>
          <p:cNvSpPr>
            <a:spLocks noGrp="1"/>
          </p:cNvSpPr>
          <p:nvPr>
            <p:ph type="sldNum" sz="quarter" idx="12"/>
          </p:nvPr>
        </p:nvSpPr>
        <p:spPr/>
        <p:txBody>
          <a:bodyPr/>
          <a:lstStyle/>
          <a:p>
            <a:fld id="{9577D2D2-DD48-490C-91B1-F9CF36E8FB7C}" type="slidenum">
              <a:rPr lang="en-US" smtClean="0"/>
              <a:t>‹#›</a:t>
            </a:fld>
            <a:endParaRPr lang="en-US"/>
          </a:p>
        </p:txBody>
      </p:sp>
    </p:spTree>
    <p:extLst>
      <p:ext uri="{BB962C8B-B14F-4D97-AF65-F5344CB8AC3E}">
        <p14:creationId xmlns:p14="http://schemas.microsoft.com/office/powerpoint/2010/main" val="5618183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9C0EA5-34FE-403C-9A5E-F1584DC119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6627FDD-1473-4D67-BC5B-A485256B59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F0E7BCD-0132-4F9F-B184-122FB7B3659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31D2585-CADF-4620-BD5C-C76CC7EDB47E}" type="datetime1">
              <a:rPr lang="en-US" smtClean="0"/>
              <a:t>9/29/2026</a:t>
            </a:fld>
            <a:endParaRPr lang="en-US"/>
          </a:p>
        </p:txBody>
      </p:sp>
      <p:sp>
        <p:nvSpPr>
          <p:cNvPr id="5" name="Footer Placeholder 4">
            <a:extLst>
              <a:ext uri="{FF2B5EF4-FFF2-40B4-BE49-F238E27FC236}">
                <a16:creationId xmlns:a16="http://schemas.microsoft.com/office/drawing/2014/main" id="{0F2665B7-0C42-4B3F-9A5D-C6234D0C454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0F1EFA44-20FA-4E87-AA0F-20E2E40F72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577D2D2-DD48-490C-91B1-F9CF36E8FB7C}" type="slidenum">
              <a:rPr lang="en-US" smtClean="0"/>
              <a:t>‹#›</a:t>
            </a:fld>
            <a:endParaRPr lang="en-US"/>
          </a:p>
        </p:txBody>
      </p:sp>
    </p:spTree>
    <p:extLst>
      <p:ext uri="{BB962C8B-B14F-4D97-AF65-F5344CB8AC3E}">
        <p14:creationId xmlns:p14="http://schemas.microsoft.com/office/powerpoint/2010/main" val="19143314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Oval 19">
            <a:extLst>
              <a:ext uri="{FF2B5EF4-FFF2-40B4-BE49-F238E27FC236}">
                <a16:creationId xmlns:a16="http://schemas.microsoft.com/office/drawing/2014/main" id="{9DC48B3B-D783-4178-80EA-9D6DB46AFFAE}"/>
              </a:ext>
            </a:extLst>
          </p:cNvPr>
          <p:cNvSpPr>
            <a:spLocks noChangeAspect="1"/>
          </p:cNvSpPr>
          <p:nvPr/>
        </p:nvSpPr>
        <p:spPr>
          <a:xfrm>
            <a:off x="1434977" y="4771649"/>
            <a:ext cx="1144078" cy="1144078"/>
          </a:xfrm>
          <a:prstGeom prst="ellipse">
            <a:avLst/>
          </a:prstGeom>
          <a:gradFill>
            <a:gsLst>
              <a:gs pos="0">
                <a:srgbClr val="51A1E9"/>
              </a:gs>
              <a:gs pos="100000">
                <a:srgbClr val="176DBB"/>
              </a:gs>
            </a:gsLst>
            <a:lin ang="5400000" scaled="1"/>
          </a:gradFill>
          <a:ln>
            <a:noFill/>
          </a:ln>
          <a:effectLst>
            <a:outerShdw blurRad="254000" algn="ctr" rotWithShape="0">
              <a:schemeClr val="tx1">
                <a:lumMod val="85000"/>
                <a:lumOff val="1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14" name="Picture 13">
            <a:extLst>
              <a:ext uri="{FF2B5EF4-FFF2-40B4-BE49-F238E27FC236}">
                <a16:creationId xmlns:a16="http://schemas.microsoft.com/office/drawing/2014/main" id="{2CD2856B-C888-514C-9674-F368B50491A9}"/>
              </a:ext>
            </a:extLst>
          </p:cNvPr>
          <p:cNvPicPr>
            <a:picLocks/>
          </p:cNvPicPr>
          <p:nvPr/>
        </p:nvPicPr>
        <p:blipFill rotWithShape="1">
          <a:blip r:embed="rId3" cstate="print">
            <a:extLst>
              <a:ext uri="{28A0092B-C50C-407E-A947-70E740481C1C}">
                <a14:useLocalDpi xmlns:a14="http://schemas.microsoft.com/office/drawing/2010/main" val="0"/>
              </a:ext>
            </a:extLst>
          </a:blip>
          <a:srcRect l="20484" r="12850"/>
          <a:stretch/>
        </p:blipFill>
        <p:spPr>
          <a:xfrm>
            <a:off x="1157493" y="1075600"/>
            <a:ext cx="4705199" cy="4706800"/>
          </a:xfrm>
          <a:prstGeom prst="ellipse">
            <a:avLst/>
          </a:prstGeom>
          <a:solidFill>
            <a:schemeClr val="bg1"/>
          </a:solidFill>
          <a:ln>
            <a:noFill/>
          </a:ln>
          <a:effectLst>
            <a:outerShdw blurRad="254000" algn="ctr" rotWithShape="0">
              <a:schemeClr val="tx1">
                <a:lumMod val="85000"/>
                <a:lumOff val="15000"/>
                <a:alpha val="24000"/>
              </a:schemeClr>
            </a:outerShdw>
          </a:effectLst>
        </p:spPr>
      </p:pic>
      <p:sp>
        <p:nvSpPr>
          <p:cNvPr id="8" name="TextBox 7">
            <a:extLst>
              <a:ext uri="{FF2B5EF4-FFF2-40B4-BE49-F238E27FC236}">
                <a16:creationId xmlns:a16="http://schemas.microsoft.com/office/drawing/2014/main" id="{EF5B19D5-A87C-4D51-B034-9B8CA3240158}"/>
              </a:ext>
            </a:extLst>
          </p:cNvPr>
          <p:cNvSpPr txBox="1"/>
          <p:nvPr/>
        </p:nvSpPr>
        <p:spPr>
          <a:xfrm>
            <a:off x="6458607" y="2371445"/>
            <a:ext cx="5020990" cy="1569660"/>
          </a:xfrm>
          <a:prstGeom prst="rect">
            <a:avLst/>
          </a:prstGeom>
          <a:noFill/>
        </p:spPr>
        <p:txBody>
          <a:bodyPr wrap="none" rtlCol="0">
            <a:spAutoFit/>
          </a:bodyPr>
          <a:lstStyle/>
          <a:p>
            <a:r>
              <a:rPr lang="en-US" sz="4800" b="1" dirty="0">
                <a:solidFill>
                  <a:srgbClr val="51A1E9"/>
                </a:solidFill>
                <a:latin typeface="PT Sans" panose="020B0503020203020204" pitchFamily="34" charset="77"/>
              </a:rPr>
              <a:t>Should hale-core </a:t>
            </a:r>
            <a:br>
              <a:rPr lang="en-US" sz="4800" b="1" dirty="0">
                <a:solidFill>
                  <a:srgbClr val="51A1E9"/>
                </a:solidFill>
                <a:latin typeface="PT Sans" panose="020B0503020203020204" pitchFamily="34" charset="77"/>
              </a:rPr>
            </a:br>
            <a:r>
              <a:rPr lang="en-US" sz="4800" b="1" dirty="0">
                <a:solidFill>
                  <a:srgbClr val="51A1E9"/>
                </a:solidFill>
                <a:latin typeface="PT Sans" panose="020B0503020203020204" pitchFamily="34" charset="77"/>
              </a:rPr>
              <a:t>write </a:t>
            </a:r>
            <a:r>
              <a:rPr lang="en-US" sz="4800" b="1" dirty="0" err="1">
                <a:solidFill>
                  <a:srgbClr val="51A1E9"/>
                </a:solidFill>
                <a:latin typeface="PT Sans" panose="020B0503020203020204" pitchFamily="34" charset="77"/>
              </a:rPr>
              <a:t>GeoParquet</a:t>
            </a:r>
            <a:r>
              <a:rPr lang="en-US" sz="4800" b="1" dirty="0">
                <a:solidFill>
                  <a:srgbClr val="51A1E9"/>
                </a:solidFill>
                <a:latin typeface="PT Sans" panose="020B0503020203020204" pitchFamily="34" charset="77"/>
              </a:rPr>
              <a:t>?</a:t>
            </a:r>
          </a:p>
        </p:txBody>
      </p:sp>
      <p:sp>
        <p:nvSpPr>
          <p:cNvPr id="9" name="TextBox 8">
            <a:extLst>
              <a:ext uri="{FF2B5EF4-FFF2-40B4-BE49-F238E27FC236}">
                <a16:creationId xmlns:a16="http://schemas.microsoft.com/office/drawing/2014/main" id="{22AC0213-A5F3-4713-8BE0-FD2A8F2A18F2}"/>
              </a:ext>
            </a:extLst>
          </p:cNvPr>
          <p:cNvSpPr txBox="1"/>
          <p:nvPr/>
        </p:nvSpPr>
        <p:spPr>
          <a:xfrm>
            <a:off x="6458607" y="4081715"/>
            <a:ext cx="5147499" cy="830997"/>
          </a:xfrm>
          <a:prstGeom prst="rect">
            <a:avLst/>
          </a:prstGeom>
          <a:noFill/>
        </p:spPr>
        <p:txBody>
          <a:bodyPr wrap="none" rtlCol="0">
            <a:spAutoFit/>
          </a:bodyPr>
          <a:lstStyle/>
          <a:p>
            <a:r>
              <a:rPr lang="en-GB" sz="1600" b="1" dirty="0">
                <a:solidFill>
                  <a:schemeClr val="tx1">
                    <a:lumMod val="65000"/>
                    <a:lumOff val="35000"/>
                  </a:schemeClr>
                </a:solidFill>
                <a:latin typeface="PT Sans" panose="020B0503020203020204" pitchFamily="34" charset="77"/>
              </a:rPr>
              <a:t>What </a:t>
            </a:r>
            <a:r>
              <a:rPr lang="en-GB" sz="1600" b="1" dirty="0" err="1">
                <a:solidFill>
                  <a:schemeClr val="tx1">
                    <a:lumMod val="65000"/>
                    <a:lumOff val="35000"/>
                  </a:schemeClr>
                </a:solidFill>
                <a:latin typeface="PT Sans" panose="020B0503020203020204" pitchFamily="34" charset="77"/>
              </a:rPr>
              <a:t>GeoParquet</a:t>
            </a:r>
            <a:r>
              <a:rPr lang="en-GB" sz="1600" b="1" dirty="0">
                <a:solidFill>
                  <a:schemeClr val="tx1">
                    <a:lumMod val="65000"/>
                    <a:lumOff val="35000"/>
                  </a:schemeClr>
                </a:solidFill>
                <a:latin typeface="PT Sans" panose="020B0503020203020204" pitchFamily="34" charset="77"/>
              </a:rPr>
              <a:t> is, how it connects to hale-core, </a:t>
            </a:r>
          </a:p>
          <a:p>
            <a:r>
              <a:rPr lang="en-GB" sz="1600" b="1" dirty="0">
                <a:solidFill>
                  <a:schemeClr val="tx1">
                    <a:lumMod val="65000"/>
                    <a:lumOff val="35000"/>
                  </a:schemeClr>
                </a:solidFill>
                <a:latin typeface="PT Sans" panose="020B0503020203020204" pitchFamily="34" charset="77"/>
              </a:rPr>
              <a:t>what the spike in spikes/</a:t>
            </a:r>
            <a:r>
              <a:rPr lang="en-GB" sz="1600" b="1" dirty="0" err="1">
                <a:solidFill>
                  <a:schemeClr val="tx1">
                    <a:lumMod val="65000"/>
                    <a:lumOff val="35000"/>
                  </a:schemeClr>
                </a:solidFill>
                <a:latin typeface="PT Sans" panose="020B0503020203020204" pitchFamily="34" charset="77"/>
              </a:rPr>
              <a:t>geoparquet-poc</a:t>
            </a:r>
            <a:r>
              <a:rPr lang="en-GB" sz="1600" b="1" dirty="0">
                <a:solidFill>
                  <a:schemeClr val="tx1">
                    <a:lumMod val="65000"/>
                    <a:lumOff val="35000"/>
                  </a:schemeClr>
                </a:solidFill>
                <a:latin typeface="PT Sans" panose="020B0503020203020204" pitchFamily="34" charset="77"/>
              </a:rPr>
              <a:t> actually does —</a:t>
            </a:r>
          </a:p>
          <a:p>
            <a:r>
              <a:rPr lang="en-GB" sz="1600" b="1" dirty="0">
                <a:solidFill>
                  <a:schemeClr val="tx1">
                    <a:lumMod val="65000"/>
                    <a:lumOff val="35000"/>
                  </a:schemeClr>
                </a:solidFill>
                <a:latin typeface="PT Sans" panose="020B0503020203020204" pitchFamily="34" charset="77"/>
              </a:rPr>
              <a:t>and the decision we need to make.</a:t>
            </a:r>
          </a:p>
        </p:txBody>
      </p:sp>
      <p:sp>
        <p:nvSpPr>
          <p:cNvPr id="18" name="Oval 17">
            <a:extLst>
              <a:ext uri="{FF2B5EF4-FFF2-40B4-BE49-F238E27FC236}">
                <a16:creationId xmlns:a16="http://schemas.microsoft.com/office/drawing/2014/main" id="{7F5355FF-62ED-4535-BE0D-03FFA97C3F88}"/>
              </a:ext>
            </a:extLst>
          </p:cNvPr>
          <p:cNvSpPr>
            <a:spLocks noChangeAspect="1"/>
          </p:cNvSpPr>
          <p:nvPr/>
        </p:nvSpPr>
        <p:spPr>
          <a:xfrm>
            <a:off x="4644042" y="1053655"/>
            <a:ext cx="838991" cy="838991"/>
          </a:xfrm>
          <a:prstGeom prst="ellipse">
            <a:avLst/>
          </a:prstGeom>
          <a:gradFill>
            <a:gsLst>
              <a:gs pos="0">
                <a:srgbClr val="51A1E9"/>
              </a:gs>
              <a:gs pos="100000">
                <a:srgbClr val="176DBB"/>
              </a:gs>
            </a:gsLst>
            <a:lin ang="5400000" scaled="1"/>
          </a:gradFill>
          <a:ln>
            <a:noFill/>
          </a:ln>
          <a:effectLst>
            <a:outerShdw blurRad="254000" algn="ctr" rotWithShape="0">
              <a:schemeClr val="tx1">
                <a:lumMod val="85000"/>
                <a:lumOff val="1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9" name="Oval 18">
            <a:extLst>
              <a:ext uri="{FF2B5EF4-FFF2-40B4-BE49-F238E27FC236}">
                <a16:creationId xmlns:a16="http://schemas.microsoft.com/office/drawing/2014/main" id="{195F6E1E-DD50-4C98-AE5E-D8FC4316C506}"/>
              </a:ext>
            </a:extLst>
          </p:cNvPr>
          <p:cNvSpPr>
            <a:spLocks noChangeAspect="1"/>
          </p:cNvSpPr>
          <p:nvPr/>
        </p:nvSpPr>
        <p:spPr>
          <a:xfrm>
            <a:off x="905888" y="1075600"/>
            <a:ext cx="1349907" cy="1349907"/>
          </a:xfrm>
          <a:prstGeom prst="ellipse">
            <a:avLst/>
          </a:prstGeom>
          <a:solidFill>
            <a:schemeClr val="bg1"/>
          </a:solidFill>
          <a:ln>
            <a:noFill/>
          </a:ln>
          <a:effectLst>
            <a:outerShdw blurRad="254000" algn="ctr" rotWithShape="0">
              <a:schemeClr val="tx1">
                <a:lumMod val="85000"/>
                <a:lumOff val="1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a:p>
        </p:txBody>
      </p:sp>
      <p:sp>
        <p:nvSpPr>
          <p:cNvPr id="12" name="Oval 11">
            <a:extLst>
              <a:ext uri="{FF2B5EF4-FFF2-40B4-BE49-F238E27FC236}">
                <a16:creationId xmlns:a16="http://schemas.microsoft.com/office/drawing/2014/main" id="{F4DB347A-B510-BE43-8DC8-AA6A068FA94D}"/>
              </a:ext>
            </a:extLst>
          </p:cNvPr>
          <p:cNvSpPr/>
          <p:nvPr/>
        </p:nvSpPr>
        <p:spPr>
          <a:xfrm>
            <a:off x="5102137" y="5257532"/>
            <a:ext cx="245371" cy="245372"/>
          </a:xfrm>
          <a:prstGeom prst="ellipse">
            <a:avLst/>
          </a:prstGeom>
          <a:gradFill>
            <a:gsLst>
              <a:gs pos="0">
                <a:srgbClr val="51A1E9"/>
              </a:gs>
              <a:gs pos="100000">
                <a:srgbClr val="176DBB"/>
              </a:gs>
            </a:gsLst>
            <a:lin ang="5400000" scaled="1"/>
          </a:gradFill>
          <a:ln>
            <a:noFill/>
          </a:ln>
          <a:effectLst>
            <a:outerShdw blurRad="254000" algn="ctr" rotWithShape="0">
              <a:schemeClr val="tx1">
                <a:lumMod val="85000"/>
                <a:lumOff val="15000"/>
                <a:alpha val="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13" name="Oval 12">
            <a:extLst>
              <a:ext uri="{FF2B5EF4-FFF2-40B4-BE49-F238E27FC236}">
                <a16:creationId xmlns:a16="http://schemas.microsoft.com/office/drawing/2014/main" id="{32A350D4-8C78-F449-95A1-C70CAEA3E1BF}"/>
              </a:ext>
            </a:extLst>
          </p:cNvPr>
          <p:cNvSpPr/>
          <p:nvPr/>
        </p:nvSpPr>
        <p:spPr>
          <a:xfrm>
            <a:off x="6177864" y="1810154"/>
            <a:ext cx="344008" cy="344008"/>
          </a:xfrm>
          <a:prstGeom prst="ellipse">
            <a:avLst/>
          </a:prstGeom>
          <a:gradFill>
            <a:gsLst>
              <a:gs pos="0">
                <a:schemeClr val="tx1">
                  <a:lumMod val="50000"/>
                  <a:lumOff val="50000"/>
                </a:schemeClr>
              </a:gs>
              <a:gs pos="81000">
                <a:schemeClr val="tx1">
                  <a:lumMod val="85000"/>
                  <a:lumOff val="15000"/>
                </a:schemeClr>
              </a:gs>
            </a:gsLst>
            <a:lin ang="5400000" scaled="1"/>
          </a:gradFill>
          <a:ln>
            <a:noFill/>
          </a:ln>
          <a:effectLst>
            <a:outerShdw blurRad="254000" algn="ctr" rotWithShape="0">
              <a:schemeClr val="tx1">
                <a:lumMod val="85000"/>
                <a:lumOff val="15000"/>
                <a:alpha val="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pic>
        <p:nvPicPr>
          <p:cNvPr id="3" name="Picture 2" descr="A picture containing drawing&#10;&#10;Description automatically generated">
            <a:extLst>
              <a:ext uri="{FF2B5EF4-FFF2-40B4-BE49-F238E27FC236}">
                <a16:creationId xmlns:a16="http://schemas.microsoft.com/office/drawing/2014/main" id="{54134798-297E-408D-8DBA-B3C38B860E8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99997" y="1349640"/>
            <a:ext cx="761687" cy="761687"/>
          </a:xfrm>
          <a:prstGeom prst="rect">
            <a:avLst/>
          </a:prstGeom>
        </p:spPr>
      </p:pic>
      <p:sp>
        <p:nvSpPr>
          <p:cNvPr id="15" name="Oval 14">
            <a:extLst>
              <a:ext uri="{FF2B5EF4-FFF2-40B4-BE49-F238E27FC236}">
                <a16:creationId xmlns:a16="http://schemas.microsoft.com/office/drawing/2014/main" id="{44D39397-3693-9245-B00E-38238554E79F}"/>
              </a:ext>
            </a:extLst>
          </p:cNvPr>
          <p:cNvSpPr/>
          <p:nvPr/>
        </p:nvSpPr>
        <p:spPr>
          <a:xfrm>
            <a:off x="681736" y="3587941"/>
            <a:ext cx="344008" cy="344008"/>
          </a:xfrm>
          <a:prstGeom prst="ellipse">
            <a:avLst/>
          </a:prstGeom>
          <a:gradFill>
            <a:gsLst>
              <a:gs pos="0">
                <a:schemeClr val="tx1">
                  <a:lumMod val="50000"/>
                  <a:lumOff val="50000"/>
                </a:schemeClr>
              </a:gs>
              <a:gs pos="81000">
                <a:schemeClr val="tx1">
                  <a:lumMod val="85000"/>
                  <a:lumOff val="15000"/>
                </a:schemeClr>
              </a:gs>
            </a:gsLst>
            <a:lin ang="5400000" scaled="1"/>
          </a:gradFill>
          <a:ln>
            <a:noFill/>
          </a:ln>
          <a:effectLst>
            <a:outerShdw blurRad="254000" algn="ctr" rotWithShape="0">
              <a:schemeClr val="tx1">
                <a:lumMod val="85000"/>
                <a:lumOff val="15000"/>
                <a:alpha val="3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extBox 1">
            <a:extLst>
              <a:ext uri="{FF2B5EF4-FFF2-40B4-BE49-F238E27FC236}">
                <a16:creationId xmlns:a16="http://schemas.microsoft.com/office/drawing/2014/main" id="{FE03D103-707F-D00E-841E-EC550FFAAF7F}"/>
              </a:ext>
            </a:extLst>
          </p:cNvPr>
          <p:cNvSpPr txBox="1"/>
          <p:nvPr/>
        </p:nvSpPr>
        <p:spPr>
          <a:xfrm>
            <a:off x="6521872" y="1936878"/>
            <a:ext cx="5388848" cy="523220"/>
          </a:xfrm>
          <a:prstGeom prst="rect">
            <a:avLst/>
          </a:prstGeom>
          <a:noFill/>
        </p:spPr>
        <p:txBody>
          <a:bodyPr wrap="none" rtlCol="0">
            <a:spAutoFit/>
          </a:bodyPr>
          <a:lstStyle/>
          <a:p>
            <a:r>
              <a:rPr lang="en-GB" sz="2800" b="1" i="0" dirty="0">
                <a:solidFill>
                  <a:schemeClr val="tx1">
                    <a:lumMod val="65000"/>
                    <a:lumOff val="35000"/>
                  </a:schemeClr>
                </a:solidFill>
                <a:latin typeface="PT Sans" panose="020B0503020203020204" pitchFamily="34" charset="0"/>
              </a:rPr>
              <a:t>ING-5399 · INVESTIGATION SPIKE</a:t>
            </a:r>
          </a:p>
        </p:txBody>
      </p:sp>
    </p:spTree>
    <p:extLst>
      <p:ext uri="{BB962C8B-B14F-4D97-AF65-F5344CB8AC3E}">
        <p14:creationId xmlns:p14="http://schemas.microsoft.com/office/powerpoint/2010/main" val="40267710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2</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3602076" cy="892552"/>
          </a:xfrm>
          <a:prstGeom prst="rect">
            <a:avLst/>
          </a:prstGeom>
          <a:noFill/>
        </p:spPr>
        <p:txBody>
          <a:bodyPr wrap="none" rtlCol="0">
            <a:spAutoFit/>
          </a:bodyPr>
          <a:lstStyle/>
          <a:p>
            <a:r>
              <a:rPr lang="en-US" sz="2000" b="1" dirty="0">
                <a:solidFill>
                  <a:srgbClr val="51A1E9"/>
                </a:solidFill>
                <a:latin typeface="PT Sans" panose="020B0503020203020204" pitchFamily="34" charset="77"/>
              </a:rPr>
              <a:t>Agenda</a:t>
            </a:r>
            <a:br>
              <a:rPr lang="en-US" sz="3200" b="1" dirty="0">
                <a:solidFill>
                  <a:srgbClr val="51A1E9"/>
                </a:solidFill>
                <a:latin typeface="PT Sans" panose="020B0503020203020204" pitchFamily="34" charset="77"/>
              </a:rPr>
            </a:br>
            <a:r>
              <a:rPr lang="en-US" sz="3200" b="1" dirty="0">
                <a:solidFill>
                  <a:srgbClr val="51A1E9"/>
                </a:solidFill>
                <a:latin typeface="PT Sans" panose="020B0503020203020204" pitchFamily="34" charset="77"/>
              </a:rPr>
              <a:t>Where we</a:t>
            </a:r>
            <a:r>
              <a:rPr lang="en-GB" sz="3200" b="1" dirty="0">
                <a:solidFill>
                  <a:srgbClr val="51A1E9"/>
                </a:solidFill>
                <a:latin typeface="PT Sans" panose="020B0503020203020204" pitchFamily="34" charset="77"/>
              </a:rPr>
              <a:t>’re going?</a:t>
            </a:r>
            <a:endParaRPr lang="en-US" sz="3200" b="1" dirty="0">
              <a:solidFill>
                <a:srgbClr val="51A1E9"/>
              </a:solidFill>
              <a:latin typeface="PT Sans" panose="020B0503020203020204" pitchFamily="34" charset="77"/>
            </a:endParaRPr>
          </a:p>
        </p:txBody>
      </p:sp>
      <p:sp>
        <p:nvSpPr>
          <p:cNvPr id="2" name="TextBox 1">
            <a:extLst>
              <a:ext uri="{FF2B5EF4-FFF2-40B4-BE49-F238E27FC236}">
                <a16:creationId xmlns:a16="http://schemas.microsoft.com/office/drawing/2014/main" id="{A063488D-61DE-2D25-00ED-EADE0F9CB05A}"/>
              </a:ext>
            </a:extLst>
          </p:cNvPr>
          <p:cNvSpPr txBox="1"/>
          <p:nvPr/>
        </p:nvSpPr>
        <p:spPr>
          <a:xfrm>
            <a:off x="502920" y="1737360"/>
            <a:ext cx="548640" cy="338554"/>
          </a:xfrm>
          <a:prstGeom prst="rect">
            <a:avLst/>
          </a:prstGeom>
          <a:noFill/>
        </p:spPr>
        <p:txBody>
          <a:bodyPr wrap="square" lIns="0" tIns="0" rIns="0" bIns="0" anchor="t">
            <a:spAutoFit/>
          </a:bodyPr>
          <a:lstStyle/>
          <a:p>
            <a:pPr algn="l">
              <a:lnSpc>
                <a:spcPct val="100000"/>
              </a:lnSpc>
            </a:pPr>
            <a:r>
              <a:rPr sz="2200" b="1" i="0" dirty="0">
                <a:solidFill>
                  <a:schemeClr val="accent1">
                    <a:lumMod val="75000"/>
                  </a:schemeClr>
                </a:solidFill>
                <a:latin typeface="Consolas"/>
              </a:rPr>
              <a:t>01</a:t>
            </a:r>
          </a:p>
        </p:txBody>
      </p:sp>
      <p:sp>
        <p:nvSpPr>
          <p:cNvPr id="3" name="TextBox 2">
            <a:extLst>
              <a:ext uri="{FF2B5EF4-FFF2-40B4-BE49-F238E27FC236}">
                <a16:creationId xmlns:a16="http://schemas.microsoft.com/office/drawing/2014/main" id="{0C903901-E727-3886-CCD6-26FAA6E06322}"/>
              </a:ext>
            </a:extLst>
          </p:cNvPr>
          <p:cNvSpPr txBox="1"/>
          <p:nvPr/>
        </p:nvSpPr>
        <p:spPr>
          <a:xfrm>
            <a:off x="1188720" y="1755648"/>
            <a:ext cx="9601200" cy="307777"/>
          </a:xfrm>
          <a:prstGeom prst="rect">
            <a:avLst/>
          </a:prstGeom>
          <a:noFill/>
        </p:spPr>
        <p:txBody>
          <a:bodyPr wrap="square" lIns="0" tIns="0" rIns="0" bIns="0" anchor="t">
            <a:spAutoFit/>
          </a:bodyPr>
          <a:lstStyle/>
          <a:p>
            <a:pPr algn="l">
              <a:lnSpc>
                <a:spcPct val="100000"/>
              </a:lnSpc>
            </a:pPr>
            <a:r>
              <a:rPr sz="2000" b="0" i="0" dirty="0">
                <a:solidFill>
                  <a:schemeClr val="accent1">
                    <a:lumMod val="75000"/>
                  </a:schemeClr>
                </a:solidFill>
                <a:latin typeface="Calibri"/>
              </a:rPr>
              <a:t>What is </a:t>
            </a:r>
            <a:r>
              <a:rPr sz="2000" b="0" i="0" dirty="0" err="1">
                <a:solidFill>
                  <a:schemeClr val="accent1">
                    <a:lumMod val="75000"/>
                  </a:schemeClr>
                </a:solidFill>
                <a:latin typeface="Calibri"/>
              </a:rPr>
              <a:t>GeoParquet</a:t>
            </a:r>
            <a:endParaRPr sz="2000" b="0" i="0" dirty="0">
              <a:solidFill>
                <a:schemeClr val="accent1">
                  <a:lumMod val="75000"/>
                </a:schemeClr>
              </a:solidFill>
              <a:latin typeface="Calibri"/>
            </a:endParaRPr>
          </a:p>
        </p:txBody>
      </p:sp>
      <p:sp>
        <p:nvSpPr>
          <p:cNvPr id="4" name="TextBox 3">
            <a:extLst>
              <a:ext uri="{FF2B5EF4-FFF2-40B4-BE49-F238E27FC236}">
                <a16:creationId xmlns:a16="http://schemas.microsoft.com/office/drawing/2014/main" id="{E9E44619-2A29-9886-1D0F-C717EAC7FD1B}"/>
              </a:ext>
            </a:extLst>
          </p:cNvPr>
          <p:cNvSpPr txBox="1"/>
          <p:nvPr/>
        </p:nvSpPr>
        <p:spPr>
          <a:xfrm>
            <a:off x="502920" y="2450592"/>
            <a:ext cx="548640" cy="338554"/>
          </a:xfrm>
          <a:prstGeom prst="rect">
            <a:avLst/>
          </a:prstGeom>
          <a:noFill/>
        </p:spPr>
        <p:txBody>
          <a:bodyPr wrap="square" lIns="0" tIns="0" rIns="0" bIns="0" anchor="t">
            <a:spAutoFit/>
          </a:bodyPr>
          <a:lstStyle/>
          <a:p>
            <a:pPr algn="l">
              <a:lnSpc>
                <a:spcPct val="100000"/>
              </a:lnSpc>
            </a:pPr>
            <a:r>
              <a:rPr sz="2200" b="1" i="0">
                <a:solidFill>
                  <a:schemeClr val="accent1">
                    <a:lumMod val="75000"/>
                  </a:schemeClr>
                </a:solidFill>
                <a:latin typeface="Consolas"/>
              </a:rPr>
              <a:t>02</a:t>
            </a:r>
          </a:p>
        </p:txBody>
      </p:sp>
      <p:sp>
        <p:nvSpPr>
          <p:cNvPr id="5" name="TextBox 4">
            <a:extLst>
              <a:ext uri="{FF2B5EF4-FFF2-40B4-BE49-F238E27FC236}">
                <a16:creationId xmlns:a16="http://schemas.microsoft.com/office/drawing/2014/main" id="{038A5F64-434C-DCEE-CE7C-246DB4C87859}"/>
              </a:ext>
            </a:extLst>
          </p:cNvPr>
          <p:cNvSpPr txBox="1"/>
          <p:nvPr/>
        </p:nvSpPr>
        <p:spPr>
          <a:xfrm>
            <a:off x="1188720" y="2468880"/>
            <a:ext cx="9601200" cy="307777"/>
          </a:xfrm>
          <a:prstGeom prst="rect">
            <a:avLst/>
          </a:prstGeom>
          <a:noFill/>
        </p:spPr>
        <p:txBody>
          <a:bodyPr wrap="square" lIns="0" tIns="0" rIns="0" bIns="0" anchor="t">
            <a:spAutoFit/>
          </a:bodyPr>
          <a:lstStyle/>
          <a:p>
            <a:pPr algn="l">
              <a:lnSpc>
                <a:spcPct val="100000"/>
              </a:lnSpc>
            </a:pPr>
            <a:r>
              <a:rPr sz="2000" b="0" i="0" dirty="0">
                <a:solidFill>
                  <a:schemeClr val="accent1">
                    <a:lumMod val="75000"/>
                  </a:schemeClr>
                </a:solidFill>
                <a:latin typeface="Calibri"/>
              </a:rPr>
              <a:t>How it connects to hale-core's existing architecture</a:t>
            </a:r>
          </a:p>
        </p:txBody>
      </p:sp>
      <p:sp>
        <p:nvSpPr>
          <p:cNvPr id="6" name="TextBox 5">
            <a:extLst>
              <a:ext uri="{FF2B5EF4-FFF2-40B4-BE49-F238E27FC236}">
                <a16:creationId xmlns:a16="http://schemas.microsoft.com/office/drawing/2014/main" id="{75A322A8-BE80-65DD-FB68-BA40B9F846FC}"/>
              </a:ext>
            </a:extLst>
          </p:cNvPr>
          <p:cNvSpPr txBox="1"/>
          <p:nvPr/>
        </p:nvSpPr>
        <p:spPr>
          <a:xfrm>
            <a:off x="502920" y="3163824"/>
            <a:ext cx="548640" cy="338554"/>
          </a:xfrm>
          <a:prstGeom prst="rect">
            <a:avLst/>
          </a:prstGeom>
          <a:noFill/>
        </p:spPr>
        <p:txBody>
          <a:bodyPr wrap="square" lIns="0" tIns="0" rIns="0" bIns="0" anchor="t">
            <a:spAutoFit/>
          </a:bodyPr>
          <a:lstStyle/>
          <a:p>
            <a:pPr algn="l">
              <a:lnSpc>
                <a:spcPct val="100000"/>
              </a:lnSpc>
            </a:pPr>
            <a:r>
              <a:rPr sz="2200" b="1" i="0">
                <a:solidFill>
                  <a:schemeClr val="accent1">
                    <a:lumMod val="75000"/>
                  </a:schemeClr>
                </a:solidFill>
                <a:latin typeface="Consolas"/>
              </a:rPr>
              <a:t>03</a:t>
            </a:r>
          </a:p>
        </p:txBody>
      </p:sp>
      <p:sp>
        <p:nvSpPr>
          <p:cNvPr id="9" name="TextBox 8">
            <a:extLst>
              <a:ext uri="{FF2B5EF4-FFF2-40B4-BE49-F238E27FC236}">
                <a16:creationId xmlns:a16="http://schemas.microsoft.com/office/drawing/2014/main" id="{63D36780-0A81-09B3-403C-DE6A6E0E3683}"/>
              </a:ext>
            </a:extLst>
          </p:cNvPr>
          <p:cNvSpPr txBox="1"/>
          <p:nvPr/>
        </p:nvSpPr>
        <p:spPr>
          <a:xfrm>
            <a:off x="1188720" y="3182112"/>
            <a:ext cx="9601200" cy="307777"/>
          </a:xfrm>
          <a:prstGeom prst="rect">
            <a:avLst/>
          </a:prstGeom>
          <a:noFill/>
        </p:spPr>
        <p:txBody>
          <a:bodyPr wrap="square" lIns="0" tIns="0" rIns="0" bIns="0" anchor="t">
            <a:spAutoFit/>
          </a:bodyPr>
          <a:lstStyle/>
          <a:p>
            <a:pPr algn="l">
              <a:lnSpc>
                <a:spcPct val="100000"/>
              </a:lnSpc>
            </a:pPr>
            <a:r>
              <a:rPr sz="2000" b="0" i="0">
                <a:solidFill>
                  <a:schemeClr val="accent1">
                    <a:lumMod val="75000"/>
                  </a:schemeClr>
                </a:solidFill>
                <a:latin typeface="Calibri"/>
              </a:rPr>
              <a:t>Inside the spike: a file-by-file code walkthrough</a:t>
            </a:r>
          </a:p>
        </p:txBody>
      </p:sp>
      <p:sp>
        <p:nvSpPr>
          <p:cNvPr id="10" name="TextBox 9">
            <a:extLst>
              <a:ext uri="{FF2B5EF4-FFF2-40B4-BE49-F238E27FC236}">
                <a16:creationId xmlns:a16="http://schemas.microsoft.com/office/drawing/2014/main" id="{AD57527A-7389-0881-FB8E-662693194B2C}"/>
              </a:ext>
            </a:extLst>
          </p:cNvPr>
          <p:cNvSpPr txBox="1"/>
          <p:nvPr/>
        </p:nvSpPr>
        <p:spPr>
          <a:xfrm>
            <a:off x="502920" y="3877056"/>
            <a:ext cx="548640" cy="338554"/>
          </a:xfrm>
          <a:prstGeom prst="rect">
            <a:avLst/>
          </a:prstGeom>
          <a:noFill/>
        </p:spPr>
        <p:txBody>
          <a:bodyPr wrap="square" lIns="0" tIns="0" rIns="0" bIns="0" anchor="t">
            <a:spAutoFit/>
          </a:bodyPr>
          <a:lstStyle/>
          <a:p>
            <a:pPr algn="l">
              <a:lnSpc>
                <a:spcPct val="100000"/>
              </a:lnSpc>
            </a:pPr>
            <a:r>
              <a:rPr sz="2200" b="1" i="0">
                <a:solidFill>
                  <a:schemeClr val="accent1">
                    <a:lumMod val="75000"/>
                  </a:schemeClr>
                </a:solidFill>
                <a:latin typeface="Consolas"/>
              </a:rPr>
              <a:t>04</a:t>
            </a:r>
          </a:p>
        </p:txBody>
      </p:sp>
      <p:sp>
        <p:nvSpPr>
          <p:cNvPr id="11" name="TextBox 10">
            <a:extLst>
              <a:ext uri="{FF2B5EF4-FFF2-40B4-BE49-F238E27FC236}">
                <a16:creationId xmlns:a16="http://schemas.microsoft.com/office/drawing/2014/main" id="{107AA09B-0BF4-ED36-5695-FA9825D91163}"/>
              </a:ext>
            </a:extLst>
          </p:cNvPr>
          <p:cNvSpPr txBox="1"/>
          <p:nvPr/>
        </p:nvSpPr>
        <p:spPr>
          <a:xfrm>
            <a:off x="1188720" y="3895344"/>
            <a:ext cx="9601200" cy="307777"/>
          </a:xfrm>
          <a:prstGeom prst="rect">
            <a:avLst/>
          </a:prstGeom>
          <a:noFill/>
        </p:spPr>
        <p:txBody>
          <a:bodyPr wrap="square" lIns="0" tIns="0" rIns="0" bIns="0" anchor="t">
            <a:spAutoFit/>
          </a:bodyPr>
          <a:lstStyle/>
          <a:p>
            <a:pPr algn="l">
              <a:lnSpc>
                <a:spcPct val="100000"/>
              </a:lnSpc>
            </a:pPr>
            <a:r>
              <a:rPr sz="2000" b="0" i="0" dirty="0">
                <a:solidFill>
                  <a:schemeClr val="accent1">
                    <a:lumMod val="75000"/>
                  </a:schemeClr>
                </a:solidFill>
                <a:latin typeface="Calibri"/>
              </a:rPr>
              <a:t>What w</a:t>
            </a:r>
            <a:r>
              <a:rPr lang="en-GB" sz="2000" b="0" i="0" dirty="0">
                <a:solidFill>
                  <a:schemeClr val="accent1">
                    <a:lumMod val="75000"/>
                  </a:schemeClr>
                </a:solidFill>
                <a:latin typeface="Calibri"/>
              </a:rPr>
              <a:t>as</a:t>
            </a:r>
            <a:r>
              <a:rPr sz="2000" b="0" i="0" dirty="0">
                <a:solidFill>
                  <a:schemeClr val="accent1">
                    <a:lumMod val="75000"/>
                  </a:schemeClr>
                </a:solidFill>
                <a:latin typeface="Calibri"/>
              </a:rPr>
              <a:t> actually verified — including two real corrections</a:t>
            </a:r>
          </a:p>
        </p:txBody>
      </p:sp>
      <p:sp>
        <p:nvSpPr>
          <p:cNvPr id="12" name="TextBox 11">
            <a:extLst>
              <a:ext uri="{FF2B5EF4-FFF2-40B4-BE49-F238E27FC236}">
                <a16:creationId xmlns:a16="http://schemas.microsoft.com/office/drawing/2014/main" id="{B15DA2FE-84A2-96FC-AB0A-95A14A96351F}"/>
              </a:ext>
            </a:extLst>
          </p:cNvPr>
          <p:cNvSpPr txBox="1"/>
          <p:nvPr/>
        </p:nvSpPr>
        <p:spPr>
          <a:xfrm>
            <a:off x="502920" y="4590288"/>
            <a:ext cx="548640" cy="338554"/>
          </a:xfrm>
          <a:prstGeom prst="rect">
            <a:avLst/>
          </a:prstGeom>
          <a:noFill/>
        </p:spPr>
        <p:txBody>
          <a:bodyPr wrap="square" lIns="0" tIns="0" rIns="0" bIns="0" anchor="t">
            <a:spAutoFit/>
          </a:bodyPr>
          <a:lstStyle/>
          <a:p>
            <a:pPr algn="l">
              <a:lnSpc>
                <a:spcPct val="100000"/>
              </a:lnSpc>
            </a:pPr>
            <a:r>
              <a:rPr sz="2200" b="1" i="0">
                <a:solidFill>
                  <a:schemeClr val="accent1">
                    <a:lumMod val="75000"/>
                  </a:schemeClr>
                </a:solidFill>
                <a:latin typeface="Consolas"/>
              </a:rPr>
              <a:t>05</a:t>
            </a:r>
          </a:p>
        </p:txBody>
      </p:sp>
      <p:sp>
        <p:nvSpPr>
          <p:cNvPr id="13" name="TextBox 12">
            <a:extLst>
              <a:ext uri="{FF2B5EF4-FFF2-40B4-BE49-F238E27FC236}">
                <a16:creationId xmlns:a16="http://schemas.microsoft.com/office/drawing/2014/main" id="{7BE20BA7-93F5-D6EF-D9C5-2506B6441867}"/>
              </a:ext>
            </a:extLst>
          </p:cNvPr>
          <p:cNvSpPr txBox="1"/>
          <p:nvPr/>
        </p:nvSpPr>
        <p:spPr>
          <a:xfrm>
            <a:off x="1188720" y="4608576"/>
            <a:ext cx="9601200" cy="307777"/>
          </a:xfrm>
          <a:prstGeom prst="rect">
            <a:avLst/>
          </a:prstGeom>
          <a:noFill/>
        </p:spPr>
        <p:txBody>
          <a:bodyPr wrap="square" lIns="0" tIns="0" rIns="0" bIns="0" anchor="t">
            <a:spAutoFit/>
          </a:bodyPr>
          <a:lstStyle/>
          <a:p>
            <a:pPr algn="l">
              <a:lnSpc>
                <a:spcPct val="100000"/>
              </a:lnSpc>
            </a:pPr>
            <a:r>
              <a:rPr sz="2000" b="0" i="0" dirty="0">
                <a:solidFill>
                  <a:schemeClr val="accent1">
                    <a:lumMod val="75000"/>
                  </a:schemeClr>
                </a:solidFill>
                <a:latin typeface="Calibri"/>
              </a:rPr>
              <a:t>The case for and against building it</a:t>
            </a:r>
          </a:p>
        </p:txBody>
      </p:sp>
      <p:sp>
        <p:nvSpPr>
          <p:cNvPr id="14" name="TextBox 13">
            <a:extLst>
              <a:ext uri="{FF2B5EF4-FFF2-40B4-BE49-F238E27FC236}">
                <a16:creationId xmlns:a16="http://schemas.microsoft.com/office/drawing/2014/main" id="{4374DA21-0793-F8A8-D9AF-1E3433901635}"/>
              </a:ext>
            </a:extLst>
          </p:cNvPr>
          <p:cNvSpPr txBox="1"/>
          <p:nvPr/>
        </p:nvSpPr>
        <p:spPr>
          <a:xfrm>
            <a:off x="502920" y="5303520"/>
            <a:ext cx="548640" cy="338554"/>
          </a:xfrm>
          <a:prstGeom prst="rect">
            <a:avLst/>
          </a:prstGeom>
          <a:noFill/>
        </p:spPr>
        <p:txBody>
          <a:bodyPr wrap="square" lIns="0" tIns="0" rIns="0" bIns="0" anchor="t">
            <a:spAutoFit/>
          </a:bodyPr>
          <a:lstStyle/>
          <a:p>
            <a:pPr algn="l">
              <a:lnSpc>
                <a:spcPct val="100000"/>
              </a:lnSpc>
            </a:pPr>
            <a:r>
              <a:rPr sz="2200" b="1" i="0">
                <a:solidFill>
                  <a:schemeClr val="accent1">
                    <a:lumMod val="75000"/>
                  </a:schemeClr>
                </a:solidFill>
                <a:latin typeface="Consolas"/>
              </a:rPr>
              <a:t>06</a:t>
            </a:r>
          </a:p>
        </p:txBody>
      </p:sp>
      <p:sp>
        <p:nvSpPr>
          <p:cNvPr id="15" name="TextBox 14">
            <a:extLst>
              <a:ext uri="{FF2B5EF4-FFF2-40B4-BE49-F238E27FC236}">
                <a16:creationId xmlns:a16="http://schemas.microsoft.com/office/drawing/2014/main" id="{5E47B645-F276-8129-39C6-4077E89E28AF}"/>
              </a:ext>
            </a:extLst>
          </p:cNvPr>
          <p:cNvSpPr txBox="1"/>
          <p:nvPr/>
        </p:nvSpPr>
        <p:spPr>
          <a:xfrm>
            <a:off x="1188720" y="5321808"/>
            <a:ext cx="9601200" cy="307777"/>
          </a:xfrm>
          <a:prstGeom prst="rect">
            <a:avLst/>
          </a:prstGeom>
          <a:noFill/>
        </p:spPr>
        <p:txBody>
          <a:bodyPr wrap="square" lIns="0" tIns="0" rIns="0" bIns="0" anchor="t">
            <a:spAutoFit/>
          </a:bodyPr>
          <a:lstStyle/>
          <a:p>
            <a:pPr algn="l">
              <a:lnSpc>
                <a:spcPct val="100000"/>
              </a:lnSpc>
            </a:pPr>
            <a:r>
              <a:rPr lang="en-GB" sz="2000" b="0" i="0" dirty="0">
                <a:solidFill>
                  <a:schemeClr val="accent1">
                    <a:lumMod val="75000"/>
                  </a:schemeClr>
                </a:solidFill>
                <a:latin typeface="Calibri"/>
              </a:rPr>
              <a:t>Next steps</a:t>
            </a:r>
            <a:endParaRPr sz="2000" b="0" i="0" dirty="0">
              <a:solidFill>
                <a:schemeClr val="accent1">
                  <a:lumMod val="75000"/>
                </a:schemeClr>
              </a:solidFill>
              <a:latin typeface="Calibri"/>
            </a:endParaRPr>
          </a:p>
        </p:txBody>
      </p:sp>
    </p:spTree>
    <p:extLst>
      <p:ext uri="{BB962C8B-B14F-4D97-AF65-F5344CB8AC3E}">
        <p14:creationId xmlns:p14="http://schemas.microsoft.com/office/powerpoint/2010/main" val="218820045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3</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3820213" cy="584775"/>
          </a:xfrm>
          <a:prstGeom prst="rect">
            <a:avLst/>
          </a:prstGeom>
          <a:noFill/>
        </p:spPr>
        <p:txBody>
          <a:bodyPr wrap="none" rtlCol="0">
            <a:spAutoFit/>
          </a:bodyPr>
          <a:lstStyle/>
          <a:p>
            <a:r>
              <a:rPr lang="en-US" sz="3200" b="1" dirty="0">
                <a:solidFill>
                  <a:srgbClr val="51A1E9"/>
                </a:solidFill>
                <a:latin typeface="PT Sans" panose="020B0503020203020204" pitchFamily="34" charset="77"/>
              </a:rPr>
              <a:t>What is </a:t>
            </a:r>
            <a:r>
              <a:rPr lang="en-US" sz="3200" b="1" dirty="0" err="1">
                <a:solidFill>
                  <a:srgbClr val="51A1E9"/>
                </a:solidFill>
                <a:latin typeface="PT Sans" panose="020B0503020203020204" pitchFamily="34" charset="77"/>
              </a:rPr>
              <a:t>GeoParquet</a:t>
            </a:r>
            <a:r>
              <a:rPr lang="en-US" sz="3200" b="1" dirty="0">
                <a:solidFill>
                  <a:srgbClr val="51A1E9"/>
                </a:solidFill>
                <a:latin typeface="PT Sans" panose="020B0503020203020204" pitchFamily="34" charset="77"/>
              </a:rPr>
              <a:t>?</a:t>
            </a:r>
          </a:p>
        </p:txBody>
      </p:sp>
      <p:sp>
        <p:nvSpPr>
          <p:cNvPr id="2" name="TextBox 1">
            <a:extLst>
              <a:ext uri="{FF2B5EF4-FFF2-40B4-BE49-F238E27FC236}">
                <a16:creationId xmlns:a16="http://schemas.microsoft.com/office/drawing/2014/main" id="{4D889F53-09EC-2E19-A1AF-2702AC30627A}"/>
              </a:ext>
            </a:extLst>
          </p:cNvPr>
          <p:cNvSpPr txBox="1"/>
          <p:nvPr/>
        </p:nvSpPr>
        <p:spPr>
          <a:xfrm>
            <a:off x="502920" y="1600200"/>
            <a:ext cx="11185855" cy="1046440"/>
          </a:xfrm>
          <a:prstGeom prst="rect">
            <a:avLst/>
          </a:prstGeom>
          <a:noFill/>
        </p:spPr>
        <p:txBody>
          <a:bodyPr wrap="square" lIns="0" tIns="0" rIns="0" bIns="0" anchor="t">
            <a:spAutoFit/>
          </a:bodyPr>
          <a:lstStyle/>
          <a:p>
            <a:pPr algn="l">
              <a:lnSpc>
                <a:spcPct val="100000"/>
              </a:lnSpc>
            </a:pPr>
            <a:r>
              <a:rPr lang="en-GB" sz="1700" b="0" i="1" dirty="0">
                <a:solidFill>
                  <a:srgbClr val="4B564E"/>
                </a:solidFill>
                <a:latin typeface="Calibri"/>
              </a:rPr>
              <a:t>A convention for storing geospatial vector data (points, lines, polygons) inside a plain Apache Parquet file — not a new file format. Parquet is a columnar binary format (used a lot in the data/analytics world — </a:t>
            </a:r>
            <a:r>
              <a:rPr lang="en-GB" sz="1700" b="0" i="1" dirty="0" err="1">
                <a:solidFill>
                  <a:srgbClr val="4B564E"/>
                </a:solidFill>
                <a:latin typeface="Calibri"/>
              </a:rPr>
              <a:t>DuckDB</a:t>
            </a:r>
            <a:r>
              <a:rPr lang="en-GB" sz="1700" b="0" i="1" dirty="0">
                <a:solidFill>
                  <a:srgbClr val="4B564E"/>
                </a:solidFill>
                <a:latin typeface="Calibri"/>
              </a:rPr>
              <a:t>, Spark, etc.) that's great for compact storage and fast column-based queries. </a:t>
            </a:r>
            <a:r>
              <a:rPr lang="en-GB" sz="1700" b="0" i="1" dirty="0" err="1">
                <a:solidFill>
                  <a:srgbClr val="4B564E"/>
                </a:solidFill>
                <a:latin typeface="Calibri"/>
              </a:rPr>
              <a:t>GeoParquet</a:t>
            </a:r>
            <a:r>
              <a:rPr lang="en-GB" sz="1700" b="0" i="1" dirty="0">
                <a:solidFill>
                  <a:srgbClr val="4B564E"/>
                </a:solidFill>
                <a:latin typeface="Calibri"/>
              </a:rPr>
              <a:t> just says: "here's how to put geometries in a Parquet column and describe them so geo tools know what they're looking at.“</a:t>
            </a:r>
          </a:p>
        </p:txBody>
      </p:sp>
      <p:sp>
        <p:nvSpPr>
          <p:cNvPr id="3" name="TextBox 2">
            <a:extLst>
              <a:ext uri="{FF2B5EF4-FFF2-40B4-BE49-F238E27FC236}">
                <a16:creationId xmlns:a16="http://schemas.microsoft.com/office/drawing/2014/main" id="{F94A9BF4-4BB7-B94D-E5A4-48384BBB6845}"/>
              </a:ext>
            </a:extLst>
          </p:cNvPr>
          <p:cNvSpPr txBox="1"/>
          <p:nvPr/>
        </p:nvSpPr>
        <p:spPr>
          <a:xfrm>
            <a:off x="502921" y="3088713"/>
            <a:ext cx="11185854" cy="3170099"/>
          </a:xfrm>
          <a:prstGeom prst="rect">
            <a:avLst/>
          </a:prstGeom>
          <a:noFill/>
        </p:spPr>
        <p:txBody>
          <a:bodyPr wrap="square">
            <a:spAutoFit/>
          </a:bodyPr>
          <a:lstStyle/>
          <a:p>
            <a:pPr marL="0" indent="0">
              <a:buNone/>
            </a:pPr>
            <a:r>
              <a:rPr lang="en-GB" sz="2000" b="1" dirty="0"/>
              <a:t>Why it exists</a:t>
            </a:r>
            <a:r>
              <a:rPr lang="en-GB" sz="2000" dirty="0"/>
              <a:t>: Before </a:t>
            </a:r>
            <a:r>
              <a:rPr lang="en-GB" sz="2000" dirty="0" err="1"/>
              <a:t>GeoParquet</a:t>
            </a:r>
            <a:r>
              <a:rPr lang="en-GB" sz="2000" dirty="0"/>
              <a:t>, sharing large vector datasets meant Shapefile (old, limited) or </a:t>
            </a:r>
            <a:r>
              <a:rPr lang="en-GB" sz="2000" dirty="0" err="1"/>
              <a:t>GeoPackage</a:t>
            </a:r>
            <a:r>
              <a:rPr lang="en-GB" sz="2000" dirty="0"/>
              <a:t> (SQLite-based, row-oriented). </a:t>
            </a:r>
            <a:r>
              <a:rPr lang="en-GB" sz="2000" dirty="0" err="1"/>
              <a:t>GeoParquet</a:t>
            </a:r>
            <a:r>
              <a:rPr lang="en-GB" sz="2000" dirty="0"/>
              <a:t> gives you Parquet's benefits — compression, columnar access, huge ecosystem (</a:t>
            </a:r>
            <a:r>
              <a:rPr lang="en-GB" sz="2000" dirty="0" err="1"/>
              <a:t>DuckDB</a:t>
            </a:r>
            <a:r>
              <a:rPr lang="en-GB" sz="2000" dirty="0"/>
              <a:t>, pandas, Spark, etc.) — for spatial data.</a:t>
            </a:r>
          </a:p>
          <a:p>
            <a:endParaRPr lang="en-GB" sz="2000" dirty="0"/>
          </a:p>
          <a:p>
            <a:pPr marL="0" indent="0">
              <a:buNone/>
            </a:pPr>
            <a:r>
              <a:rPr lang="en-GB" sz="2000" b="1" dirty="0"/>
              <a:t>How a geometry actually gets stored:</a:t>
            </a:r>
          </a:p>
          <a:p>
            <a:pPr marL="342900" indent="-342900">
              <a:buFont typeface="Wingdings" panose="05000000000000000000" pitchFamily="2" charset="2"/>
              <a:buChar char="Ø"/>
            </a:pPr>
            <a:r>
              <a:rPr lang="en-GB" sz="2000" dirty="0"/>
              <a:t> Encoded as WKB (Well-Known Binary) — the same binary geometry format JTS/</a:t>
            </a:r>
            <a:r>
              <a:rPr lang="en-GB" sz="2000" dirty="0" err="1"/>
              <a:t>GeoTools</a:t>
            </a:r>
            <a:r>
              <a:rPr lang="en-GB" sz="2000" dirty="0"/>
              <a:t> already use internally.</a:t>
            </a:r>
          </a:p>
          <a:p>
            <a:pPr marL="342900" indent="-342900">
              <a:buFont typeface="Wingdings" panose="05000000000000000000" pitchFamily="2" charset="2"/>
              <a:buChar char="Ø"/>
            </a:pPr>
            <a:r>
              <a:rPr lang="en-GB" sz="2000" dirty="0"/>
              <a:t> Put into a column, one geometry per row, like any other Parquet column.</a:t>
            </a:r>
          </a:p>
          <a:p>
            <a:pPr marL="342900" indent="-342900">
              <a:buFont typeface="Wingdings" panose="05000000000000000000" pitchFamily="2" charset="2"/>
              <a:buChar char="Ø"/>
            </a:pPr>
            <a:r>
              <a:rPr lang="en-GB" sz="2000" dirty="0"/>
              <a:t> Extra metadata describes the geometry column: its CRS, what geometry types appear (Point/Polygon/etc.), a bounding box, etc.</a:t>
            </a:r>
          </a:p>
        </p:txBody>
      </p:sp>
    </p:spTree>
    <p:extLst>
      <p:ext uri="{BB962C8B-B14F-4D97-AF65-F5344CB8AC3E}">
        <p14:creationId xmlns:p14="http://schemas.microsoft.com/office/powerpoint/2010/main" val="10063690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4</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3820213" cy="584775"/>
          </a:xfrm>
          <a:prstGeom prst="rect">
            <a:avLst/>
          </a:prstGeom>
          <a:noFill/>
        </p:spPr>
        <p:txBody>
          <a:bodyPr wrap="none" rtlCol="0">
            <a:spAutoFit/>
          </a:bodyPr>
          <a:lstStyle/>
          <a:p>
            <a:r>
              <a:rPr lang="en-US" sz="3200" b="1" dirty="0">
                <a:solidFill>
                  <a:srgbClr val="51A1E9"/>
                </a:solidFill>
                <a:latin typeface="PT Sans" panose="020B0503020203020204" pitchFamily="34" charset="77"/>
              </a:rPr>
              <a:t>What is </a:t>
            </a:r>
            <a:r>
              <a:rPr lang="en-US" sz="3200" b="1" dirty="0" err="1">
                <a:solidFill>
                  <a:srgbClr val="51A1E9"/>
                </a:solidFill>
                <a:latin typeface="PT Sans" panose="020B0503020203020204" pitchFamily="34" charset="77"/>
              </a:rPr>
              <a:t>GeoParquet</a:t>
            </a:r>
            <a:r>
              <a:rPr lang="en-US" sz="3200" b="1" dirty="0">
                <a:solidFill>
                  <a:srgbClr val="51A1E9"/>
                </a:solidFill>
                <a:latin typeface="PT Sans" panose="020B0503020203020204" pitchFamily="34" charset="77"/>
              </a:rPr>
              <a:t>?</a:t>
            </a:r>
          </a:p>
        </p:txBody>
      </p:sp>
      <p:sp>
        <p:nvSpPr>
          <p:cNvPr id="2" name="TextBox 1">
            <a:extLst>
              <a:ext uri="{FF2B5EF4-FFF2-40B4-BE49-F238E27FC236}">
                <a16:creationId xmlns:a16="http://schemas.microsoft.com/office/drawing/2014/main" id="{4D889F53-09EC-2E19-A1AF-2702AC30627A}"/>
              </a:ext>
            </a:extLst>
          </p:cNvPr>
          <p:cNvSpPr txBox="1"/>
          <p:nvPr/>
        </p:nvSpPr>
        <p:spPr>
          <a:xfrm>
            <a:off x="502920" y="1600200"/>
            <a:ext cx="11185855" cy="457200"/>
          </a:xfrm>
          <a:prstGeom prst="rect">
            <a:avLst/>
          </a:prstGeom>
          <a:noFill/>
        </p:spPr>
        <p:txBody>
          <a:bodyPr wrap="square" lIns="0" tIns="0" rIns="0" bIns="0" anchor="t">
            <a:spAutoFit/>
          </a:bodyPr>
          <a:lstStyle/>
          <a:p>
            <a:pPr algn="l">
              <a:lnSpc>
                <a:spcPct val="100000"/>
              </a:lnSpc>
            </a:pPr>
            <a:r>
              <a:rPr sz="1700" b="0" i="1" dirty="0">
                <a:solidFill>
                  <a:srgbClr val="4B564E"/>
                </a:solidFill>
                <a:latin typeface="Calibri"/>
              </a:rPr>
              <a:t>A convention for storing geometries inside a plain Apache Parquet file — not a new file format.</a:t>
            </a:r>
          </a:p>
        </p:txBody>
      </p:sp>
      <p:sp>
        <p:nvSpPr>
          <p:cNvPr id="3" name="TextBox 2">
            <a:extLst>
              <a:ext uri="{FF2B5EF4-FFF2-40B4-BE49-F238E27FC236}">
                <a16:creationId xmlns:a16="http://schemas.microsoft.com/office/drawing/2014/main" id="{F94A9BF4-4BB7-B94D-E5A4-48384BBB6845}"/>
              </a:ext>
            </a:extLst>
          </p:cNvPr>
          <p:cNvSpPr txBox="1"/>
          <p:nvPr/>
        </p:nvSpPr>
        <p:spPr>
          <a:xfrm>
            <a:off x="502920" y="2240280"/>
            <a:ext cx="5577840" cy="3934282"/>
          </a:xfrm>
          <a:prstGeom prst="rect">
            <a:avLst/>
          </a:prstGeom>
          <a:noFill/>
        </p:spPr>
        <p:txBody>
          <a:bodyPr wrap="square">
            <a:spAutoFit/>
          </a:bodyPr>
          <a:lstStyle/>
          <a:p>
            <a:pPr>
              <a:lnSpc>
                <a:spcPct val="112000"/>
              </a:lnSpc>
              <a:spcAft>
                <a:spcPts val="1400"/>
              </a:spcAft>
            </a:pPr>
            <a:r>
              <a:rPr sz="1400" b="1" dirty="0">
                <a:solidFill>
                  <a:srgbClr val="2F5B49"/>
                </a:solidFill>
                <a:latin typeface="Calibri"/>
              </a:rPr>
              <a:t>•  </a:t>
            </a:r>
            <a:r>
              <a:rPr sz="1400" b="1" dirty="0">
                <a:solidFill>
                  <a:srgbClr val="1A231E"/>
                </a:solidFill>
                <a:latin typeface="Calibri"/>
              </a:rPr>
              <a:t>Geometry → WKB. </a:t>
            </a:r>
            <a:r>
              <a:rPr sz="1400" dirty="0">
                <a:solidFill>
                  <a:srgbClr val="4B564E"/>
                </a:solidFill>
                <a:latin typeface="Calibri"/>
              </a:rPr>
              <a:t>Well-Known Binary, the same encoding JTS/</a:t>
            </a:r>
            <a:r>
              <a:rPr sz="1400" dirty="0" err="1">
                <a:solidFill>
                  <a:srgbClr val="4B564E"/>
                </a:solidFill>
                <a:latin typeface="Calibri"/>
              </a:rPr>
              <a:t>GeoTools</a:t>
            </a:r>
            <a:r>
              <a:rPr sz="1400" dirty="0">
                <a:solidFill>
                  <a:srgbClr val="4B564E"/>
                </a:solidFill>
                <a:latin typeface="Calibri"/>
              </a:rPr>
              <a:t> already use, stored one geometry per row.</a:t>
            </a:r>
          </a:p>
          <a:p>
            <a:pPr>
              <a:lnSpc>
                <a:spcPct val="112000"/>
              </a:lnSpc>
              <a:spcAft>
                <a:spcPts val="1400"/>
              </a:spcAft>
            </a:pPr>
            <a:r>
              <a:rPr sz="1400" b="1" dirty="0">
                <a:solidFill>
                  <a:srgbClr val="2F5B49"/>
                </a:solidFill>
                <a:latin typeface="Calibri"/>
              </a:rPr>
              <a:t>•  </a:t>
            </a:r>
            <a:r>
              <a:rPr sz="1400" b="1" dirty="0">
                <a:solidFill>
                  <a:srgbClr val="1A231E"/>
                </a:solidFill>
                <a:latin typeface="Calibri"/>
              </a:rPr>
              <a:t>1.x approach</a:t>
            </a:r>
            <a:r>
              <a:rPr lang="en-GB" sz="1400" b="1" dirty="0">
                <a:solidFill>
                  <a:srgbClr val="1A231E"/>
                </a:solidFill>
                <a:latin typeface="Calibri"/>
              </a:rPr>
              <a:t>: </a:t>
            </a:r>
            <a:r>
              <a:rPr lang="en-GB" sz="1400" dirty="0">
                <a:solidFill>
                  <a:srgbClr val="4B564E"/>
                </a:solidFill>
                <a:latin typeface="Calibri"/>
              </a:rPr>
              <a:t>geometry lives in a plain BINARY column; ALL the spatial meaning (CRS, encoding, geometry types) is bolted on separately as a JSON blob in the file's key-value metadata (a "geo" field). The column itself looks like nothing special to a generic Parquet reader.</a:t>
            </a:r>
          </a:p>
          <a:p>
            <a:pPr>
              <a:lnSpc>
                <a:spcPct val="112000"/>
              </a:lnSpc>
              <a:spcAft>
                <a:spcPts val="1400"/>
              </a:spcAft>
            </a:pPr>
            <a:r>
              <a:rPr sz="1400" b="1" dirty="0">
                <a:solidFill>
                  <a:srgbClr val="2F5B49"/>
                </a:solidFill>
                <a:latin typeface="Calibri"/>
              </a:rPr>
              <a:t>•  </a:t>
            </a:r>
            <a:r>
              <a:rPr sz="1400" b="1" dirty="0">
                <a:solidFill>
                  <a:srgbClr val="1A231E"/>
                </a:solidFill>
                <a:latin typeface="Calibri"/>
              </a:rPr>
              <a:t>2.0 approach (what we need). </a:t>
            </a:r>
            <a:r>
              <a:rPr sz="1400" dirty="0">
                <a:solidFill>
                  <a:srgbClr val="4B564E"/>
                </a:solidFill>
                <a:latin typeface="Calibri"/>
              </a:rPr>
              <a:t>Parquet itself gained native GEOMETRY / GEOGRAPHY logical types — the column is self-describing at the format level.</a:t>
            </a:r>
          </a:p>
          <a:p>
            <a:pPr>
              <a:lnSpc>
                <a:spcPct val="112000"/>
              </a:lnSpc>
              <a:spcAft>
                <a:spcPts val="1400"/>
              </a:spcAft>
            </a:pPr>
            <a:r>
              <a:rPr lang="en-GB" sz="1400" b="1" dirty="0">
                <a:solidFill>
                  <a:srgbClr val="2F5B49"/>
                </a:solidFill>
                <a:latin typeface="Calibri"/>
              </a:rPr>
              <a:t>•  </a:t>
            </a:r>
            <a:r>
              <a:rPr lang="en-GB" sz="1400" b="1" dirty="0" err="1">
                <a:solidFill>
                  <a:srgbClr val="1A231E"/>
                </a:solidFill>
                <a:latin typeface="Calibri"/>
              </a:rPr>
              <a:t>GeoArrow</a:t>
            </a:r>
            <a:r>
              <a:rPr lang="en-GB" sz="1400" b="1" dirty="0">
                <a:solidFill>
                  <a:srgbClr val="1A231E"/>
                </a:solidFill>
                <a:latin typeface="Calibri"/>
              </a:rPr>
              <a:t> — dropped in 2.0. </a:t>
            </a:r>
            <a:r>
              <a:rPr lang="en-GB" sz="1400" dirty="0">
                <a:solidFill>
                  <a:srgbClr val="4B564E"/>
                </a:solidFill>
                <a:latin typeface="Calibri"/>
              </a:rPr>
              <a:t>Good news for us: no Apache Arrow dependency required.</a:t>
            </a:r>
          </a:p>
          <a:p>
            <a:pPr>
              <a:lnSpc>
                <a:spcPct val="112000"/>
              </a:lnSpc>
              <a:spcAft>
                <a:spcPts val="1400"/>
              </a:spcAft>
            </a:pPr>
            <a:r>
              <a:rPr sz="1400" b="1" dirty="0">
                <a:solidFill>
                  <a:srgbClr val="2F5B49"/>
                </a:solidFill>
                <a:latin typeface="Calibri"/>
              </a:rPr>
              <a:t>•  </a:t>
            </a:r>
            <a:r>
              <a:rPr sz="1400" b="1" dirty="0">
                <a:solidFill>
                  <a:srgbClr val="1A231E"/>
                </a:solidFill>
                <a:latin typeface="Calibri"/>
              </a:rPr>
              <a:t>CRS as PROJJSON. </a:t>
            </a:r>
            <a:r>
              <a:rPr sz="1400" dirty="0">
                <a:solidFill>
                  <a:srgbClr val="4B564E"/>
                </a:solidFill>
                <a:latin typeface="Calibri"/>
              </a:rPr>
              <a:t>Richer, machine-readable CRS description — a writer needs a CRS → PROJJSON path.</a:t>
            </a:r>
          </a:p>
        </p:txBody>
      </p:sp>
      <p:sp>
        <p:nvSpPr>
          <p:cNvPr id="4" name="Rectangle 3">
            <a:extLst>
              <a:ext uri="{FF2B5EF4-FFF2-40B4-BE49-F238E27FC236}">
                <a16:creationId xmlns:a16="http://schemas.microsoft.com/office/drawing/2014/main" id="{52819101-2597-5AB5-13FE-13F10C28450C}"/>
              </a:ext>
            </a:extLst>
          </p:cNvPr>
          <p:cNvSpPr/>
          <p:nvPr/>
        </p:nvSpPr>
        <p:spPr>
          <a:xfrm>
            <a:off x="6492240" y="2240280"/>
            <a:ext cx="5120640" cy="155448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D9EFE5C9-1AEE-57D6-F618-5F470D8CE7D2}"/>
              </a:ext>
            </a:extLst>
          </p:cNvPr>
          <p:cNvSpPr txBox="1"/>
          <p:nvPr/>
        </p:nvSpPr>
        <p:spPr>
          <a:xfrm>
            <a:off x="6720840" y="2377440"/>
            <a:ext cx="4663440" cy="320040"/>
          </a:xfrm>
          <a:prstGeom prst="rect">
            <a:avLst/>
          </a:prstGeom>
          <a:noFill/>
        </p:spPr>
        <p:txBody>
          <a:bodyPr wrap="square" lIns="0" tIns="0" rIns="0" bIns="0" anchor="t">
            <a:spAutoFit/>
          </a:bodyPr>
          <a:lstStyle/>
          <a:p>
            <a:pPr algn="l">
              <a:lnSpc>
                <a:spcPct val="100000"/>
              </a:lnSpc>
            </a:pPr>
            <a:r>
              <a:rPr sz="1500" b="1" i="0">
                <a:solidFill>
                  <a:srgbClr val="1A231E"/>
                </a:solidFill>
                <a:latin typeface="Calibri"/>
              </a:rPr>
              <a:t>GeoParquet 1.x</a:t>
            </a:r>
          </a:p>
        </p:txBody>
      </p:sp>
      <p:sp>
        <p:nvSpPr>
          <p:cNvPr id="6" name="TextBox 5">
            <a:extLst>
              <a:ext uri="{FF2B5EF4-FFF2-40B4-BE49-F238E27FC236}">
                <a16:creationId xmlns:a16="http://schemas.microsoft.com/office/drawing/2014/main" id="{8E326816-5439-63ED-F490-58F99D9B70DF}"/>
              </a:ext>
            </a:extLst>
          </p:cNvPr>
          <p:cNvSpPr txBox="1"/>
          <p:nvPr/>
        </p:nvSpPr>
        <p:spPr>
          <a:xfrm>
            <a:off x="6720840" y="2743200"/>
            <a:ext cx="4663440" cy="914400"/>
          </a:xfrm>
          <a:prstGeom prst="rect">
            <a:avLst/>
          </a:prstGeom>
          <a:noFill/>
        </p:spPr>
        <p:txBody>
          <a:bodyPr wrap="square" lIns="0" tIns="0" rIns="0" bIns="0" anchor="t">
            <a:spAutoFit/>
          </a:bodyPr>
          <a:lstStyle/>
          <a:p>
            <a:pPr algn="l">
              <a:lnSpc>
                <a:spcPct val="120000"/>
              </a:lnSpc>
            </a:pPr>
            <a:r>
              <a:rPr sz="1400" b="0" i="0">
                <a:solidFill>
                  <a:srgbClr val="4B564E"/>
                </a:solidFill>
                <a:latin typeface="Calibri"/>
              </a:rPr>
              <a:t>BINARY column</a:t>
            </a:r>
          </a:p>
          <a:p>
            <a:pPr algn="l">
              <a:lnSpc>
                <a:spcPct val="120000"/>
              </a:lnSpc>
            </a:pPr>
            <a:r>
              <a:rPr sz="1400" b="0" i="0">
                <a:solidFill>
                  <a:srgbClr val="4B564E"/>
                </a:solidFill>
                <a:latin typeface="Calibri"/>
              </a:rPr>
              <a:t>+ "geo" JSON metadata carries everything</a:t>
            </a:r>
          </a:p>
        </p:txBody>
      </p:sp>
      <p:sp>
        <p:nvSpPr>
          <p:cNvPr id="9" name="Rectangle 8">
            <a:extLst>
              <a:ext uri="{FF2B5EF4-FFF2-40B4-BE49-F238E27FC236}">
                <a16:creationId xmlns:a16="http://schemas.microsoft.com/office/drawing/2014/main" id="{465D0C4E-3B98-6ECA-BD08-410B175B9DC3}"/>
              </a:ext>
            </a:extLst>
          </p:cNvPr>
          <p:cNvSpPr/>
          <p:nvPr/>
        </p:nvSpPr>
        <p:spPr>
          <a:xfrm>
            <a:off x="6492240" y="3977639"/>
            <a:ext cx="5120640" cy="1554480"/>
          </a:xfrm>
          <a:prstGeom prst="rect">
            <a:avLst/>
          </a:prstGeom>
          <a:solidFill>
            <a:schemeClr val="accent1">
              <a:lumMod val="40000"/>
              <a:lumOff val="60000"/>
            </a:schemeClr>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a:extLst>
              <a:ext uri="{FF2B5EF4-FFF2-40B4-BE49-F238E27FC236}">
                <a16:creationId xmlns:a16="http://schemas.microsoft.com/office/drawing/2014/main" id="{436621A3-EF05-BA4A-7B76-B1728C09D709}"/>
              </a:ext>
            </a:extLst>
          </p:cNvPr>
          <p:cNvSpPr txBox="1"/>
          <p:nvPr/>
        </p:nvSpPr>
        <p:spPr>
          <a:xfrm>
            <a:off x="6720840" y="4114800"/>
            <a:ext cx="4663440" cy="320040"/>
          </a:xfrm>
          <a:prstGeom prst="rect">
            <a:avLst/>
          </a:prstGeom>
          <a:noFill/>
        </p:spPr>
        <p:txBody>
          <a:bodyPr wrap="square" lIns="0" tIns="0" rIns="0" bIns="0" anchor="t">
            <a:spAutoFit/>
          </a:bodyPr>
          <a:lstStyle/>
          <a:p>
            <a:pPr algn="l">
              <a:lnSpc>
                <a:spcPct val="100000"/>
              </a:lnSpc>
            </a:pPr>
            <a:r>
              <a:rPr sz="1500" b="1" i="0">
                <a:solidFill>
                  <a:srgbClr val="20402F"/>
                </a:solidFill>
                <a:latin typeface="Calibri"/>
              </a:rPr>
              <a:t>GeoParquet 2.0 — target</a:t>
            </a:r>
          </a:p>
        </p:txBody>
      </p:sp>
      <p:sp>
        <p:nvSpPr>
          <p:cNvPr id="11" name="TextBox 10">
            <a:extLst>
              <a:ext uri="{FF2B5EF4-FFF2-40B4-BE49-F238E27FC236}">
                <a16:creationId xmlns:a16="http://schemas.microsoft.com/office/drawing/2014/main" id="{05161394-5271-7739-0184-E3A43D855213}"/>
              </a:ext>
            </a:extLst>
          </p:cNvPr>
          <p:cNvSpPr txBox="1"/>
          <p:nvPr/>
        </p:nvSpPr>
        <p:spPr>
          <a:xfrm>
            <a:off x="6720840" y="4480560"/>
            <a:ext cx="4663440" cy="914400"/>
          </a:xfrm>
          <a:prstGeom prst="rect">
            <a:avLst/>
          </a:prstGeom>
          <a:noFill/>
        </p:spPr>
        <p:txBody>
          <a:bodyPr wrap="square" lIns="0" tIns="0" rIns="0" bIns="0" anchor="t">
            <a:spAutoFit/>
          </a:bodyPr>
          <a:lstStyle/>
          <a:p>
            <a:pPr algn="l">
              <a:lnSpc>
                <a:spcPct val="120000"/>
              </a:lnSpc>
            </a:pPr>
            <a:r>
              <a:rPr sz="1400" b="0" i="0">
                <a:solidFill>
                  <a:srgbClr val="20402F"/>
                </a:solidFill>
                <a:latin typeface="Calibri"/>
              </a:rPr>
              <a:t>BINARY column + native GEOMETRY logical type</a:t>
            </a:r>
          </a:p>
          <a:p>
            <a:pPr algn="l">
              <a:lnSpc>
                <a:spcPct val="120000"/>
              </a:lnSpc>
            </a:pPr>
            <a:r>
              <a:rPr sz="1400" b="0" i="0">
                <a:solidFill>
                  <a:srgbClr val="20402F"/>
                </a:solidFill>
                <a:latin typeface="Calibri"/>
              </a:rPr>
              <a:t>"geo" metadata layered on top</a:t>
            </a:r>
          </a:p>
        </p:txBody>
      </p:sp>
    </p:spTree>
    <p:extLst>
      <p:ext uri="{BB962C8B-B14F-4D97-AF65-F5344CB8AC3E}">
        <p14:creationId xmlns:p14="http://schemas.microsoft.com/office/powerpoint/2010/main" val="3659382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5</a:t>
            </a:fld>
            <a:endParaRPr lang="en-US" dirty="0">
              <a:solidFill>
                <a:srgbClr val="51A1E9"/>
              </a:solidFill>
              <a:latin typeface="PT Sans Pro Light" panose="020B0403020203020204" pitchFamily="34" charset="0"/>
            </a:endParaRPr>
          </a:p>
        </p:txBody>
      </p:sp>
      <p:sp>
        <p:nvSpPr>
          <p:cNvPr id="8" name="TextBox 26">
            <a:extLst>
              <a:ext uri="{FF2B5EF4-FFF2-40B4-BE49-F238E27FC236}">
                <a16:creationId xmlns:a16="http://schemas.microsoft.com/office/drawing/2014/main" id="{415C9A0B-49F0-AB33-1A9C-601A5CF6AFFA}"/>
              </a:ext>
            </a:extLst>
          </p:cNvPr>
          <p:cNvSpPr txBox="1"/>
          <p:nvPr/>
        </p:nvSpPr>
        <p:spPr>
          <a:xfrm>
            <a:off x="593874" y="1327291"/>
            <a:ext cx="11035142" cy="253916"/>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GB" sz="1050" b="0" i="0" u="none" strike="noStrike" kern="100" cap="none" spc="0" normalizeH="0" baseline="0" noProof="0" dirty="0">
              <a:ln>
                <a:noFill/>
              </a:ln>
              <a:solidFill>
                <a:srgbClr val="000000"/>
              </a:solidFill>
              <a:effectLst/>
              <a:uLnTx/>
              <a:uFillTx/>
              <a:latin typeface="Calibri Light"/>
              <a:ea typeface="Calibri" panose="020F0502020204030204" pitchFamily="34" charset="0"/>
              <a:cs typeface="Times New Roman" panose="02020603050405020304" pitchFamily="18"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5171993"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How it connects to hale-core</a:t>
            </a:r>
          </a:p>
        </p:txBody>
      </p:sp>
      <p:sp>
        <p:nvSpPr>
          <p:cNvPr id="3" name="TextBox 2">
            <a:extLst>
              <a:ext uri="{FF2B5EF4-FFF2-40B4-BE49-F238E27FC236}">
                <a16:creationId xmlns:a16="http://schemas.microsoft.com/office/drawing/2014/main" id="{0461220D-A440-F82A-2A27-43519CFFAE6B}"/>
              </a:ext>
            </a:extLst>
          </p:cNvPr>
          <p:cNvSpPr txBox="1"/>
          <p:nvPr/>
        </p:nvSpPr>
        <p:spPr>
          <a:xfrm>
            <a:off x="502920" y="1600200"/>
            <a:ext cx="11185855" cy="457200"/>
          </a:xfrm>
          <a:prstGeom prst="rect">
            <a:avLst/>
          </a:prstGeom>
          <a:noFill/>
        </p:spPr>
        <p:txBody>
          <a:bodyPr wrap="square" lIns="0" tIns="0" rIns="0" bIns="0" anchor="t">
            <a:spAutoFit/>
          </a:bodyPr>
          <a:lstStyle/>
          <a:p>
            <a:pPr algn="l">
              <a:lnSpc>
                <a:spcPct val="100000"/>
              </a:lnSpc>
            </a:pPr>
            <a:r>
              <a:rPr sz="1600" b="0" i="0">
                <a:solidFill>
                  <a:srgbClr val="4B564E"/>
                </a:solidFill>
                <a:latin typeface="Calibri"/>
              </a:rPr>
              <a:t>hale-core already has a family of geo export plugins that follow one shape.</a:t>
            </a:r>
          </a:p>
        </p:txBody>
      </p:sp>
      <p:sp>
        <p:nvSpPr>
          <p:cNvPr id="4" name="Rectangle 3">
            <a:extLst>
              <a:ext uri="{FF2B5EF4-FFF2-40B4-BE49-F238E27FC236}">
                <a16:creationId xmlns:a16="http://schemas.microsoft.com/office/drawing/2014/main" id="{4448C0F5-BFAD-55BE-608A-46943C5AA992}"/>
              </a:ext>
            </a:extLst>
          </p:cNvPr>
          <p:cNvSpPr/>
          <p:nvPr/>
        </p:nvSpPr>
        <p:spPr>
          <a:xfrm>
            <a:off x="502920" y="2286000"/>
            <a:ext cx="5669280" cy="6858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a:extLst>
              <a:ext uri="{FF2B5EF4-FFF2-40B4-BE49-F238E27FC236}">
                <a16:creationId xmlns:a16="http://schemas.microsoft.com/office/drawing/2014/main" id="{61F9E105-C691-9ED2-8ADA-FFDB5AF64D56}"/>
              </a:ext>
            </a:extLst>
          </p:cNvPr>
          <p:cNvSpPr txBox="1"/>
          <p:nvPr/>
        </p:nvSpPr>
        <p:spPr>
          <a:xfrm>
            <a:off x="685800" y="2359152"/>
            <a:ext cx="5303520" cy="274320"/>
          </a:xfrm>
          <a:prstGeom prst="rect">
            <a:avLst/>
          </a:prstGeom>
          <a:noFill/>
        </p:spPr>
        <p:txBody>
          <a:bodyPr wrap="square" lIns="0" tIns="0" rIns="0" bIns="0" anchor="t">
            <a:spAutoFit/>
          </a:bodyPr>
          <a:lstStyle/>
          <a:p>
            <a:pPr algn="l">
              <a:lnSpc>
                <a:spcPct val="100000"/>
              </a:lnSpc>
            </a:pPr>
            <a:r>
              <a:rPr sz="1500" b="1" i="0">
                <a:solidFill>
                  <a:srgbClr val="1A231E"/>
                </a:solidFill>
                <a:latin typeface="Consolas"/>
              </a:rPr>
              <a:t>InstanceWriter</a:t>
            </a:r>
          </a:p>
        </p:txBody>
      </p:sp>
      <p:sp>
        <p:nvSpPr>
          <p:cNvPr id="6" name="TextBox 5">
            <a:extLst>
              <a:ext uri="{FF2B5EF4-FFF2-40B4-BE49-F238E27FC236}">
                <a16:creationId xmlns:a16="http://schemas.microsoft.com/office/drawing/2014/main" id="{3F0834D2-B8BF-373F-BDD9-EB17E77890C7}"/>
              </a:ext>
            </a:extLst>
          </p:cNvPr>
          <p:cNvSpPr txBox="1"/>
          <p:nvPr/>
        </p:nvSpPr>
        <p:spPr>
          <a:xfrm>
            <a:off x="685800" y="2651760"/>
            <a:ext cx="5303520" cy="274320"/>
          </a:xfrm>
          <a:prstGeom prst="rect">
            <a:avLst/>
          </a:prstGeom>
          <a:noFill/>
        </p:spPr>
        <p:txBody>
          <a:bodyPr wrap="square" lIns="0" tIns="0" rIns="0" bIns="0" anchor="t">
            <a:spAutoFit/>
          </a:bodyPr>
          <a:lstStyle/>
          <a:p>
            <a:pPr algn="l">
              <a:lnSpc>
                <a:spcPct val="100000"/>
              </a:lnSpc>
            </a:pPr>
            <a:r>
              <a:rPr sz="1100" b="0" i="0">
                <a:solidFill>
                  <a:srgbClr val="4B564E"/>
                </a:solidFill>
                <a:latin typeface="Calibri"/>
              </a:rPr>
              <a:t>interface</a:t>
            </a:r>
          </a:p>
        </p:txBody>
      </p:sp>
      <p:cxnSp>
        <p:nvCxnSpPr>
          <p:cNvPr id="9" name="Connector 8">
            <a:extLst>
              <a:ext uri="{FF2B5EF4-FFF2-40B4-BE49-F238E27FC236}">
                <a16:creationId xmlns:a16="http://schemas.microsoft.com/office/drawing/2014/main" id="{5669CCD4-7808-F77E-CDC1-0A7830161F66}"/>
              </a:ext>
            </a:extLst>
          </p:cNvPr>
          <p:cNvCxnSpPr/>
          <p:nvPr/>
        </p:nvCxnSpPr>
        <p:spPr>
          <a:xfrm>
            <a:off x="777240" y="2971800"/>
            <a:ext cx="320040" cy="182880"/>
          </a:xfrm>
          <a:prstGeom prst="line">
            <a:avLst/>
          </a:prstGeom>
          <a:ln>
            <a:tailEnd type="triangle" w="med" len="med"/>
          </a:ln>
        </p:spPr>
        <p:style>
          <a:lnRef idx="1">
            <a:schemeClr val="accent5"/>
          </a:lnRef>
          <a:fillRef idx="0">
            <a:schemeClr val="accent5"/>
          </a:fillRef>
          <a:effectRef idx="0">
            <a:schemeClr val="accent5"/>
          </a:effectRef>
          <a:fontRef idx="minor">
            <a:schemeClr val="tx1"/>
          </a:fontRef>
        </p:style>
      </p:cxnSp>
      <p:sp>
        <p:nvSpPr>
          <p:cNvPr id="10" name="Rectangle 9">
            <a:extLst>
              <a:ext uri="{FF2B5EF4-FFF2-40B4-BE49-F238E27FC236}">
                <a16:creationId xmlns:a16="http://schemas.microsoft.com/office/drawing/2014/main" id="{77E8F084-0567-DA53-4304-38F03BFBD165}"/>
              </a:ext>
            </a:extLst>
          </p:cNvPr>
          <p:cNvSpPr/>
          <p:nvPr/>
        </p:nvSpPr>
        <p:spPr>
          <a:xfrm>
            <a:off x="822960" y="3154680"/>
            <a:ext cx="5349240" cy="6858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FDA6D90-43BC-67D7-D894-F12F6651E8FA}"/>
              </a:ext>
            </a:extLst>
          </p:cNvPr>
          <p:cNvSpPr txBox="1"/>
          <p:nvPr/>
        </p:nvSpPr>
        <p:spPr>
          <a:xfrm>
            <a:off x="1005840" y="3227832"/>
            <a:ext cx="4983480" cy="274320"/>
          </a:xfrm>
          <a:prstGeom prst="rect">
            <a:avLst/>
          </a:prstGeom>
          <a:noFill/>
        </p:spPr>
        <p:txBody>
          <a:bodyPr wrap="square" lIns="0" tIns="0" rIns="0" bIns="0" anchor="t">
            <a:spAutoFit/>
          </a:bodyPr>
          <a:lstStyle/>
          <a:p>
            <a:pPr algn="l">
              <a:lnSpc>
                <a:spcPct val="100000"/>
              </a:lnSpc>
            </a:pPr>
            <a:r>
              <a:rPr sz="1500" b="1" i="0">
                <a:solidFill>
                  <a:srgbClr val="1A231E"/>
                </a:solidFill>
                <a:latin typeface="Consolas"/>
              </a:rPr>
              <a:t>AbstractInstanceWriter</a:t>
            </a:r>
          </a:p>
        </p:txBody>
      </p:sp>
      <p:sp>
        <p:nvSpPr>
          <p:cNvPr id="12" name="TextBox 11">
            <a:extLst>
              <a:ext uri="{FF2B5EF4-FFF2-40B4-BE49-F238E27FC236}">
                <a16:creationId xmlns:a16="http://schemas.microsoft.com/office/drawing/2014/main" id="{76DC7E81-D78E-4CD0-1894-D27BBB731B62}"/>
              </a:ext>
            </a:extLst>
          </p:cNvPr>
          <p:cNvSpPr txBox="1"/>
          <p:nvPr/>
        </p:nvSpPr>
        <p:spPr>
          <a:xfrm>
            <a:off x="1005840" y="3520440"/>
            <a:ext cx="4983480" cy="274320"/>
          </a:xfrm>
          <a:prstGeom prst="rect">
            <a:avLst/>
          </a:prstGeom>
          <a:noFill/>
        </p:spPr>
        <p:txBody>
          <a:bodyPr wrap="square" lIns="0" tIns="0" rIns="0" bIns="0" anchor="t">
            <a:spAutoFit/>
          </a:bodyPr>
          <a:lstStyle/>
          <a:p>
            <a:pPr algn="l">
              <a:lnSpc>
                <a:spcPct val="100000"/>
              </a:lnSpc>
            </a:pPr>
            <a:r>
              <a:rPr sz="1100" b="0" i="0">
                <a:solidFill>
                  <a:srgbClr val="4B564E"/>
                </a:solidFill>
                <a:latin typeface="Calibri"/>
              </a:rPr>
              <a:t>common/plugins/.../instance/io/impl</a:t>
            </a:r>
          </a:p>
        </p:txBody>
      </p:sp>
      <p:cxnSp>
        <p:nvCxnSpPr>
          <p:cNvPr id="13" name="Connector 12">
            <a:extLst>
              <a:ext uri="{FF2B5EF4-FFF2-40B4-BE49-F238E27FC236}">
                <a16:creationId xmlns:a16="http://schemas.microsoft.com/office/drawing/2014/main" id="{EC0A30EC-F875-21D5-D431-AA6246B048DA}"/>
              </a:ext>
            </a:extLst>
          </p:cNvPr>
          <p:cNvCxnSpPr/>
          <p:nvPr/>
        </p:nvCxnSpPr>
        <p:spPr>
          <a:xfrm>
            <a:off x="1097280" y="3840480"/>
            <a:ext cx="320040" cy="182880"/>
          </a:xfrm>
          <a:prstGeom prst="line">
            <a:avLst/>
          </a:prstGeom>
          <a:ln>
            <a:tailEnd type="triangle" w="med" len="med"/>
          </a:ln>
        </p:spPr>
        <p:style>
          <a:lnRef idx="1">
            <a:schemeClr val="accent5"/>
          </a:lnRef>
          <a:fillRef idx="0">
            <a:schemeClr val="accent5"/>
          </a:fillRef>
          <a:effectRef idx="0">
            <a:schemeClr val="accent5"/>
          </a:effectRef>
          <a:fontRef idx="minor">
            <a:schemeClr val="tx1"/>
          </a:fontRef>
        </p:style>
      </p:cxnSp>
      <p:sp>
        <p:nvSpPr>
          <p:cNvPr id="14" name="Rectangle 13">
            <a:extLst>
              <a:ext uri="{FF2B5EF4-FFF2-40B4-BE49-F238E27FC236}">
                <a16:creationId xmlns:a16="http://schemas.microsoft.com/office/drawing/2014/main" id="{EF558543-7040-8948-1D90-D0846AA3A7C6}"/>
              </a:ext>
            </a:extLst>
          </p:cNvPr>
          <p:cNvSpPr/>
          <p:nvPr/>
        </p:nvSpPr>
        <p:spPr>
          <a:xfrm>
            <a:off x="1143000" y="4023360"/>
            <a:ext cx="5029200" cy="6858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AB588E62-E008-4246-8F90-5E15075BBBC8}"/>
              </a:ext>
            </a:extLst>
          </p:cNvPr>
          <p:cNvSpPr txBox="1"/>
          <p:nvPr/>
        </p:nvSpPr>
        <p:spPr>
          <a:xfrm>
            <a:off x="1325880" y="4096512"/>
            <a:ext cx="4663440" cy="274320"/>
          </a:xfrm>
          <a:prstGeom prst="rect">
            <a:avLst/>
          </a:prstGeom>
          <a:noFill/>
        </p:spPr>
        <p:txBody>
          <a:bodyPr wrap="square" lIns="0" tIns="0" rIns="0" bIns="0" anchor="t">
            <a:spAutoFit/>
          </a:bodyPr>
          <a:lstStyle/>
          <a:p>
            <a:pPr algn="l">
              <a:lnSpc>
                <a:spcPct val="100000"/>
              </a:lnSpc>
            </a:pPr>
            <a:r>
              <a:rPr sz="1500" b="1" i="0">
                <a:solidFill>
                  <a:srgbClr val="1A231E"/>
                </a:solidFill>
                <a:latin typeface="Consolas"/>
              </a:rPr>
              <a:t>AbstractGeoInstanceWriter</a:t>
            </a:r>
          </a:p>
        </p:txBody>
      </p:sp>
      <p:sp>
        <p:nvSpPr>
          <p:cNvPr id="16" name="TextBox 15">
            <a:extLst>
              <a:ext uri="{FF2B5EF4-FFF2-40B4-BE49-F238E27FC236}">
                <a16:creationId xmlns:a16="http://schemas.microsoft.com/office/drawing/2014/main" id="{1DC73090-A691-FCF8-F581-5AE8255ACB9C}"/>
              </a:ext>
            </a:extLst>
          </p:cNvPr>
          <p:cNvSpPr txBox="1"/>
          <p:nvPr/>
        </p:nvSpPr>
        <p:spPr>
          <a:xfrm>
            <a:off x="1325880" y="4389120"/>
            <a:ext cx="4663440" cy="274320"/>
          </a:xfrm>
          <a:prstGeom prst="rect">
            <a:avLst/>
          </a:prstGeom>
          <a:noFill/>
        </p:spPr>
        <p:txBody>
          <a:bodyPr wrap="square" lIns="0" tIns="0" rIns="0" bIns="0" anchor="t">
            <a:spAutoFit/>
          </a:bodyPr>
          <a:lstStyle/>
          <a:p>
            <a:pPr algn="l">
              <a:lnSpc>
                <a:spcPct val="100000"/>
              </a:lnSpc>
            </a:pPr>
            <a:r>
              <a:rPr sz="1100" b="0" i="0">
                <a:solidFill>
                  <a:srgbClr val="4B564E"/>
                </a:solidFill>
                <a:latin typeface="Calibri"/>
              </a:rPr>
              <a:t>implements GeoInstanceWriter</a:t>
            </a:r>
          </a:p>
        </p:txBody>
      </p:sp>
      <p:sp>
        <p:nvSpPr>
          <p:cNvPr id="17" name="Rectangle 16">
            <a:extLst>
              <a:ext uri="{FF2B5EF4-FFF2-40B4-BE49-F238E27FC236}">
                <a16:creationId xmlns:a16="http://schemas.microsoft.com/office/drawing/2014/main" id="{781D5E2C-981D-4C27-2423-DA47D96211F9}"/>
              </a:ext>
            </a:extLst>
          </p:cNvPr>
          <p:cNvSpPr/>
          <p:nvPr/>
        </p:nvSpPr>
        <p:spPr>
          <a:xfrm>
            <a:off x="1143000" y="4892040"/>
            <a:ext cx="4572000" cy="640080"/>
          </a:xfrm>
          <a:prstGeom prst="rect">
            <a:avLst/>
          </a:prstGeom>
          <a:solidFill>
            <a:schemeClr val="accent1">
              <a:lumMod val="40000"/>
              <a:lumOff val="60000"/>
            </a:schemeClr>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a:extLst>
              <a:ext uri="{FF2B5EF4-FFF2-40B4-BE49-F238E27FC236}">
                <a16:creationId xmlns:a16="http://schemas.microsoft.com/office/drawing/2014/main" id="{A85E44AD-9064-4BF2-D4D1-18B08C151E44}"/>
              </a:ext>
            </a:extLst>
          </p:cNvPr>
          <p:cNvSpPr txBox="1"/>
          <p:nvPr/>
        </p:nvSpPr>
        <p:spPr>
          <a:xfrm>
            <a:off x="1325880" y="4983480"/>
            <a:ext cx="4206240" cy="274320"/>
          </a:xfrm>
          <a:prstGeom prst="rect">
            <a:avLst/>
          </a:prstGeom>
          <a:noFill/>
        </p:spPr>
        <p:txBody>
          <a:bodyPr wrap="square" lIns="0" tIns="0" rIns="0" bIns="0" anchor="t">
            <a:spAutoFit/>
          </a:bodyPr>
          <a:lstStyle/>
          <a:p>
            <a:pPr algn="l">
              <a:lnSpc>
                <a:spcPct val="100000"/>
              </a:lnSpc>
            </a:pPr>
            <a:r>
              <a:rPr sz="1400" b="1" i="0">
                <a:solidFill>
                  <a:srgbClr val="1A231E"/>
                </a:solidFill>
                <a:latin typeface="Consolas"/>
              </a:rPr>
              <a:t>GeopackageInstanceWriter</a:t>
            </a:r>
          </a:p>
        </p:txBody>
      </p:sp>
      <p:sp>
        <p:nvSpPr>
          <p:cNvPr id="19" name="TextBox 18">
            <a:extLst>
              <a:ext uri="{FF2B5EF4-FFF2-40B4-BE49-F238E27FC236}">
                <a16:creationId xmlns:a16="http://schemas.microsoft.com/office/drawing/2014/main" id="{86E56B71-70C3-3718-CA9B-E185DA1BEF95}"/>
              </a:ext>
            </a:extLst>
          </p:cNvPr>
          <p:cNvSpPr txBox="1"/>
          <p:nvPr/>
        </p:nvSpPr>
        <p:spPr>
          <a:xfrm>
            <a:off x="1325880" y="5257800"/>
            <a:ext cx="4206240" cy="228600"/>
          </a:xfrm>
          <a:prstGeom prst="rect">
            <a:avLst/>
          </a:prstGeom>
          <a:noFill/>
        </p:spPr>
        <p:txBody>
          <a:bodyPr wrap="square" lIns="0" tIns="0" rIns="0" bIns="0" anchor="t">
            <a:spAutoFit/>
          </a:bodyPr>
          <a:lstStyle/>
          <a:p>
            <a:pPr algn="l">
              <a:lnSpc>
                <a:spcPct val="100000"/>
              </a:lnSpc>
            </a:pPr>
            <a:r>
              <a:rPr sz="1100" b="0" i="0">
                <a:solidFill>
                  <a:srgbClr val="4B564E"/>
                </a:solidFill>
                <a:latin typeface="Calibri"/>
              </a:rPr>
              <a:t>existing, shipped</a:t>
            </a:r>
          </a:p>
        </p:txBody>
      </p:sp>
      <p:cxnSp>
        <p:nvCxnSpPr>
          <p:cNvPr id="20" name="Connector 19">
            <a:extLst>
              <a:ext uri="{FF2B5EF4-FFF2-40B4-BE49-F238E27FC236}">
                <a16:creationId xmlns:a16="http://schemas.microsoft.com/office/drawing/2014/main" id="{EDF2D50F-A69C-1A4F-B8F1-868E64C3CB88}"/>
              </a:ext>
            </a:extLst>
          </p:cNvPr>
          <p:cNvCxnSpPr/>
          <p:nvPr/>
        </p:nvCxnSpPr>
        <p:spPr>
          <a:xfrm>
            <a:off x="1097280" y="4366260"/>
            <a:ext cx="777240" cy="525780"/>
          </a:xfrm>
          <a:prstGeom prst="line">
            <a:avLst/>
          </a:prstGeom>
          <a:ln>
            <a:tailEnd type="triangle" w="med" len="med"/>
          </a:ln>
        </p:spPr>
        <p:style>
          <a:lnRef idx="1">
            <a:schemeClr val="accent5"/>
          </a:lnRef>
          <a:fillRef idx="0">
            <a:schemeClr val="accent5"/>
          </a:fillRef>
          <a:effectRef idx="0">
            <a:schemeClr val="accent5"/>
          </a:effectRef>
          <a:fontRef idx="minor">
            <a:schemeClr val="tx1"/>
          </a:fontRef>
        </p:style>
      </p:cxnSp>
      <p:sp>
        <p:nvSpPr>
          <p:cNvPr id="21" name="Rectangle 20">
            <a:extLst>
              <a:ext uri="{FF2B5EF4-FFF2-40B4-BE49-F238E27FC236}">
                <a16:creationId xmlns:a16="http://schemas.microsoft.com/office/drawing/2014/main" id="{9326E3F9-10E5-FA52-3880-C99733A3AD65}"/>
              </a:ext>
            </a:extLst>
          </p:cNvPr>
          <p:cNvSpPr/>
          <p:nvPr/>
        </p:nvSpPr>
        <p:spPr>
          <a:xfrm>
            <a:off x="6675120" y="2286000"/>
            <a:ext cx="4937760" cy="3794760"/>
          </a:xfrm>
          <a:prstGeom prst="rect">
            <a:avLst/>
          </a:prstGeom>
          <a:solidFill>
            <a:schemeClr val="accent1">
              <a:lumMod val="40000"/>
              <a:lumOff val="60000"/>
            </a:schemeClr>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a:extLst>
              <a:ext uri="{FF2B5EF4-FFF2-40B4-BE49-F238E27FC236}">
                <a16:creationId xmlns:a16="http://schemas.microsoft.com/office/drawing/2014/main" id="{ADE682B2-BB58-09C3-CCDB-15EBD896219B}"/>
              </a:ext>
            </a:extLst>
          </p:cNvPr>
          <p:cNvSpPr txBox="1"/>
          <p:nvPr/>
        </p:nvSpPr>
        <p:spPr>
          <a:xfrm>
            <a:off x="6949440" y="2468880"/>
            <a:ext cx="4389120" cy="365760"/>
          </a:xfrm>
          <a:prstGeom prst="rect">
            <a:avLst/>
          </a:prstGeom>
          <a:noFill/>
        </p:spPr>
        <p:txBody>
          <a:bodyPr wrap="square" lIns="0" tIns="0" rIns="0" bIns="0" anchor="t">
            <a:spAutoFit/>
          </a:bodyPr>
          <a:lstStyle/>
          <a:p>
            <a:pPr algn="l">
              <a:lnSpc>
                <a:spcPct val="100000"/>
              </a:lnSpc>
            </a:pPr>
            <a:r>
              <a:rPr sz="1500" b="1" i="0" dirty="0">
                <a:solidFill>
                  <a:srgbClr val="20402F"/>
                </a:solidFill>
                <a:latin typeface="Calibri"/>
              </a:rPr>
              <a:t>What this means in practice</a:t>
            </a:r>
          </a:p>
        </p:txBody>
      </p:sp>
      <p:sp>
        <p:nvSpPr>
          <p:cNvPr id="23" name="TextBox 22">
            <a:extLst>
              <a:ext uri="{FF2B5EF4-FFF2-40B4-BE49-F238E27FC236}">
                <a16:creationId xmlns:a16="http://schemas.microsoft.com/office/drawing/2014/main" id="{7837CE86-B5F2-9146-9F24-F191EE4142D1}"/>
              </a:ext>
            </a:extLst>
          </p:cNvPr>
          <p:cNvSpPr txBox="1"/>
          <p:nvPr/>
        </p:nvSpPr>
        <p:spPr>
          <a:xfrm>
            <a:off x="6949440" y="2880360"/>
            <a:ext cx="4389120" cy="3017520"/>
          </a:xfrm>
          <a:prstGeom prst="rect">
            <a:avLst/>
          </a:prstGeom>
          <a:noFill/>
        </p:spPr>
        <p:txBody>
          <a:bodyPr wrap="square">
            <a:spAutoFit/>
          </a:bodyPr>
          <a:lstStyle/>
          <a:p>
            <a:pPr>
              <a:lnSpc>
                <a:spcPct val="112000"/>
              </a:lnSpc>
              <a:spcAft>
                <a:spcPts val="1200"/>
              </a:spcAft>
            </a:pPr>
            <a:r>
              <a:rPr sz="1450" b="1">
                <a:solidFill>
                  <a:srgbClr val="20402F"/>
                </a:solidFill>
                <a:latin typeface="Calibri"/>
              </a:rPr>
              <a:t>•  </a:t>
            </a:r>
            <a:r>
              <a:rPr sz="1450">
                <a:solidFill>
                  <a:srgbClr val="20402F"/>
                </a:solidFill>
                <a:latin typeface="Calibri"/>
              </a:rPr>
              <a:t>The existing GeoPackage writer already does: read hale's Instance / GeometryProperty / CRSDefinition → convert CRS via GeoTools → encode geometry to WKB via JTS → write.</a:t>
            </a:r>
          </a:p>
          <a:p>
            <a:pPr>
              <a:lnSpc>
                <a:spcPct val="112000"/>
              </a:lnSpc>
              <a:spcAft>
                <a:spcPts val="1200"/>
              </a:spcAft>
            </a:pPr>
            <a:r>
              <a:rPr sz="1450" b="1">
                <a:solidFill>
                  <a:srgbClr val="20402F"/>
                </a:solidFill>
                <a:latin typeface="Calibri"/>
              </a:rPr>
              <a:t>•  </a:t>
            </a:r>
            <a:r>
              <a:rPr sz="1450">
                <a:solidFill>
                  <a:srgbClr val="20402F"/>
                </a:solidFill>
                <a:latin typeface="Calibri"/>
              </a:rPr>
              <a:t>A future GeoParquetInstanceWriter would follow the exact same shape — identical up through “encode to WKB,” then hand those bytes to parquet-java instead of GeoPackage's API.</a:t>
            </a:r>
          </a:p>
          <a:p>
            <a:pPr>
              <a:lnSpc>
                <a:spcPct val="112000"/>
              </a:lnSpc>
              <a:spcAft>
                <a:spcPts val="1200"/>
              </a:spcAft>
            </a:pPr>
            <a:r>
              <a:rPr sz="1450" b="1">
                <a:solidFill>
                  <a:srgbClr val="20402F"/>
                </a:solidFill>
                <a:latin typeface="Calibri"/>
              </a:rPr>
              <a:t>•  </a:t>
            </a:r>
            <a:r>
              <a:rPr sz="1450">
                <a:solidFill>
                  <a:srgbClr val="20402F"/>
                </a:solidFill>
                <a:latin typeface="Calibri"/>
              </a:rPr>
              <a:t>This spike proves that last step works standalone. It is deliberately NOT wired into hale's Instance model yet — that's follow-up scope.</a:t>
            </a:r>
          </a:p>
        </p:txBody>
      </p:sp>
    </p:spTree>
    <p:extLst>
      <p:ext uri="{BB962C8B-B14F-4D97-AF65-F5344CB8AC3E}">
        <p14:creationId xmlns:p14="http://schemas.microsoft.com/office/powerpoint/2010/main" val="1722788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6</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5435206"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The write pipeline, end to end</a:t>
            </a:r>
          </a:p>
        </p:txBody>
      </p:sp>
      <p:sp>
        <p:nvSpPr>
          <p:cNvPr id="2" name="Rectangle 1">
            <a:extLst>
              <a:ext uri="{FF2B5EF4-FFF2-40B4-BE49-F238E27FC236}">
                <a16:creationId xmlns:a16="http://schemas.microsoft.com/office/drawing/2014/main" id="{A2A51435-1E78-B6B6-93FB-F1667489AF6D}"/>
              </a:ext>
            </a:extLst>
          </p:cNvPr>
          <p:cNvSpPr/>
          <p:nvPr/>
        </p:nvSpPr>
        <p:spPr>
          <a:xfrm>
            <a:off x="540867" y="2377440"/>
            <a:ext cx="1965960" cy="137160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3" name="TextBox 2">
            <a:extLst>
              <a:ext uri="{FF2B5EF4-FFF2-40B4-BE49-F238E27FC236}">
                <a16:creationId xmlns:a16="http://schemas.microsoft.com/office/drawing/2014/main" id="{D9DB70FD-7782-79DA-3083-2911DB687EFB}"/>
              </a:ext>
            </a:extLst>
          </p:cNvPr>
          <p:cNvSpPr txBox="1"/>
          <p:nvPr/>
        </p:nvSpPr>
        <p:spPr>
          <a:xfrm>
            <a:off x="650595" y="2560320"/>
            <a:ext cx="1746504" cy="457200"/>
          </a:xfrm>
          <a:prstGeom prst="rect">
            <a:avLst/>
          </a:prstGeom>
          <a:noFill/>
        </p:spPr>
        <p:txBody>
          <a:bodyPr wrap="square" lIns="0" tIns="0" rIns="0" bIns="0" anchor="t">
            <a:spAutoFit/>
          </a:bodyPr>
          <a:lstStyle/>
          <a:p>
            <a:pPr algn="ctr">
              <a:lnSpc>
                <a:spcPct val="100000"/>
              </a:lnSpc>
            </a:pPr>
            <a:r>
              <a:rPr sz="1450" b="1" i="0">
                <a:solidFill>
                  <a:srgbClr val="1A231E"/>
                </a:solidFill>
                <a:latin typeface="Calibri"/>
              </a:rPr>
              <a:t>Read the data</a:t>
            </a:r>
          </a:p>
        </p:txBody>
      </p:sp>
      <p:sp>
        <p:nvSpPr>
          <p:cNvPr id="4" name="TextBox 3">
            <a:extLst>
              <a:ext uri="{FF2B5EF4-FFF2-40B4-BE49-F238E27FC236}">
                <a16:creationId xmlns:a16="http://schemas.microsoft.com/office/drawing/2014/main" id="{EE9D8093-342B-7E40-368E-FB8320D67EC1}"/>
              </a:ext>
            </a:extLst>
          </p:cNvPr>
          <p:cNvSpPr txBox="1"/>
          <p:nvPr/>
        </p:nvSpPr>
        <p:spPr>
          <a:xfrm>
            <a:off x="650595" y="3063240"/>
            <a:ext cx="1746504" cy="548640"/>
          </a:xfrm>
          <a:prstGeom prst="rect">
            <a:avLst/>
          </a:prstGeom>
          <a:noFill/>
        </p:spPr>
        <p:txBody>
          <a:bodyPr wrap="square" lIns="0" tIns="0" rIns="0" bIns="0" anchor="t">
            <a:spAutoFit/>
          </a:bodyPr>
          <a:lstStyle/>
          <a:p>
            <a:pPr algn="ctr">
              <a:lnSpc>
                <a:spcPct val="115000"/>
              </a:lnSpc>
            </a:pPr>
            <a:r>
              <a:rPr sz="1100" b="1" i="0">
                <a:solidFill>
                  <a:srgbClr val="4B564E"/>
                </a:solidFill>
                <a:latin typeface="Calibri"/>
              </a:rPr>
              <a:t>GeoPackage row</a:t>
            </a:r>
          </a:p>
          <a:p>
            <a:pPr algn="ctr">
              <a:lnSpc>
                <a:spcPct val="115000"/>
              </a:lnSpc>
            </a:pPr>
            <a:r>
              <a:rPr sz="1100" b="0" i="0">
                <a:solidFill>
                  <a:srgbClr val="4B564E"/>
                </a:solidFill>
                <a:latin typeface="Calibri"/>
              </a:rPr>
              <a:t>JDBC + header strip</a:t>
            </a:r>
          </a:p>
        </p:txBody>
      </p:sp>
      <p:sp>
        <p:nvSpPr>
          <p:cNvPr id="5" name="Rectangle 4">
            <a:extLst>
              <a:ext uri="{FF2B5EF4-FFF2-40B4-BE49-F238E27FC236}">
                <a16:creationId xmlns:a16="http://schemas.microsoft.com/office/drawing/2014/main" id="{2E8DA6DA-5C73-8688-FB51-96E9B2B0DAF4}"/>
              </a:ext>
            </a:extLst>
          </p:cNvPr>
          <p:cNvSpPr/>
          <p:nvPr/>
        </p:nvSpPr>
        <p:spPr>
          <a:xfrm>
            <a:off x="2826867" y="2377440"/>
            <a:ext cx="1965960" cy="137160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6" name="TextBox 5">
            <a:extLst>
              <a:ext uri="{FF2B5EF4-FFF2-40B4-BE49-F238E27FC236}">
                <a16:creationId xmlns:a16="http://schemas.microsoft.com/office/drawing/2014/main" id="{C57F8795-5363-5DAC-26AF-ED9D6A8004E7}"/>
              </a:ext>
            </a:extLst>
          </p:cNvPr>
          <p:cNvSpPr txBox="1"/>
          <p:nvPr/>
        </p:nvSpPr>
        <p:spPr>
          <a:xfrm>
            <a:off x="2936595" y="2560320"/>
            <a:ext cx="1746504" cy="457200"/>
          </a:xfrm>
          <a:prstGeom prst="rect">
            <a:avLst/>
          </a:prstGeom>
          <a:noFill/>
        </p:spPr>
        <p:txBody>
          <a:bodyPr wrap="square" lIns="0" tIns="0" rIns="0" bIns="0" anchor="t">
            <a:spAutoFit/>
          </a:bodyPr>
          <a:lstStyle/>
          <a:p>
            <a:pPr algn="ctr">
              <a:lnSpc>
                <a:spcPct val="100000"/>
              </a:lnSpc>
            </a:pPr>
            <a:r>
              <a:rPr sz="1450" b="1" i="0">
                <a:solidFill>
                  <a:srgbClr val="1A231E"/>
                </a:solidFill>
                <a:latin typeface="Calibri"/>
              </a:rPr>
              <a:t>Encode shapes</a:t>
            </a:r>
          </a:p>
        </p:txBody>
      </p:sp>
      <p:sp>
        <p:nvSpPr>
          <p:cNvPr id="9" name="TextBox 8">
            <a:extLst>
              <a:ext uri="{FF2B5EF4-FFF2-40B4-BE49-F238E27FC236}">
                <a16:creationId xmlns:a16="http://schemas.microsoft.com/office/drawing/2014/main" id="{B0F48D16-4F04-2D61-E0BC-69937BF357A7}"/>
              </a:ext>
            </a:extLst>
          </p:cNvPr>
          <p:cNvSpPr txBox="1"/>
          <p:nvPr/>
        </p:nvSpPr>
        <p:spPr>
          <a:xfrm>
            <a:off x="2936595" y="3063240"/>
            <a:ext cx="1746504" cy="548640"/>
          </a:xfrm>
          <a:prstGeom prst="rect">
            <a:avLst/>
          </a:prstGeom>
          <a:noFill/>
        </p:spPr>
        <p:txBody>
          <a:bodyPr wrap="square" lIns="0" tIns="0" rIns="0" bIns="0" anchor="t">
            <a:spAutoFit/>
          </a:bodyPr>
          <a:lstStyle/>
          <a:p>
            <a:pPr algn="ctr">
              <a:lnSpc>
                <a:spcPct val="115000"/>
              </a:lnSpc>
            </a:pPr>
            <a:r>
              <a:rPr sz="1100" b="1" i="0">
                <a:solidFill>
                  <a:srgbClr val="4B564E"/>
                </a:solidFill>
                <a:latin typeface="Calibri"/>
              </a:rPr>
              <a:t>WKB bytes</a:t>
            </a:r>
          </a:p>
          <a:p>
            <a:pPr algn="ctr">
              <a:lnSpc>
                <a:spcPct val="115000"/>
              </a:lnSpc>
            </a:pPr>
            <a:r>
              <a:rPr sz="1100" b="0" i="0">
                <a:solidFill>
                  <a:srgbClr val="4B564E"/>
                </a:solidFill>
                <a:latin typeface="Calibri"/>
              </a:rPr>
              <a:t>JTS WKBWriter</a:t>
            </a:r>
          </a:p>
        </p:txBody>
      </p:sp>
      <p:sp>
        <p:nvSpPr>
          <p:cNvPr id="10" name="Rectangle 9">
            <a:extLst>
              <a:ext uri="{FF2B5EF4-FFF2-40B4-BE49-F238E27FC236}">
                <a16:creationId xmlns:a16="http://schemas.microsoft.com/office/drawing/2014/main" id="{A38E0A1C-2744-DF00-15A3-D9B2A6C54474}"/>
              </a:ext>
            </a:extLst>
          </p:cNvPr>
          <p:cNvSpPr/>
          <p:nvPr/>
        </p:nvSpPr>
        <p:spPr>
          <a:xfrm>
            <a:off x="5112867" y="2377440"/>
            <a:ext cx="1965960" cy="1371600"/>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11" name="TextBox 10">
            <a:extLst>
              <a:ext uri="{FF2B5EF4-FFF2-40B4-BE49-F238E27FC236}">
                <a16:creationId xmlns:a16="http://schemas.microsoft.com/office/drawing/2014/main" id="{341B7D5B-2C53-6921-1BDD-3D193DDF6B45}"/>
              </a:ext>
            </a:extLst>
          </p:cNvPr>
          <p:cNvSpPr txBox="1"/>
          <p:nvPr/>
        </p:nvSpPr>
        <p:spPr>
          <a:xfrm>
            <a:off x="5222595" y="2560320"/>
            <a:ext cx="1746504" cy="457200"/>
          </a:xfrm>
          <a:prstGeom prst="rect">
            <a:avLst/>
          </a:prstGeom>
          <a:noFill/>
        </p:spPr>
        <p:txBody>
          <a:bodyPr wrap="square" lIns="0" tIns="0" rIns="0" bIns="0" anchor="t">
            <a:spAutoFit/>
          </a:bodyPr>
          <a:lstStyle/>
          <a:p>
            <a:pPr algn="ctr">
              <a:lnSpc>
                <a:spcPct val="100000"/>
              </a:lnSpc>
            </a:pPr>
            <a:r>
              <a:rPr sz="1450" b="1" i="0">
                <a:solidFill>
                  <a:srgbClr val="20402F"/>
                </a:solidFill>
                <a:latin typeface="Calibri"/>
              </a:rPr>
              <a:t>Label as geometry</a:t>
            </a:r>
          </a:p>
        </p:txBody>
      </p:sp>
      <p:sp>
        <p:nvSpPr>
          <p:cNvPr id="12" name="TextBox 11">
            <a:extLst>
              <a:ext uri="{FF2B5EF4-FFF2-40B4-BE49-F238E27FC236}">
                <a16:creationId xmlns:a16="http://schemas.microsoft.com/office/drawing/2014/main" id="{3ADB15EB-5170-0D2C-BDA6-2C710A94ADFE}"/>
              </a:ext>
            </a:extLst>
          </p:cNvPr>
          <p:cNvSpPr txBox="1"/>
          <p:nvPr/>
        </p:nvSpPr>
        <p:spPr>
          <a:xfrm>
            <a:off x="5222595" y="3063240"/>
            <a:ext cx="1746504" cy="548640"/>
          </a:xfrm>
          <a:prstGeom prst="rect">
            <a:avLst/>
          </a:prstGeom>
          <a:noFill/>
        </p:spPr>
        <p:txBody>
          <a:bodyPr wrap="square" lIns="0" tIns="0" rIns="0" bIns="0" anchor="t">
            <a:spAutoFit/>
          </a:bodyPr>
          <a:lstStyle/>
          <a:p>
            <a:pPr algn="ctr">
              <a:lnSpc>
                <a:spcPct val="115000"/>
              </a:lnSpc>
            </a:pPr>
            <a:r>
              <a:rPr sz="1100" b="1" i="0">
                <a:solidFill>
                  <a:srgbClr val="20402F"/>
                </a:solidFill>
                <a:latin typeface="Calibri"/>
              </a:rPr>
              <a:t>Parquet column</a:t>
            </a:r>
          </a:p>
          <a:p>
            <a:pPr algn="ctr">
              <a:lnSpc>
                <a:spcPct val="115000"/>
              </a:lnSpc>
            </a:pPr>
            <a:r>
              <a:rPr sz="1100" b="0" i="0">
                <a:solidFill>
                  <a:srgbClr val="20402F"/>
                </a:solidFill>
                <a:latin typeface="Calibri"/>
              </a:rPr>
              <a:t>native GEOMETRY type</a:t>
            </a:r>
          </a:p>
          <a:p>
            <a:pPr algn="ctr">
              <a:lnSpc>
                <a:spcPct val="115000"/>
              </a:lnSpc>
            </a:pPr>
            <a:r>
              <a:rPr sz="1100" b="0" i="0">
                <a:solidFill>
                  <a:srgbClr val="20402F"/>
                </a:solidFill>
                <a:latin typeface="Calibri"/>
              </a:rPr>
              <a:t>+ "geo" metadata</a:t>
            </a:r>
          </a:p>
        </p:txBody>
      </p:sp>
      <p:sp>
        <p:nvSpPr>
          <p:cNvPr id="13" name="Rectangle 12">
            <a:extLst>
              <a:ext uri="{FF2B5EF4-FFF2-40B4-BE49-F238E27FC236}">
                <a16:creationId xmlns:a16="http://schemas.microsoft.com/office/drawing/2014/main" id="{C75BD613-EC33-FCE9-2C58-8A51816650D5}"/>
              </a:ext>
            </a:extLst>
          </p:cNvPr>
          <p:cNvSpPr/>
          <p:nvPr/>
        </p:nvSpPr>
        <p:spPr>
          <a:xfrm>
            <a:off x="7398867" y="2377440"/>
            <a:ext cx="1965960" cy="137160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14" name="TextBox 13">
            <a:extLst>
              <a:ext uri="{FF2B5EF4-FFF2-40B4-BE49-F238E27FC236}">
                <a16:creationId xmlns:a16="http://schemas.microsoft.com/office/drawing/2014/main" id="{5F895ED6-A453-157F-1C3F-5CB403140B00}"/>
              </a:ext>
            </a:extLst>
          </p:cNvPr>
          <p:cNvSpPr txBox="1"/>
          <p:nvPr/>
        </p:nvSpPr>
        <p:spPr>
          <a:xfrm>
            <a:off x="7508595" y="2560320"/>
            <a:ext cx="1746504" cy="457200"/>
          </a:xfrm>
          <a:prstGeom prst="rect">
            <a:avLst/>
          </a:prstGeom>
          <a:noFill/>
        </p:spPr>
        <p:txBody>
          <a:bodyPr wrap="square" lIns="0" tIns="0" rIns="0" bIns="0" anchor="t">
            <a:spAutoFit/>
          </a:bodyPr>
          <a:lstStyle/>
          <a:p>
            <a:pPr algn="ctr">
              <a:lnSpc>
                <a:spcPct val="100000"/>
              </a:lnSpc>
            </a:pPr>
            <a:r>
              <a:rPr sz="1450" b="1" i="0">
                <a:solidFill>
                  <a:srgbClr val="1A231E"/>
                </a:solidFill>
                <a:latin typeface="Calibri"/>
              </a:rPr>
              <a:t>Save the file</a:t>
            </a:r>
          </a:p>
        </p:txBody>
      </p:sp>
      <p:sp>
        <p:nvSpPr>
          <p:cNvPr id="15" name="TextBox 14">
            <a:extLst>
              <a:ext uri="{FF2B5EF4-FFF2-40B4-BE49-F238E27FC236}">
                <a16:creationId xmlns:a16="http://schemas.microsoft.com/office/drawing/2014/main" id="{9E025F7C-09DD-B106-FC79-F443EF0DFE9A}"/>
              </a:ext>
            </a:extLst>
          </p:cNvPr>
          <p:cNvSpPr txBox="1"/>
          <p:nvPr/>
        </p:nvSpPr>
        <p:spPr>
          <a:xfrm>
            <a:off x="7508595" y="3063240"/>
            <a:ext cx="1746504" cy="548640"/>
          </a:xfrm>
          <a:prstGeom prst="rect">
            <a:avLst/>
          </a:prstGeom>
          <a:noFill/>
        </p:spPr>
        <p:txBody>
          <a:bodyPr wrap="square" lIns="0" tIns="0" rIns="0" bIns="0" anchor="t">
            <a:spAutoFit/>
          </a:bodyPr>
          <a:lstStyle/>
          <a:p>
            <a:pPr algn="ctr">
              <a:lnSpc>
                <a:spcPct val="115000"/>
              </a:lnSpc>
            </a:pPr>
            <a:r>
              <a:rPr sz="1100" b="1" i="0">
                <a:solidFill>
                  <a:srgbClr val="4B564E"/>
                </a:solidFill>
                <a:latin typeface="Calibri"/>
              </a:rPr>
              <a:t>.parquet file</a:t>
            </a:r>
          </a:p>
          <a:p>
            <a:pPr algn="ctr">
              <a:lnSpc>
                <a:spcPct val="115000"/>
              </a:lnSpc>
            </a:pPr>
            <a:r>
              <a:rPr sz="1100" b="0" i="0">
                <a:solidFill>
                  <a:srgbClr val="4B564E"/>
                </a:solidFill>
                <a:latin typeface="Calibri"/>
              </a:rPr>
              <a:t>GeoParquet 2.0</a:t>
            </a:r>
          </a:p>
        </p:txBody>
      </p:sp>
      <p:sp>
        <p:nvSpPr>
          <p:cNvPr id="16" name="Rectangle 15">
            <a:extLst>
              <a:ext uri="{FF2B5EF4-FFF2-40B4-BE49-F238E27FC236}">
                <a16:creationId xmlns:a16="http://schemas.microsoft.com/office/drawing/2014/main" id="{75576259-826A-8F75-157E-688BA38B4237}"/>
              </a:ext>
            </a:extLst>
          </p:cNvPr>
          <p:cNvSpPr/>
          <p:nvPr/>
        </p:nvSpPr>
        <p:spPr>
          <a:xfrm>
            <a:off x="9684867" y="2377440"/>
            <a:ext cx="1965960" cy="137160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17" name="TextBox 16">
            <a:extLst>
              <a:ext uri="{FF2B5EF4-FFF2-40B4-BE49-F238E27FC236}">
                <a16:creationId xmlns:a16="http://schemas.microsoft.com/office/drawing/2014/main" id="{EE8325A9-9504-D269-B888-B8FE4C4FB54F}"/>
              </a:ext>
            </a:extLst>
          </p:cNvPr>
          <p:cNvSpPr txBox="1"/>
          <p:nvPr/>
        </p:nvSpPr>
        <p:spPr>
          <a:xfrm>
            <a:off x="9794595" y="2560320"/>
            <a:ext cx="1746504" cy="457200"/>
          </a:xfrm>
          <a:prstGeom prst="rect">
            <a:avLst/>
          </a:prstGeom>
          <a:noFill/>
        </p:spPr>
        <p:txBody>
          <a:bodyPr wrap="square" lIns="0" tIns="0" rIns="0" bIns="0" anchor="t">
            <a:spAutoFit/>
          </a:bodyPr>
          <a:lstStyle/>
          <a:p>
            <a:pPr algn="ctr">
              <a:lnSpc>
                <a:spcPct val="100000"/>
              </a:lnSpc>
            </a:pPr>
            <a:r>
              <a:rPr sz="1450" b="1" i="0">
                <a:solidFill>
                  <a:srgbClr val="1A231E"/>
                </a:solidFill>
                <a:latin typeface="Calibri"/>
              </a:rPr>
              <a:t>Check it</a:t>
            </a:r>
          </a:p>
        </p:txBody>
      </p:sp>
      <p:sp>
        <p:nvSpPr>
          <p:cNvPr id="18" name="TextBox 17">
            <a:extLst>
              <a:ext uri="{FF2B5EF4-FFF2-40B4-BE49-F238E27FC236}">
                <a16:creationId xmlns:a16="http://schemas.microsoft.com/office/drawing/2014/main" id="{B300F1B0-C6CA-E817-BC3B-92814A79B896}"/>
              </a:ext>
            </a:extLst>
          </p:cNvPr>
          <p:cNvSpPr txBox="1"/>
          <p:nvPr/>
        </p:nvSpPr>
        <p:spPr>
          <a:xfrm>
            <a:off x="9794595" y="3063240"/>
            <a:ext cx="1746504" cy="548640"/>
          </a:xfrm>
          <a:prstGeom prst="rect">
            <a:avLst/>
          </a:prstGeom>
          <a:noFill/>
        </p:spPr>
        <p:txBody>
          <a:bodyPr wrap="square" lIns="0" tIns="0" rIns="0" bIns="0" anchor="t">
            <a:spAutoFit/>
          </a:bodyPr>
          <a:lstStyle/>
          <a:p>
            <a:pPr algn="ctr">
              <a:lnSpc>
                <a:spcPct val="115000"/>
              </a:lnSpc>
            </a:pPr>
            <a:r>
              <a:rPr sz="1100" b="1" i="0">
                <a:solidFill>
                  <a:srgbClr val="4B564E"/>
                </a:solidFill>
                <a:latin typeface="Calibri"/>
              </a:rPr>
              <a:t>DuckDB</a:t>
            </a:r>
          </a:p>
          <a:p>
            <a:pPr algn="ctr">
              <a:lnSpc>
                <a:spcPct val="115000"/>
              </a:lnSpc>
            </a:pPr>
            <a:r>
              <a:rPr sz="1100" b="0" i="0">
                <a:solidFill>
                  <a:srgbClr val="4B564E"/>
                </a:solidFill>
                <a:latin typeface="Calibri"/>
              </a:rPr>
              <a:t>schema + round-trip check</a:t>
            </a:r>
          </a:p>
        </p:txBody>
      </p:sp>
      <p:sp>
        <p:nvSpPr>
          <p:cNvPr id="19" name="TextBox 18">
            <a:extLst>
              <a:ext uri="{FF2B5EF4-FFF2-40B4-BE49-F238E27FC236}">
                <a16:creationId xmlns:a16="http://schemas.microsoft.com/office/drawing/2014/main" id="{7EAF25E2-DDB3-4053-0257-26CA036C9AD5}"/>
              </a:ext>
            </a:extLst>
          </p:cNvPr>
          <p:cNvSpPr txBox="1"/>
          <p:nvPr/>
        </p:nvSpPr>
        <p:spPr>
          <a:xfrm>
            <a:off x="502920" y="4206240"/>
            <a:ext cx="11185855" cy="365760"/>
          </a:xfrm>
          <a:prstGeom prst="rect">
            <a:avLst/>
          </a:prstGeom>
          <a:noFill/>
        </p:spPr>
        <p:txBody>
          <a:bodyPr wrap="square" lIns="0" tIns="0" rIns="0" bIns="0" anchor="t">
            <a:spAutoFit/>
          </a:bodyPr>
          <a:lstStyle/>
          <a:p>
            <a:pPr algn="ctr">
              <a:lnSpc>
                <a:spcPct val="100000"/>
              </a:lnSpc>
            </a:pPr>
            <a:r>
              <a:rPr sz="1300" b="0" i="1">
                <a:solidFill>
                  <a:srgbClr val="4B564E"/>
                </a:solidFill>
                <a:latin typeface="Calibri"/>
              </a:rPr>
              <a:t>The only step older GeoParquet 1.x writers didn't need to get right.</a:t>
            </a:r>
          </a:p>
        </p:txBody>
      </p:sp>
      <p:sp>
        <p:nvSpPr>
          <p:cNvPr id="20" name="TextBox 19">
            <a:extLst>
              <a:ext uri="{FF2B5EF4-FFF2-40B4-BE49-F238E27FC236}">
                <a16:creationId xmlns:a16="http://schemas.microsoft.com/office/drawing/2014/main" id="{8EC5E049-2FF3-75C5-F32D-220ECC31FD9F}"/>
              </a:ext>
            </a:extLst>
          </p:cNvPr>
          <p:cNvSpPr txBox="1"/>
          <p:nvPr/>
        </p:nvSpPr>
        <p:spPr>
          <a:xfrm>
            <a:off x="502920" y="4709160"/>
            <a:ext cx="11185855" cy="731520"/>
          </a:xfrm>
          <a:prstGeom prst="rect">
            <a:avLst/>
          </a:prstGeom>
          <a:noFill/>
        </p:spPr>
        <p:txBody>
          <a:bodyPr wrap="square" lIns="0" tIns="0" rIns="0" bIns="0" anchor="t">
            <a:spAutoFit/>
          </a:bodyPr>
          <a:lstStyle/>
          <a:p>
            <a:pPr algn="ctr">
              <a:lnSpc>
                <a:spcPct val="130000"/>
              </a:lnSpc>
            </a:pPr>
            <a:r>
              <a:rPr sz="1400" b="0" i="0">
                <a:solidFill>
                  <a:srgbClr val="4B564E"/>
                </a:solidFill>
                <a:latin typeface="Calibri"/>
              </a:rPr>
              <a:t>In a real hale plugin, step one becomes hale's own Instance / GeometryProperty / CRSDefinition model — the same shape the existing GeoPackage and Shapefile writers already read from. Everything from step two on is unchanged.</a:t>
            </a:r>
          </a:p>
        </p:txBody>
      </p:sp>
      <p:sp>
        <p:nvSpPr>
          <p:cNvPr id="289" name="Takeaway 289"/>
          <p:cNvSpPr txBox="1"/>
          <p:nvPr/>
        </p:nvSpPr>
        <p:spPr>
          <a:xfrm>
            <a:off x="508000" y="1168400"/>
            <a:ext cx="10795000" cy="279400"/>
          </a:xfrm>
          <a:prstGeom prst="rect">
            <a:avLst/>
          </a:prstGeom>
          <a:noFill/>
        </p:spPr>
        <p:txBody>
          <a:bodyPr wrap="square" lIns="0" tIns="0" rIns="0" bIns="0" anchor="t">
            <a:spAutoFit/>
          </a:bodyPr>
          <a:lstStyle/>
          <a:p>
            <a:pPr algn="l">
              <a:lnSpc>
                <a:spcPct val="100000"/>
              </a:lnSpc>
            </a:pPr>
            <a:r>
              <a:rPr lang="en-GB" sz="1300" b="1" i="1" dirty="0">
                <a:solidFill>
                  <a:srgbClr val="4B564E"/>
                </a:solidFill>
                <a:latin typeface="Calibri"/>
              </a:rPr>
              <a:t>In plain words: </a:t>
            </a:r>
            <a:r>
              <a:rPr lang="en-GB" sz="1300" b="0" i="1" dirty="0">
                <a:solidFill>
                  <a:srgbClr val="4B564E"/>
                </a:solidFill>
                <a:latin typeface="Calibri"/>
              </a:rPr>
              <a:t>data goes in on the left, a checked GeoParquet file comes out on the right. Only the highlighted step is new.</a:t>
            </a:r>
          </a:p>
        </p:txBody>
      </p:sp>
    </p:spTree>
    <p:extLst>
      <p:ext uri="{BB962C8B-B14F-4D97-AF65-F5344CB8AC3E}">
        <p14:creationId xmlns:p14="http://schemas.microsoft.com/office/powerpoint/2010/main" val="3484713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7</a:t>
            </a:fld>
            <a:endParaRPr lang="en-US" dirty="0">
              <a:solidFill>
                <a:srgbClr val="51A1E9"/>
              </a:solidFill>
              <a:latin typeface="PT Sans Pro Light" panose="020B0403020203020204" pitchFamily="34" charset="0"/>
            </a:endParaRPr>
          </a:p>
        </p:txBody>
      </p:sp>
      <p:sp>
        <p:nvSpPr>
          <p:cNvPr id="8" name="TextBox 26">
            <a:extLst>
              <a:ext uri="{FF2B5EF4-FFF2-40B4-BE49-F238E27FC236}">
                <a16:creationId xmlns:a16="http://schemas.microsoft.com/office/drawing/2014/main" id="{415C9A0B-49F0-AB33-1A9C-601A5CF6AFFA}"/>
              </a:ext>
            </a:extLst>
          </p:cNvPr>
          <p:cNvSpPr txBox="1"/>
          <p:nvPr/>
        </p:nvSpPr>
        <p:spPr>
          <a:xfrm>
            <a:off x="508000" y="1168400"/>
            <a:ext cx="11035142" cy="253916"/>
          </a:xfrm>
          <a:prstGeom prst="rect">
            <a:avLst/>
          </a:prstGeom>
          <a:noFill/>
        </p:spPr>
        <p:txBody>
          <a:bodyPr wrap="square" lIns="0" tIns="0" rIns="0" bIns="0" anchor="t">
            <a:spAutoFit/>
          </a:bodyPr>
          <a:lstStyle/>
          <a:p>
            <a:pPr algn="l">
              <a:lnSpc>
                <a:spcPct val="100000"/>
              </a:lnSpc>
            </a:pPr>
            <a:r>
              <a:rPr lang="en-GB" sz="1300" b="1" i="1" dirty="0">
                <a:solidFill>
                  <a:srgbClr val="4B564E"/>
                </a:solidFill>
                <a:latin typeface="Calibri"/>
              </a:rPr>
              <a:t>In plain words: </a:t>
            </a:r>
            <a:r>
              <a:rPr lang="en-GB" sz="1300" b="0" i="1" dirty="0">
                <a:solidFill>
                  <a:srgbClr val="4B564E"/>
                </a:solidFill>
                <a:latin typeface="Calibri"/>
              </a:rPr>
              <a:t>the spike does three jobs – write a GeoParquet file, try it on real data, and let an independent tool check the result.</a:t>
            </a: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6108082"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What's actually in the spike folder</a:t>
            </a:r>
          </a:p>
        </p:txBody>
      </p:sp>
      <p:sp>
        <p:nvSpPr>
          <p:cNvPr id="2" name="Rectangle 1">
            <a:extLst>
              <a:ext uri="{FF2B5EF4-FFF2-40B4-BE49-F238E27FC236}">
                <a16:creationId xmlns:a16="http://schemas.microsoft.com/office/drawing/2014/main" id="{9455E1A6-5431-BF87-4D11-76E0A892C532}"/>
              </a:ext>
            </a:extLst>
          </p:cNvPr>
          <p:cNvSpPr/>
          <p:nvPr/>
        </p:nvSpPr>
        <p:spPr>
          <a:xfrm>
            <a:off x="502920" y="1691640"/>
            <a:ext cx="11185855" cy="621792"/>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24" name="TextBox 23">
            <a:extLst>
              <a:ext uri="{FF2B5EF4-FFF2-40B4-BE49-F238E27FC236}">
                <a16:creationId xmlns:a16="http://schemas.microsoft.com/office/drawing/2014/main" id="{6DD0796C-40D7-DB09-98CE-13539B1522CA}"/>
              </a:ext>
            </a:extLst>
          </p:cNvPr>
          <p:cNvSpPr txBox="1"/>
          <p:nvPr/>
        </p:nvSpPr>
        <p:spPr>
          <a:xfrm>
            <a:off x="685800" y="1801368"/>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pom.xml</a:t>
            </a:r>
          </a:p>
        </p:txBody>
      </p:sp>
      <p:sp>
        <p:nvSpPr>
          <p:cNvPr id="25" name="TextBox 24">
            <a:extLst>
              <a:ext uri="{FF2B5EF4-FFF2-40B4-BE49-F238E27FC236}">
                <a16:creationId xmlns:a16="http://schemas.microsoft.com/office/drawing/2014/main" id="{3BFD3097-20AB-7A48-A804-A0D004639BFC}"/>
              </a:ext>
            </a:extLst>
          </p:cNvPr>
          <p:cNvSpPr txBox="1"/>
          <p:nvPr/>
        </p:nvSpPr>
        <p:spPr>
          <a:xfrm>
            <a:off x="3291840" y="1764792"/>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Standalone Maven build. parquet-hadoop with snappy-java / zstd-jni excluded (native codecs, unnecessary for uncompressed output).</a:t>
            </a:r>
          </a:p>
        </p:txBody>
      </p:sp>
      <p:sp>
        <p:nvSpPr>
          <p:cNvPr id="26" name="Rectangle 25">
            <a:extLst>
              <a:ext uri="{FF2B5EF4-FFF2-40B4-BE49-F238E27FC236}">
                <a16:creationId xmlns:a16="http://schemas.microsoft.com/office/drawing/2014/main" id="{6B49A4BB-E543-74BD-2BF9-2DE3F0BEE2C8}"/>
              </a:ext>
            </a:extLst>
          </p:cNvPr>
          <p:cNvSpPr/>
          <p:nvPr/>
        </p:nvSpPr>
        <p:spPr>
          <a:xfrm>
            <a:off x="502920" y="2313432"/>
            <a:ext cx="11185855" cy="62179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27" name="TextBox 26">
            <a:extLst>
              <a:ext uri="{FF2B5EF4-FFF2-40B4-BE49-F238E27FC236}">
                <a16:creationId xmlns:a16="http://schemas.microsoft.com/office/drawing/2014/main" id="{A9895227-370C-28A1-F327-3E54484E22DE}"/>
              </a:ext>
            </a:extLst>
          </p:cNvPr>
          <p:cNvSpPr txBox="1"/>
          <p:nvPr/>
        </p:nvSpPr>
        <p:spPr>
          <a:xfrm>
            <a:off x="685800" y="2423160"/>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CrsUtil.java</a:t>
            </a:r>
          </a:p>
        </p:txBody>
      </p:sp>
      <p:sp>
        <p:nvSpPr>
          <p:cNvPr id="28" name="TextBox 27">
            <a:extLst>
              <a:ext uri="{FF2B5EF4-FFF2-40B4-BE49-F238E27FC236}">
                <a16:creationId xmlns:a16="http://schemas.microsoft.com/office/drawing/2014/main" id="{7E0D335D-343D-5C21-EB6B-A73628E42CF5}"/>
              </a:ext>
            </a:extLst>
          </p:cNvPr>
          <p:cNvSpPr txBox="1"/>
          <p:nvPr/>
        </p:nvSpPr>
        <p:spPr>
          <a:xfrm>
            <a:off x="3291840" y="2386584"/>
            <a:ext cx="8412480" cy="502920"/>
          </a:xfrm>
          <a:prstGeom prst="rect">
            <a:avLst/>
          </a:prstGeom>
          <a:noFill/>
        </p:spPr>
        <p:txBody>
          <a:bodyPr wrap="square" lIns="0" tIns="0" rIns="0" bIns="0" anchor="ctr">
            <a:spAutoFit/>
          </a:bodyPr>
          <a:lstStyle/>
          <a:p>
            <a:pPr algn="l">
              <a:lnSpc>
                <a:spcPct val="100000"/>
              </a:lnSpc>
            </a:pPr>
            <a:r>
              <a:rPr sz="1250" b="0" i="0" dirty="0">
                <a:solidFill>
                  <a:srgbClr val="4B564E"/>
                </a:solidFill>
                <a:latin typeface="Calibri"/>
              </a:rPr>
              <a:t>Downloads + caches PROJJSON per EPSG code. Spike-only – a real plugin would ship these definitions instead.</a:t>
            </a:r>
          </a:p>
        </p:txBody>
      </p:sp>
      <p:sp>
        <p:nvSpPr>
          <p:cNvPr id="29" name="Rectangle 28">
            <a:extLst>
              <a:ext uri="{FF2B5EF4-FFF2-40B4-BE49-F238E27FC236}">
                <a16:creationId xmlns:a16="http://schemas.microsoft.com/office/drawing/2014/main" id="{FE4A8964-50D1-00FF-BCDA-58B9A2D83AAE}"/>
              </a:ext>
            </a:extLst>
          </p:cNvPr>
          <p:cNvSpPr/>
          <p:nvPr/>
        </p:nvSpPr>
        <p:spPr>
          <a:xfrm>
            <a:off x="502920" y="2935224"/>
            <a:ext cx="11185855" cy="621792"/>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30" name="TextBox 29">
            <a:extLst>
              <a:ext uri="{FF2B5EF4-FFF2-40B4-BE49-F238E27FC236}">
                <a16:creationId xmlns:a16="http://schemas.microsoft.com/office/drawing/2014/main" id="{90B068ED-F787-F932-04C5-A19F892AC55F}"/>
              </a:ext>
            </a:extLst>
          </p:cNvPr>
          <p:cNvSpPr txBox="1"/>
          <p:nvPr/>
        </p:nvSpPr>
        <p:spPr>
          <a:xfrm>
            <a:off x="685800" y="3044952"/>
            <a:ext cx="2743200" cy="411480"/>
          </a:xfrm>
          <a:prstGeom prst="rect">
            <a:avLst/>
          </a:prstGeom>
          <a:noFill/>
        </p:spPr>
        <p:txBody>
          <a:bodyPr wrap="square" lIns="0" tIns="0" rIns="0" bIns="0" anchor="ctr">
            <a:spAutoFit/>
          </a:bodyPr>
          <a:lstStyle/>
          <a:p>
            <a:pPr algn="l">
              <a:lnSpc>
                <a:spcPct val="100000"/>
              </a:lnSpc>
            </a:pPr>
            <a:r>
              <a:rPr sz="1350" b="1" i="0" dirty="0">
                <a:solidFill>
                  <a:srgbClr val="1A231E"/>
                </a:solidFill>
                <a:latin typeface="Consolas"/>
              </a:rPr>
              <a:t>GeoParquetPoc.java</a:t>
            </a:r>
          </a:p>
        </p:txBody>
      </p:sp>
      <p:sp>
        <p:nvSpPr>
          <p:cNvPr id="31" name="TextBox 30">
            <a:extLst>
              <a:ext uri="{FF2B5EF4-FFF2-40B4-BE49-F238E27FC236}">
                <a16:creationId xmlns:a16="http://schemas.microsoft.com/office/drawing/2014/main" id="{F40DEEF1-BB65-48CD-362D-C64135272851}"/>
              </a:ext>
            </a:extLst>
          </p:cNvPr>
          <p:cNvSpPr txBox="1"/>
          <p:nvPr/>
        </p:nvSpPr>
        <p:spPr>
          <a:xfrm>
            <a:off x="3291840" y="3008376"/>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The core demo — 3 synthetic features written with the native GEOMETRY logical type.</a:t>
            </a:r>
          </a:p>
        </p:txBody>
      </p:sp>
      <p:sp>
        <p:nvSpPr>
          <p:cNvPr id="32" name="Rectangle 31">
            <a:extLst>
              <a:ext uri="{FF2B5EF4-FFF2-40B4-BE49-F238E27FC236}">
                <a16:creationId xmlns:a16="http://schemas.microsoft.com/office/drawing/2014/main" id="{CC5CFF17-A957-DDBA-AF29-8EDB88D79217}"/>
              </a:ext>
            </a:extLst>
          </p:cNvPr>
          <p:cNvSpPr/>
          <p:nvPr/>
        </p:nvSpPr>
        <p:spPr>
          <a:xfrm>
            <a:off x="502920" y="3557016"/>
            <a:ext cx="11185855" cy="62179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33" name="TextBox 32">
            <a:extLst>
              <a:ext uri="{FF2B5EF4-FFF2-40B4-BE49-F238E27FC236}">
                <a16:creationId xmlns:a16="http://schemas.microsoft.com/office/drawing/2014/main" id="{1FF5E0DA-DCDC-C0CE-251F-60103F5697C7}"/>
              </a:ext>
            </a:extLst>
          </p:cNvPr>
          <p:cNvSpPr txBox="1"/>
          <p:nvPr/>
        </p:nvSpPr>
        <p:spPr>
          <a:xfrm>
            <a:off x="685800" y="3666744"/>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GeoPackageToGeoParquet.java</a:t>
            </a:r>
          </a:p>
        </p:txBody>
      </p:sp>
      <p:sp>
        <p:nvSpPr>
          <p:cNvPr id="34" name="TextBox 33">
            <a:extLst>
              <a:ext uri="{FF2B5EF4-FFF2-40B4-BE49-F238E27FC236}">
                <a16:creationId xmlns:a16="http://schemas.microsoft.com/office/drawing/2014/main" id="{B1887F66-5618-3A98-1DC3-F7E39738E99C}"/>
              </a:ext>
            </a:extLst>
          </p:cNvPr>
          <p:cNvSpPr txBox="1"/>
          <p:nvPr/>
        </p:nvSpPr>
        <p:spPr>
          <a:xfrm>
            <a:off x="3291840" y="3630168"/>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Reads a real GeoPackage layer over JDBC, hand-parses its binary geometry header, writes via the same path.</a:t>
            </a:r>
          </a:p>
        </p:txBody>
      </p:sp>
      <p:sp>
        <p:nvSpPr>
          <p:cNvPr id="35" name="Rectangle 34">
            <a:extLst>
              <a:ext uri="{FF2B5EF4-FFF2-40B4-BE49-F238E27FC236}">
                <a16:creationId xmlns:a16="http://schemas.microsoft.com/office/drawing/2014/main" id="{9E9EFAD8-C890-8192-C550-D022E313961F}"/>
              </a:ext>
            </a:extLst>
          </p:cNvPr>
          <p:cNvSpPr/>
          <p:nvPr/>
        </p:nvSpPr>
        <p:spPr>
          <a:xfrm>
            <a:off x="502920" y="4178808"/>
            <a:ext cx="11185855" cy="621792"/>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36" name="TextBox 35">
            <a:extLst>
              <a:ext uri="{FF2B5EF4-FFF2-40B4-BE49-F238E27FC236}">
                <a16:creationId xmlns:a16="http://schemas.microsoft.com/office/drawing/2014/main" id="{DF8B7EAC-DF2C-4354-E08F-BB4586969A5D}"/>
              </a:ext>
            </a:extLst>
          </p:cNvPr>
          <p:cNvSpPr txBox="1"/>
          <p:nvPr/>
        </p:nvSpPr>
        <p:spPr>
          <a:xfrm>
            <a:off x="685800" y="4288536"/>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validate.py</a:t>
            </a:r>
          </a:p>
        </p:txBody>
      </p:sp>
      <p:sp>
        <p:nvSpPr>
          <p:cNvPr id="37" name="TextBox 36">
            <a:extLst>
              <a:ext uri="{FF2B5EF4-FFF2-40B4-BE49-F238E27FC236}">
                <a16:creationId xmlns:a16="http://schemas.microsoft.com/office/drawing/2014/main" id="{640AD2C4-90F1-00EB-BACC-D3847905ECD2}"/>
              </a:ext>
            </a:extLst>
          </p:cNvPr>
          <p:cNvSpPr txBox="1"/>
          <p:nvPr/>
        </p:nvSpPr>
        <p:spPr>
          <a:xfrm>
            <a:off x="3291840" y="4251960"/>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Independent DuckDB check: validates the “geo” metadata against the official JSON Schema and reads geometries back as WKT.</a:t>
            </a:r>
          </a:p>
        </p:txBody>
      </p:sp>
      <p:sp>
        <p:nvSpPr>
          <p:cNvPr id="38" name="Rectangle 37">
            <a:extLst>
              <a:ext uri="{FF2B5EF4-FFF2-40B4-BE49-F238E27FC236}">
                <a16:creationId xmlns:a16="http://schemas.microsoft.com/office/drawing/2014/main" id="{B642863A-5558-5A6E-2406-2A52BCAFBA91}"/>
              </a:ext>
            </a:extLst>
          </p:cNvPr>
          <p:cNvSpPr/>
          <p:nvPr/>
        </p:nvSpPr>
        <p:spPr>
          <a:xfrm>
            <a:off x="502920" y="4800600"/>
            <a:ext cx="11185855" cy="621792"/>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39" name="TextBox 38">
            <a:extLst>
              <a:ext uri="{FF2B5EF4-FFF2-40B4-BE49-F238E27FC236}">
                <a16:creationId xmlns:a16="http://schemas.microsoft.com/office/drawing/2014/main" id="{A58B0E0F-4170-153E-8DC7-568BB4764C8E}"/>
              </a:ext>
            </a:extLst>
          </p:cNvPr>
          <p:cNvSpPr txBox="1"/>
          <p:nvPr/>
        </p:nvSpPr>
        <p:spPr>
          <a:xfrm>
            <a:off x="685800" y="4910328"/>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data/013_Grindelwald.gpkg</a:t>
            </a:r>
          </a:p>
        </p:txBody>
      </p:sp>
      <p:sp>
        <p:nvSpPr>
          <p:cNvPr id="40" name="TextBox 39">
            <a:extLst>
              <a:ext uri="{FF2B5EF4-FFF2-40B4-BE49-F238E27FC236}">
                <a16:creationId xmlns:a16="http://schemas.microsoft.com/office/drawing/2014/main" id="{2AC7CCB7-385B-DB33-E956-37662E5C62AA}"/>
              </a:ext>
            </a:extLst>
          </p:cNvPr>
          <p:cNvSpPr txBox="1"/>
          <p:nvPr/>
        </p:nvSpPr>
        <p:spPr>
          <a:xfrm>
            <a:off x="3291840" y="4873752"/>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Real Swiss geological survey data, EPSG:2056, 18 layers — not synthetic samples.</a:t>
            </a:r>
          </a:p>
        </p:txBody>
      </p:sp>
      <p:sp>
        <p:nvSpPr>
          <p:cNvPr id="41" name="Rectangle 40">
            <a:extLst>
              <a:ext uri="{FF2B5EF4-FFF2-40B4-BE49-F238E27FC236}">
                <a16:creationId xmlns:a16="http://schemas.microsoft.com/office/drawing/2014/main" id="{E5BD0989-AF5B-6276-02FC-8AB1326211A6}"/>
              </a:ext>
            </a:extLst>
          </p:cNvPr>
          <p:cNvSpPr/>
          <p:nvPr/>
        </p:nvSpPr>
        <p:spPr>
          <a:xfrm>
            <a:off x="502920" y="5422392"/>
            <a:ext cx="11185855" cy="621792"/>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42" name="TextBox 41">
            <a:extLst>
              <a:ext uri="{FF2B5EF4-FFF2-40B4-BE49-F238E27FC236}">
                <a16:creationId xmlns:a16="http://schemas.microsoft.com/office/drawing/2014/main" id="{89A826CC-70BB-24ED-6925-214533488F22}"/>
              </a:ext>
            </a:extLst>
          </p:cNvPr>
          <p:cNvSpPr txBox="1"/>
          <p:nvPr/>
        </p:nvSpPr>
        <p:spPr>
          <a:xfrm>
            <a:off x="685800" y="5532120"/>
            <a:ext cx="2743200" cy="411480"/>
          </a:xfrm>
          <a:prstGeom prst="rect">
            <a:avLst/>
          </a:prstGeom>
          <a:noFill/>
        </p:spPr>
        <p:txBody>
          <a:bodyPr wrap="square" lIns="0" tIns="0" rIns="0" bIns="0" anchor="ctr">
            <a:spAutoFit/>
          </a:bodyPr>
          <a:lstStyle/>
          <a:p>
            <a:pPr algn="l">
              <a:lnSpc>
                <a:spcPct val="100000"/>
              </a:lnSpc>
            </a:pPr>
            <a:r>
              <a:rPr sz="1350" b="1" i="0">
                <a:solidFill>
                  <a:srgbClr val="1A231E"/>
                </a:solidFill>
                <a:latin typeface="Consolas"/>
              </a:rPr>
              <a:t>NOTES.md</a:t>
            </a:r>
          </a:p>
        </p:txBody>
      </p:sp>
      <p:sp>
        <p:nvSpPr>
          <p:cNvPr id="43" name="TextBox 42">
            <a:extLst>
              <a:ext uri="{FF2B5EF4-FFF2-40B4-BE49-F238E27FC236}">
                <a16:creationId xmlns:a16="http://schemas.microsoft.com/office/drawing/2014/main" id="{33C1FF76-6038-9FBF-EF4E-D7B0EC8DE6A9}"/>
              </a:ext>
            </a:extLst>
          </p:cNvPr>
          <p:cNvSpPr txBox="1"/>
          <p:nvPr/>
        </p:nvSpPr>
        <p:spPr>
          <a:xfrm>
            <a:off x="3291840" y="5495544"/>
            <a:ext cx="8412480" cy="502920"/>
          </a:xfrm>
          <a:prstGeom prst="rect">
            <a:avLst/>
          </a:prstGeom>
          <a:noFill/>
        </p:spPr>
        <p:txBody>
          <a:bodyPr wrap="square" lIns="0" tIns="0" rIns="0" bIns="0" anchor="ctr">
            <a:spAutoFit/>
          </a:bodyPr>
          <a:lstStyle/>
          <a:p>
            <a:pPr algn="l">
              <a:lnSpc>
                <a:spcPct val="100000"/>
              </a:lnSpc>
            </a:pPr>
            <a:r>
              <a:rPr sz="1250" b="0" i="0">
                <a:solidFill>
                  <a:srgbClr val="4B564E"/>
                </a:solidFill>
                <a:latin typeface="Calibri"/>
              </a:rPr>
              <a:t>The full investigation log this deck distills.</a:t>
            </a:r>
          </a:p>
        </p:txBody>
      </p:sp>
    </p:spTree>
    <p:extLst>
      <p:ext uri="{BB962C8B-B14F-4D97-AF65-F5344CB8AC3E}">
        <p14:creationId xmlns:p14="http://schemas.microsoft.com/office/powerpoint/2010/main" val="92215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8</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7503464"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GeoParquetPoc.java — the core mechanics</a:t>
            </a:r>
          </a:p>
        </p:txBody>
      </p:sp>
      <p:sp>
        <p:nvSpPr>
          <p:cNvPr id="2" name="TextBox 1">
            <a:extLst>
              <a:ext uri="{FF2B5EF4-FFF2-40B4-BE49-F238E27FC236}">
                <a16:creationId xmlns:a16="http://schemas.microsoft.com/office/drawing/2014/main" id="{CBAF855E-56A5-81C6-4A9E-6B6BB0F75847}"/>
              </a:ext>
            </a:extLst>
          </p:cNvPr>
          <p:cNvSpPr txBox="1"/>
          <p:nvPr/>
        </p:nvSpPr>
        <p:spPr>
          <a:xfrm>
            <a:off x="502920" y="1600200"/>
            <a:ext cx="5669280" cy="457200"/>
          </a:xfrm>
          <a:prstGeom prst="rect">
            <a:avLst/>
          </a:prstGeom>
          <a:noFill/>
        </p:spPr>
        <p:txBody>
          <a:bodyPr wrap="square" lIns="0" tIns="0" rIns="0" bIns="0" anchor="t">
            <a:spAutoFit/>
          </a:bodyPr>
          <a:lstStyle/>
          <a:p>
            <a:pPr algn="l">
              <a:lnSpc>
                <a:spcPct val="100000"/>
              </a:lnSpc>
            </a:pPr>
            <a:r>
              <a:rPr sz="1500" b="0" i="0">
                <a:solidFill>
                  <a:srgbClr val="4B564E"/>
                </a:solidFill>
                <a:latin typeface="Calibri"/>
              </a:rPr>
              <a:t>The schema line that makes a column actually GeoParquet-2.0-compliant:</a:t>
            </a:r>
          </a:p>
        </p:txBody>
      </p:sp>
      <p:sp>
        <p:nvSpPr>
          <p:cNvPr id="3" name="Rectangle 2">
            <a:extLst>
              <a:ext uri="{FF2B5EF4-FFF2-40B4-BE49-F238E27FC236}">
                <a16:creationId xmlns:a16="http://schemas.microsoft.com/office/drawing/2014/main" id="{717754EB-EC1D-A1F4-CA4D-C4B712177A5B}"/>
              </a:ext>
            </a:extLst>
          </p:cNvPr>
          <p:cNvSpPr/>
          <p:nvPr/>
        </p:nvSpPr>
        <p:spPr>
          <a:xfrm>
            <a:off x="502920" y="2057400"/>
            <a:ext cx="5669280" cy="1371600"/>
          </a:xfrm>
          <a:prstGeom prst="rect">
            <a:avLst/>
          </a:prstGeom>
          <a:solidFill>
            <a:srgbClr val="161C1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36D35FBE-4457-F1A0-9482-BDEC27B32BE3}"/>
              </a:ext>
            </a:extLst>
          </p:cNvPr>
          <p:cNvSpPr txBox="1"/>
          <p:nvPr/>
        </p:nvSpPr>
        <p:spPr>
          <a:xfrm>
            <a:off x="731520" y="2212848"/>
            <a:ext cx="5212080" cy="1097280"/>
          </a:xfrm>
          <a:prstGeom prst="rect">
            <a:avLst/>
          </a:prstGeom>
          <a:noFill/>
        </p:spPr>
        <p:txBody>
          <a:bodyPr wrap="square" lIns="0" tIns="0" rIns="0" bIns="0" anchor="t">
            <a:spAutoFit/>
          </a:bodyPr>
          <a:lstStyle/>
          <a:p>
            <a:pPr algn="l">
              <a:lnSpc>
                <a:spcPct val="130000"/>
              </a:lnSpc>
            </a:pPr>
            <a:r>
              <a:rPr sz="1200" b="0" i="0">
                <a:solidFill>
                  <a:srgbClr val="DCE6D6"/>
                </a:solidFill>
                <a:latin typeface="Consolas"/>
              </a:rPr>
              <a:t>.required(BINARY)</a:t>
            </a:r>
          </a:p>
          <a:p>
            <a:pPr algn="l">
              <a:lnSpc>
                <a:spcPct val="130000"/>
              </a:lnSpc>
            </a:pPr>
            <a:r>
              <a:rPr sz="1200" b="0" i="0">
                <a:solidFill>
                  <a:srgbClr val="DCE6D6"/>
                </a:solidFill>
                <a:latin typeface="Consolas"/>
              </a:rPr>
              <a:t>  .as(LogicalTypeAnnotation.geometryType(crsIdentifier))</a:t>
            </a:r>
          </a:p>
          <a:p>
            <a:pPr algn="l">
              <a:lnSpc>
                <a:spcPct val="130000"/>
              </a:lnSpc>
            </a:pPr>
            <a:r>
              <a:rPr sz="1200" b="0" i="0">
                <a:solidFill>
                  <a:srgbClr val="DCE6D6"/>
                </a:solidFill>
                <a:latin typeface="Consolas"/>
              </a:rPr>
              <a:t>  .named("geometry")</a:t>
            </a:r>
          </a:p>
        </p:txBody>
      </p:sp>
      <p:sp>
        <p:nvSpPr>
          <p:cNvPr id="5" name="TextBox 4">
            <a:extLst>
              <a:ext uri="{FF2B5EF4-FFF2-40B4-BE49-F238E27FC236}">
                <a16:creationId xmlns:a16="http://schemas.microsoft.com/office/drawing/2014/main" id="{50180BF6-B296-0769-1786-AF004DD54FD3}"/>
              </a:ext>
            </a:extLst>
          </p:cNvPr>
          <p:cNvSpPr txBox="1"/>
          <p:nvPr/>
        </p:nvSpPr>
        <p:spPr>
          <a:xfrm>
            <a:off x="502920" y="3749039"/>
            <a:ext cx="5669280" cy="2377440"/>
          </a:xfrm>
          <a:prstGeom prst="rect">
            <a:avLst/>
          </a:prstGeom>
          <a:noFill/>
        </p:spPr>
        <p:txBody>
          <a:bodyPr wrap="square">
            <a:spAutoFit/>
          </a:bodyPr>
          <a:lstStyle/>
          <a:p>
            <a:pPr>
              <a:lnSpc>
                <a:spcPct val="112000"/>
              </a:lnSpc>
              <a:spcAft>
                <a:spcPts val="1200"/>
              </a:spcAft>
            </a:pPr>
            <a:r>
              <a:rPr sz="1500" b="1">
                <a:solidFill>
                  <a:srgbClr val="2F5B49"/>
                </a:solidFill>
                <a:latin typeface="Calibri"/>
              </a:rPr>
              <a:t>•  </a:t>
            </a:r>
            <a:r>
              <a:rPr sz="1500">
                <a:solidFill>
                  <a:srgbClr val="4B564E"/>
                </a:solidFill>
                <a:latin typeface="Calibri"/>
              </a:rPr>
              <a:t>Writes 3 synthetic features: point, line, polygon.</a:t>
            </a:r>
          </a:p>
          <a:p>
            <a:pPr>
              <a:lnSpc>
                <a:spcPct val="112000"/>
              </a:lnSpc>
              <a:spcAft>
                <a:spcPts val="1200"/>
              </a:spcAft>
            </a:pPr>
            <a:r>
              <a:rPr sz="1500" b="1">
                <a:solidFill>
                  <a:srgbClr val="2F5B49"/>
                </a:solidFill>
                <a:latin typeface="Calibri"/>
              </a:rPr>
              <a:t>•  </a:t>
            </a:r>
            <a:r>
              <a:rPr sz="1500">
                <a:solidFill>
                  <a:srgbClr val="4B564E"/>
                </a:solidFill>
                <a:latin typeface="Calibri"/>
              </a:rPr>
              <a:t>Encodes geometry to WKB via JTS's WKBWriter — same encoder hale already uses elsewhere.</a:t>
            </a:r>
          </a:p>
          <a:p>
            <a:pPr>
              <a:lnSpc>
                <a:spcPct val="112000"/>
              </a:lnSpc>
              <a:spcAft>
                <a:spcPts val="1200"/>
              </a:spcAft>
            </a:pPr>
            <a:r>
              <a:rPr sz="1500" b="1">
                <a:solidFill>
                  <a:srgbClr val="2F5B49"/>
                </a:solidFill>
                <a:latin typeface="Calibri"/>
              </a:rPr>
              <a:t>•  </a:t>
            </a:r>
            <a:r>
              <a:rPr sz="1500">
                <a:solidFill>
                  <a:srgbClr val="4B564E"/>
                </a:solidFill>
                <a:latin typeface="Calibri"/>
              </a:rPr>
              <a:t>Attaches a "geo" JSON file-metadata block (CRS, geometry types) alongside the native column type.</a:t>
            </a:r>
          </a:p>
          <a:p>
            <a:pPr>
              <a:lnSpc>
                <a:spcPct val="112000"/>
              </a:lnSpc>
              <a:spcAft>
                <a:spcPts val="1200"/>
              </a:spcAft>
            </a:pPr>
            <a:r>
              <a:rPr sz="1500" b="1">
                <a:solidFill>
                  <a:srgbClr val="2F5B49"/>
                </a:solidFill>
                <a:latin typeface="Calibri"/>
              </a:rPr>
              <a:t>•  </a:t>
            </a:r>
            <a:r>
              <a:rPr sz="1500">
                <a:solidFill>
                  <a:srgbClr val="4B564E"/>
                </a:solidFill>
                <a:latin typeface="Calibri"/>
              </a:rPr>
              <a:t>Runs on parquet-hadoop with PlainParquetConfiguration — zero org.apache.hadoop.* classes touched at runtime.</a:t>
            </a:r>
          </a:p>
        </p:txBody>
      </p:sp>
      <p:sp>
        <p:nvSpPr>
          <p:cNvPr id="6" name="Rectangle 5">
            <a:extLst>
              <a:ext uri="{FF2B5EF4-FFF2-40B4-BE49-F238E27FC236}">
                <a16:creationId xmlns:a16="http://schemas.microsoft.com/office/drawing/2014/main" id="{65EAFDB4-0E16-51C7-073B-6104DA67A555}"/>
              </a:ext>
            </a:extLst>
          </p:cNvPr>
          <p:cNvSpPr/>
          <p:nvPr/>
        </p:nvSpPr>
        <p:spPr>
          <a:xfrm>
            <a:off x="6492240" y="2057400"/>
            <a:ext cx="5120640" cy="406908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8836F44F-47B0-9D1C-08ED-B96C60AF1E89}"/>
              </a:ext>
            </a:extLst>
          </p:cNvPr>
          <p:cNvSpPr txBox="1"/>
          <p:nvPr/>
        </p:nvSpPr>
        <p:spPr>
          <a:xfrm>
            <a:off x="6766560" y="2240280"/>
            <a:ext cx="4572000" cy="365760"/>
          </a:xfrm>
          <a:prstGeom prst="rect">
            <a:avLst/>
          </a:prstGeom>
          <a:noFill/>
        </p:spPr>
        <p:txBody>
          <a:bodyPr wrap="square" lIns="0" tIns="0" rIns="0" bIns="0" anchor="t">
            <a:spAutoFit/>
          </a:bodyPr>
          <a:lstStyle/>
          <a:p>
            <a:pPr algn="l">
              <a:lnSpc>
                <a:spcPct val="100000"/>
              </a:lnSpc>
            </a:pPr>
            <a:r>
              <a:rPr sz="1500" b="1" i="0">
                <a:solidFill>
                  <a:srgbClr val="1A231E"/>
                </a:solidFill>
                <a:latin typeface="Calibri"/>
              </a:rPr>
              <a:t>Why this line matters</a:t>
            </a:r>
          </a:p>
        </p:txBody>
      </p:sp>
      <p:sp>
        <p:nvSpPr>
          <p:cNvPr id="10" name="TextBox 9">
            <a:extLst>
              <a:ext uri="{FF2B5EF4-FFF2-40B4-BE49-F238E27FC236}">
                <a16:creationId xmlns:a16="http://schemas.microsoft.com/office/drawing/2014/main" id="{862FADF5-F7F5-BA0C-27CE-9068A7D56C66}"/>
              </a:ext>
            </a:extLst>
          </p:cNvPr>
          <p:cNvSpPr txBox="1"/>
          <p:nvPr/>
        </p:nvSpPr>
        <p:spPr>
          <a:xfrm>
            <a:off x="6766560" y="2697480"/>
            <a:ext cx="4572000" cy="2127505"/>
          </a:xfrm>
          <a:prstGeom prst="rect">
            <a:avLst/>
          </a:prstGeom>
          <a:noFill/>
        </p:spPr>
        <p:txBody>
          <a:bodyPr wrap="square">
            <a:spAutoFit/>
          </a:bodyPr>
          <a:lstStyle/>
          <a:p>
            <a:pPr>
              <a:lnSpc>
                <a:spcPct val="112000"/>
              </a:lnSpc>
              <a:spcAft>
                <a:spcPts val="1400"/>
              </a:spcAft>
            </a:pPr>
            <a:r>
              <a:rPr sz="1400" b="1" dirty="0">
                <a:solidFill>
                  <a:srgbClr val="2F5B49"/>
                </a:solidFill>
                <a:latin typeface="Calibri"/>
              </a:rPr>
              <a:t>•  </a:t>
            </a:r>
            <a:r>
              <a:rPr sz="1400" dirty="0" err="1">
                <a:solidFill>
                  <a:srgbClr val="4B564E"/>
                </a:solidFill>
                <a:latin typeface="Calibri"/>
              </a:rPr>
              <a:t>GeoParquet</a:t>
            </a:r>
            <a:r>
              <a:rPr sz="1400" dirty="0">
                <a:solidFill>
                  <a:srgbClr val="4B564E"/>
                </a:solidFill>
                <a:latin typeface="Calibri"/>
              </a:rPr>
              <a:t> 1.x wrote WKB into a plain BINARY column and put ALL spatial meaning in file metadata.</a:t>
            </a:r>
          </a:p>
          <a:p>
            <a:pPr>
              <a:lnSpc>
                <a:spcPct val="112000"/>
              </a:lnSpc>
              <a:spcAft>
                <a:spcPts val="1400"/>
              </a:spcAft>
            </a:pPr>
            <a:r>
              <a:rPr sz="1400" b="1" dirty="0">
                <a:solidFill>
                  <a:srgbClr val="2F5B49"/>
                </a:solidFill>
                <a:latin typeface="Calibri"/>
              </a:rPr>
              <a:t>•  </a:t>
            </a:r>
            <a:r>
              <a:rPr sz="1400" dirty="0">
                <a:solidFill>
                  <a:srgbClr val="4B564E"/>
                </a:solidFill>
                <a:latin typeface="Calibri"/>
              </a:rPr>
              <a:t>2.0 requires the column itself to carry Parquet's native GEOMETRY logical type — discovered mid-investigation, not assumed from the start.</a:t>
            </a:r>
          </a:p>
          <a:p>
            <a:pPr>
              <a:lnSpc>
                <a:spcPct val="112000"/>
              </a:lnSpc>
              <a:spcAft>
                <a:spcPts val="1400"/>
              </a:spcAft>
            </a:pPr>
            <a:r>
              <a:rPr sz="1400" b="1" dirty="0">
                <a:solidFill>
                  <a:srgbClr val="2F5B49"/>
                </a:solidFill>
                <a:latin typeface="Calibri"/>
              </a:rPr>
              <a:t>•  </a:t>
            </a:r>
            <a:r>
              <a:rPr sz="1400" dirty="0">
                <a:solidFill>
                  <a:srgbClr val="4B564E"/>
                </a:solidFill>
                <a:latin typeface="Calibri"/>
              </a:rPr>
              <a:t>This was a real compliance gap in the spike's first version, not a nice-to-have.</a:t>
            </a:r>
          </a:p>
        </p:txBody>
      </p:sp>
      <p:sp>
        <p:nvSpPr>
          <p:cNvPr id="289" name="Takeaway 289"/>
          <p:cNvSpPr txBox="1"/>
          <p:nvPr/>
        </p:nvSpPr>
        <p:spPr>
          <a:xfrm>
            <a:off x="508000" y="1168400"/>
            <a:ext cx="10795000" cy="279400"/>
          </a:xfrm>
          <a:prstGeom prst="rect">
            <a:avLst/>
          </a:prstGeom>
          <a:noFill/>
        </p:spPr>
        <p:txBody>
          <a:bodyPr wrap="square" lIns="0" tIns="0" rIns="0" bIns="0" anchor="t">
            <a:spAutoFit/>
          </a:bodyPr>
          <a:lstStyle/>
          <a:p>
            <a:pPr algn="l">
              <a:lnSpc>
                <a:spcPct val="100000"/>
              </a:lnSpc>
            </a:pPr>
            <a:r>
              <a:rPr lang="en-GB" sz="1300" b="1" i="1" dirty="0">
                <a:solidFill>
                  <a:srgbClr val="4B564E"/>
                </a:solidFill>
                <a:latin typeface="Calibri"/>
              </a:rPr>
              <a:t>In plain words: </a:t>
            </a:r>
            <a:r>
              <a:rPr lang="en-GB" sz="1300" b="0" i="1" dirty="0">
                <a:solidFill>
                  <a:srgbClr val="4B564E"/>
                </a:solidFill>
                <a:latin typeface="Calibri"/>
              </a:rPr>
              <a:t>this one line labels the column as “geometry”. Without it, the file looked fine – but wasn't really GeoParquet 2.0.</a:t>
            </a:r>
          </a:p>
        </p:txBody>
      </p:sp>
    </p:spTree>
    <p:extLst>
      <p:ext uri="{BB962C8B-B14F-4D97-AF65-F5344CB8AC3E}">
        <p14:creationId xmlns:p14="http://schemas.microsoft.com/office/powerpoint/2010/main" val="8806883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9</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9935669"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GeoPackageToGeoParquet.java — proving it on real data</a:t>
            </a:r>
          </a:p>
        </p:txBody>
      </p:sp>
      <p:sp>
        <p:nvSpPr>
          <p:cNvPr id="2" name="TextBox 1">
            <a:extLst>
              <a:ext uri="{FF2B5EF4-FFF2-40B4-BE49-F238E27FC236}">
                <a16:creationId xmlns:a16="http://schemas.microsoft.com/office/drawing/2014/main" id="{35571149-79A7-C155-1276-6DE47EBD5678}"/>
              </a:ext>
            </a:extLst>
          </p:cNvPr>
          <p:cNvSpPr txBox="1"/>
          <p:nvPr/>
        </p:nvSpPr>
        <p:spPr>
          <a:xfrm>
            <a:off x="502920" y="1737360"/>
            <a:ext cx="6035040" cy="4206240"/>
          </a:xfrm>
          <a:prstGeom prst="rect">
            <a:avLst/>
          </a:prstGeom>
          <a:noFill/>
        </p:spPr>
        <p:txBody>
          <a:bodyPr wrap="square">
            <a:spAutoFit/>
          </a:bodyPr>
          <a:lstStyle/>
          <a:p>
            <a:pPr>
              <a:lnSpc>
                <a:spcPct val="112000"/>
              </a:lnSpc>
              <a:spcAft>
                <a:spcPts val="1600"/>
              </a:spcAft>
            </a:pPr>
            <a:r>
              <a:rPr sz="1650" b="1">
                <a:solidFill>
                  <a:srgbClr val="2F5B49"/>
                </a:solidFill>
                <a:latin typeface="Calibri"/>
              </a:rPr>
              <a:t>•  </a:t>
            </a:r>
            <a:r>
              <a:rPr sz="1650" b="1">
                <a:solidFill>
                  <a:srgbClr val="1A231E"/>
                </a:solidFill>
                <a:latin typeface="Calibri"/>
              </a:rPr>
              <a:t>Reads a real GeoPackage layer</a:t>
            </a:r>
            <a:r>
              <a:rPr sz="1650">
                <a:solidFill>
                  <a:srgbClr val="4B564E"/>
                </a:solidFill>
                <a:latin typeface="Calibri"/>
              </a:rPr>
              <a:t> over plain JDBC (org.xerial:sqlite-jdbc) — used only to load test input, not part of the write-path footprint.</a:t>
            </a:r>
          </a:p>
          <a:p>
            <a:pPr>
              <a:lnSpc>
                <a:spcPct val="112000"/>
              </a:lnSpc>
              <a:spcAft>
                <a:spcPts val="1600"/>
              </a:spcAft>
            </a:pPr>
            <a:r>
              <a:rPr sz="1650" b="1">
                <a:solidFill>
                  <a:srgbClr val="2F5B49"/>
                </a:solidFill>
                <a:latin typeface="Calibri"/>
              </a:rPr>
              <a:t>•  </a:t>
            </a:r>
            <a:r>
              <a:rPr sz="1650" b="1">
                <a:solidFill>
                  <a:srgbClr val="1A231E"/>
                </a:solidFill>
                <a:latin typeface="Calibri"/>
              </a:rPr>
              <a:t>Hand-parses GeoPackage's binary geometry header</a:t>
            </a:r>
            <a:r>
              <a:rPr sz="1650">
                <a:solidFill>
                  <a:srgbClr val="4B564E"/>
                </a:solidFill>
                <a:latin typeface="Calibri"/>
              </a:rPr>
              <a:t> (magic bytes, flags, SRS id, optional envelope) directly from the OGC spec to get at the raw WKB underneath.</a:t>
            </a:r>
          </a:p>
          <a:p>
            <a:pPr>
              <a:lnSpc>
                <a:spcPct val="112000"/>
              </a:lnSpc>
              <a:spcAft>
                <a:spcPts val="1600"/>
              </a:spcAft>
            </a:pPr>
            <a:r>
              <a:rPr sz="1650" b="1">
                <a:solidFill>
                  <a:srgbClr val="2F5B49"/>
                </a:solidFill>
                <a:latin typeface="Calibri"/>
              </a:rPr>
              <a:t>•  </a:t>
            </a:r>
            <a:r>
              <a:rPr sz="1650" b="1">
                <a:solidFill>
                  <a:srgbClr val="1A231E"/>
                </a:solidFill>
                <a:latin typeface="Calibri"/>
              </a:rPr>
              <a:t>Feeds those bytes through the exact same writer</a:t>
            </a:r>
            <a:r>
              <a:rPr sz="1650">
                <a:solidFill>
                  <a:srgbClr val="4B564E"/>
                </a:solidFill>
                <a:latin typeface="Calibri"/>
              </a:rPr>
              <a:t> as the synthetic demo — no separate code path.</a:t>
            </a:r>
          </a:p>
          <a:p>
            <a:pPr>
              <a:lnSpc>
                <a:spcPct val="112000"/>
              </a:lnSpc>
              <a:spcAft>
                <a:spcPts val="1600"/>
              </a:spcAft>
            </a:pPr>
            <a:r>
              <a:rPr sz="1650" b="1">
                <a:solidFill>
                  <a:srgbClr val="2F5B49"/>
                </a:solidFill>
                <a:latin typeface="Calibri"/>
              </a:rPr>
              <a:t>•  </a:t>
            </a:r>
            <a:r>
              <a:rPr sz="1650" b="1">
                <a:solidFill>
                  <a:srgbClr val="1A231E"/>
                </a:solidFill>
                <a:latin typeface="Calibri"/>
              </a:rPr>
              <a:t>Test data: </a:t>
            </a:r>
            <a:r>
              <a:rPr sz="1650">
                <a:solidFill>
                  <a:srgbClr val="4B564E"/>
                </a:solidFill>
                <a:latin typeface="Calibri"/>
              </a:rPr>
              <a:t>Bedrock_PLG layer, Swiss geological survey, EPSG:2056 (CH1903+ / LV95).</a:t>
            </a:r>
          </a:p>
        </p:txBody>
      </p:sp>
      <p:sp>
        <p:nvSpPr>
          <p:cNvPr id="3" name="Rectangle 2">
            <a:extLst>
              <a:ext uri="{FF2B5EF4-FFF2-40B4-BE49-F238E27FC236}">
                <a16:creationId xmlns:a16="http://schemas.microsoft.com/office/drawing/2014/main" id="{8D5FA8A4-1F31-7E61-6BCF-A43B1D4AFD40}"/>
              </a:ext>
            </a:extLst>
          </p:cNvPr>
          <p:cNvSpPr/>
          <p:nvPr/>
        </p:nvSpPr>
        <p:spPr>
          <a:xfrm>
            <a:off x="6492240" y="1828800"/>
            <a:ext cx="2491740" cy="9144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a:extLst>
              <a:ext uri="{FF2B5EF4-FFF2-40B4-BE49-F238E27FC236}">
                <a16:creationId xmlns:a16="http://schemas.microsoft.com/office/drawing/2014/main" id="{6311A543-22AD-224F-EB3D-4A99578445AA}"/>
              </a:ext>
            </a:extLst>
          </p:cNvPr>
          <p:cNvSpPr txBox="1"/>
          <p:nvPr/>
        </p:nvSpPr>
        <p:spPr>
          <a:xfrm>
            <a:off x="6675120" y="1901952"/>
            <a:ext cx="2194560" cy="457200"/>
          </a:xfrm>
          <a:prstGeom prst="rect">
            <a:avLst/>
          </a:prstGeom>
          <a:noFill/>
        </p:spPr>
        <p:txBody>
          <a:bodyPr wrap="square" lIns="0" tIns="0" rIns="0" bIns="0" anchor="t">
            <a:spAutoFit/>
          </a:bodyPr>
          <a:lstStyle/>
          <a:p>
            <a:pPr algn="l">
              <a:lnSpc>
                <a:spcPct val="100000"/>
              </a:lnSpc>
            </a:pPr>
            <a:r>
              <a:rPr sz="2600" b="1" i="0">
                <a:solidFill>
                  <a:srgbClr val="20402F"/>
                </a:solidFill>
                <a:latin typeface="Consolas"/>
              </a:rPr>
              <a:t>1,097</a:t>
            </a:r>
          </a:p>
        </p:txBody>
      </p:sp>
      <p:sp>
        <p:nvSpPr>
          <p:cNvPr id="5" name="TextBox 4">
            <a:extLst>
              <a:ext uri="{FF2B5EF4-FFF2-40B4-BE49-F238E27FC236}">
                <a16:creationId xmlns:a16="http://schemas.microsoft.com/office/drawing/2014/main" id="{2F44C23A-F261-CDF1-A82C-45A852E61732}"/>
              </a:ext>
            </a:extLst>
          </p:cNvPr>
          <p:cNvSpPr txBox="1"/>
          <p:nvPr/>
        </p:nvSpPr>
        <p:spPr>
          <a:xfrm>
            <a:off x="6675120" y="2395728"/>
            <a:ext cx="2194560" cy="320040"/>
          </a:xfrm>
          <a:prstGeom prst="rect">
            <a:avLst/>
          </a:prstGeom>
          <a:noFill/>
        </p:spPr>
        <p:txBody>
          <a:bodyPr wrap="square" lIns="0" tIns="0" rIns="0" bIns="0" anchor="t">
            <a:spAutoFit/>
          </a:bodyPr>
          <a:lstStyle/>
          <a:p>
            <a:pPr algn="l">
              <a:lnSpc>
                <a:spcPct val="100000"/>
              </a:lnSpc>
            </a:pPr>
            <a:r>
              <a:rPr sz="1150" b="0" i="0">
                <a:solidFill>
                  <a:srgbClr val="4B564E"/>
                </a:solidFill>
                <a:latin typeface="Calibri"/>
              </a:rPr>
              <a:t>real polygon features</a:t>
            </a:r>
          </a:p>
        </p:txBody>
      </p:sp>
      <p:sp>
        <p:nvSpPr>
          <p:cNvPr id="6" name="Rectangle 5">
            <a:extLst>
              <a:ext uri="{FF2B5EF4-FFF2-40B4-BE49-F238E27FC236}">
                <a16:creationId xmlns:a16="http://schemas.microsoft.com/office/drawing/2014/main" id="{54B3856A-1518-2A43-2034-36055A0D3FB5}"/>
              </a:ext>
            </a:extLst>
          </p:cNvPr>
          <p:cNvSpPr/>
          <p:nvPr/>
        </p:nvSpPr>
        <p:spPr>
          <a:xfrm>
            <a:off x="9121140" y="1828800"/>
            <a:ext cx="2491740" cy="9144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a:extLst>
              <a:ext uri="{FF2B5EF4-FFF2-40B4-BE49-F238E27FC236}">
                <a16:creationId xmlns:a16="http://schemas.microsoft.com/office/drawing/2014/main" id="{F5BF7D5D-3C58-19F4-5303-1F70F9A308AA}"/>
              </a:ext>
            </a:extLst>
          </p:cNvPr>
          <p:cNvSpPr txBox="1"/>
          <p:nvPr/>
        </p:nvSpPr>
        <p:spPr>
          <a:xfrm>
            <a:off x="9304020" y="1901952"/>
            <a:ext cx="2194560" cy="457200"/>
          </a:xfrm>
          <a:prstGeom prst="rect">
            <a:avLst/>
          </a:prstGeom>
          <a:noFill/>
        </p:spPr>
        <p:txBody>
          <a:bodyPr wrap="square" lIns="0" tIns="0" rIns="0" bIns="0" anchor="t">
            <a:spAutoFit/>
          </a:bodyPr>
          <a:lstStyle/>
          <a:p>
            <a:pPr algn="l">
              <a:lnSpc>
                <a:spcPct val="100000"/>
              </a:lnSpc>
            </a:pPr>
            <a:r>
              <a:rPr sz="2600" b="1" i="0">
                <a:solidFill>
                  <a:srgbClr val="20402F"/>
                </a:solidFill>
                <a:latin typeface="Consolas"/>
              </a:rPr>
              <a:t>2.77 MB</a:t>
            </a:r>
          </a:p>
        </p:txBody>
      </p:sp>
      <p:sp>
        <p:nvSpPr>
          <p:cNvPr id="10" name="TextBox 9">
            <a:extLst>
              <a:ext uri="{FF2B5EF4-FFF2-40B4-BE49-F238E27FC236}">
                <a16:creationId xmlns:a16="http://schemas.microsoft.com/office/drawing/2014/main" id="{8AFE4FC2-3147-4258-3E70-09A78950B2BE}"/>
              </a:ext>
            </a:extLst>
          </p:cNvPr>
          <p:cNvSpPr txBox="1"/>
          <p:nvPr/>
        </p:nvSpPr>
        <p:spPr>
          <a:xfrm>
            <a:off x="9304020" y="2395728"/>
            <a:ext cx="2194560" cy="320040"/>
          </a:xfrm>
          <a:prstGeom prst="rect">
            <a:avLst/>
          </a:prstGeom>
          <a:noFill/>
        </p:spPr>
        <p:txBody>
          <a:bodyPr wrap="square" lIns="0" tIns="0" rIns="0" bIns="0" anchor="t">
            <a:spAutoFit/>
          </a:bodyPr>
          <a:lstStyle/>
          <a:p>
            <a:pPr algn="l">
              <a:lnSpc>
                <a:spcPct val="100000"/>
              </a:lnSpc>
            </a:pPr>
            <a:r>
              <a:rPr sz="1150" b="0" i="0">
                <a:solidFill>
                  <a:srgbClr val="4B564E"/>
                </a:solidFill>
                <a:latin typeface="Calibri"/>
              </a:rPr>
              <a:t>uncompressed output</a:t>
            </a:r>
          </a:p>
        </p:txBody>
      </p:sp>
      <p:sp>
        <p:nvSpPr>
          <p:cNvPr id="11" name="Rectangle 10">
            <a:extLst>
              <a:ext uri="{FF2B5EF4-FFF2-40B4-BE49-F238E27FC236}">
                <a16:creationId xmlns:a16="http://schemas.microsoft.com/office/drawing/2014/main" id="{BCBABB71-5CA8-0FB3-532E-A874F2E6C26D}"/>
              </a:ext>
            </a:extLst>
          </p:cNvPr>
          <p:cNvSpPr/>
          <p:nvPr/>
        </p:nvSpPr>
        <p:spPr>
          <a:xfrm>
            <a:off x="6492240" y="2880360"/>
            <a:ext cx="2491740" cy="9144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a:extLst>
              <a:ext uri="{FF2B5EF4-FFF2-40B4-BE49-F238E27FC236}">
                <a16:creationId xmlns:a16="http://schemas.microsoft.com/office/drawing/2014/main" id="{D15E4EC6-A72E-E993-E673-861B7C214A16}"/>
              </a:ext>
            </a:extLst>
          </p:cNvPr>
          <p:cNvSpPr txBox="1"/>
          <p:nvPr/>
        </p:nvSpPr>
        <p:spPr>
          <a:xfrm>
            <a:off x="6675120" y="2953512"/>
            <a:ext cx="2194560" cy="457200"/>
          </a:xfrm>
          <a:prstGeom prst="rect">
            <a:avLst/>
          </a:prstGeom>
          <a:noFill/>
        </p:spPr>
        <p:txBody>
          <a:bodyPr wrap="square" lIns="0" tIns="0" rIns="0" bIns="0" anchor="t">
            <a:spAutoFit/>
          </a:bodyPr>
          <a:lstStyle/>
          <a:p>
            <a:pPr algn="l">
              <a:lnSpc>
                <a:spcPct val="100000"/>
              </a:lnSpc>
            </a:pPr>
            <a:r>
              <a:rPr sz="2600" b="1" i="0">
                <a:solidFill>
                  <a:srgbClr val="20402F"/>
                </a:solidFill>
                <a:latin typeface="Consolas"/>
              </a:rPr>
              <a:t>14</a:t>
            </a:r>
          </a:p>
        </p:txBody>
      </p:sp>
      <p:sp>
        <p:nvSpPr>
          <p:cNvPr id="13" name="TextBox 12">
            <a:extLst>
              <a:ext uri="{FF2B5EF4-FFF2-40B4-BE49-F238E27FC236}">
                <a16:creationId xmlns:a16="http://schemas.microsoft.com/office/drawing/2014/main" id="{B7A7F812-6626-1357-B0C7-0611BB5A4118}"/>
              </a:ext>
            </a:extLst>
          </p:cNvPr>
          <p:cNvSpPr txBox="1"/>
          <p:nvPr/>
        </p:nvSpPr>
        <p:spPr>
          <a:xfrm>
            <a:off x="6675120" y="3447288"/>
            <a:ext cx="2194560" cy="320040"/>
          </a:xfrm>
          <a:prstGeom prst="rect">
            <a:avLst/>
          </a:prstGeom>
          <a:noFill/>
        </p:spPr>
        <p:txBody>
          <a:bodyPr wrap="square" lIns="0" tIns="0" rIns="0" bIns="0" anchor="t">
            <a:spAutoFit/>
          </a:bodyPr>
          <a:lstStyle/>
          <a:p>
            <a:pPr algn="l">
              <a:lnSpc>
                <a:spcPct val="100000"/>
              </a:lnSpc>
            </a:pPr>
            <a:r>
              <a:rPr sz="1150" b="0" i="0">
                <a:solidFill>
                  <a:srgbClr val="4B564E"/>
                </a:solidFill>
                <a:latin typeface="Calibri"/>
              </a:rPr>
              <a:t>text attribute columns, incl. UUIDs + non-ASCII</a:t>
            </a:r>
          </a:p>
        </p:txBody>
      </p:sp>
      <p:sp>
        <p:nvSpPr>
          <p:cNvPr id="14" name="Rectangle 13">
            <a:extLst>
              <a:ext uri="{FF2B5EF4-FFF2-40B4-BE49-F238E27FC236}">
                <a16:creationId xmlns:a16="http://schemas.microsoft.com/office/drawing/2014/main" id="{964DA586-C3C4-6BD9-FF01-69C39DC2A3AC}"/>
              </a:ext>
            </a:extLst>
          </p:cNvPr>
          <p:cNvSpPr/>
          <p:nvPr/>
        </p:nvSpPr>
        <p:spPr>
          <a:xfrm>
            <a:off x="9121140" y="2880360"/>
            <a:ext cx="2491740" cy="914400"/>
          </a:xfrm>
          <a:prstGeom prst="rect">
            <a:avLst/>
          </a:prstGeom>
          <a:solidFill>
            <a:srgbClr val="FFFFFF"/>
          </a:solidFill>
          <a:ln w="9525">
            <a:solidFill>
              <a:srgbClr val="AAB49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a:extLst>
              <a:ext uri="{FF2B5EF4-FFF2-40B4-BE49-F238E27FC236}">
                <a16:creationId xmlns:a16="http://schemas.microsoft.com/office/drawing/2014/main" id="{68973EA8-6D66-3C89-22E6-F075412BF7B2}"/>
              </a:ext>
            </a:extLst>
          </p:cNvPr>
          <p:cNvSpPr txBox="1"/>
          <p:nvPr/>
        </p:nvSpPr>
        <p:spPr>
          <a:xfrm>
            <a:off x="9304020" y="2953512"/>
            <a:ext cx="2194560" cy="457200"/>
          </a:xfrm>
          <a:prstGeom prst="rect">
            <a:avLst/>
          </a:prstGeom>
          <a:noFill/>
        </p:spPr>
        <p:txBody>
          <a:bodyPr wrap="square" lIns="0" tIns="0" rIns="0" bIns="0" anchor="t">
            <a:spAutoFit/>
          </a:bodyPr>
          <a:lstStyle/>
          <a:p>
            <a:pPr algn="l">
              <a:lnSpc>
                <a:spcPct val="100000"/>
              </a:lnSpc>
            </a:pPr>
            <a:r>
              <a:rPr sz="2600" b="1" i="0">
                <a:solidFill>
                  <a:srgbClr val="20402F"/>
                </a:solidFill>
                <a:latin typeface="Consolas"/>
              </a:rPr>
              <a:t>0</a:t>
            </a:r>
          </a:p>
        </p:txBody>
      </p:sp>
      <p:sp>
        <p:nvSpPr>
          <p:cNvPr id="16" name="TextBox 15">
            <a:extLst>
              <a:ext uri="{FF2B5EF4-FFF2-40B4-BE49-F238E27FC236}">
                <a16:creationId xmlns:a16="http://schemas.microsoft.com/office/drawing/2014/main" id="{FD4A0D7D-DCAE-9EC0-EDCF-E974F2649C8A}"/>
              </a:ext>
            </a:extLst>
          </p:cNvPr>
          <p:cNvSpPr txBox="1"/>
          <p:nvPr/>
        </p:nvSpPr>
        <p:spPr>
          <a:xfrm>
            <a:off x="9304020" y="3447288"/>
            <a:ext cx="2194560" cy="320040"/>
          </a:xfrm>
          <a:prstGeom prst="rect">
            <a:avLst/>
          </a:prstGeom>
          <a:noFill/>
        </p:spPr>
        <p:txBody>
          <a:bodyPr wrap="square" lIns="0" tIns="0" rIns="0" bIns="0" anchor="t">
            <a:spAutoFit/>
          </a:bodyPr>
          <a:lstStyle/>
          <a:p>
            <a:pPr algn="l">
              <a:lnSpc>
                <a:spcPct val="100000"/>
              </a:lnSpc>
            </a:pPr>
            <a:r>
              <a:rPr sz="1150" b="0" i="0">
                <a:solidFill>
                  <a:srgbClr val="4B564E"/>
                </a:solidFill>
                <a:latin typeface="Calibri"/>
              </a:rPr>
              <a:t>Hadoop classes touched at runtime</a:t>
            </a:r>
          </a:p>
        </p:txBody>
      </p:sp>
      <p:sp>
        <p:nvSpPr>
          <p:cNvPr id="17" name="TextBox 16">
            <a:extLst>
              <a:ext uri="{FF2B5EF4-FFF2-40B4-BE49-F238E27FC236}">
                <a16:creationId xmlns:a16="http://schemas.microsoft.com/office/drawing/2014/main" id="{6685C9B8-AC5C-C3A0-7762-E70A3B1213DC}"/>
              </a:ext>
            </a:extLst>
          </p:cNvPr>
          <p:cNvSpPr txBox="1"/>
          <p:nvPr/>
        </p:nvSpPr>
        <p:spPr>
          <a:xfrm>
            <a:off x="6492240" y="4023360"/>
            <a:ext cx="5120640" cy="1737360"/>
          </a:xfrm>
          <a:prstGeom prst="rect">
            <a:avLst/>
          </a:prstGeom>
          <a:noFill/>
        </p:spPr>
        <p:txBody>
          <a:bodyPr wrap="square" lIns="0" tIns="0" rIns="0" bIns="0" anchor="t">
            <a:spAutoFit/>
          </a:bodyPr>
          <a:lstStyle/>
          <a:p>
            <a:pPr algn="l">
              <a:lnSpc>
                <a:spcPct val="130000"/>
              </a:lnSpc>
            </a:pPr>
            <a:r>
              <a:rPr sz="1500" b="0" i="1">
                <a:solidFill>
                  <a:srgbClr val="4B564E"/>
                </a:solidFill>
                <a:latin typeface="Calibri"/>
              </a:rPr>
              <a:t>All 1,097 rows read back correctly — including non-ASCII attribute text like “Aalénien” — through DuckDB, independently of this spike's own writer code.</a:t>
            </a:r>
          </a:p>
        </p:txBody>
      </p:sp>
      <p:sp>
        <p:nvSpPr>
          <p:cNvPr id="289" name="Takeaway 289"/>
          <p:cNvSpPr txBox="1"/>
          <p:nvPr/>
        </p:nvSpPr>
        <p:spPr>
          <a:xfrm>
            <a:off x="508000" y="1168400"/>
            <a:ext cx="10795000" cy="279400"/>
          </a:xfrm>
          <a:prstGeom prst="rect">
            <a:avLst/>
          </a:prstGeom>
          <a:noFill/>
        </p:spPr>
        <p:txBody>
          <a:bodyPr wrap="square" lIns="0" tIns="0" rIns="0" bIns="0" anchor="t">
            <a:spAutoFit/>
          </a:bodyPr>
          <a:lstStyle/>
          <a:p>
            <a:pPr algn="l">
              <a:lnSpc>
                <a:spcPct val="100000"/>
              </a:lnSpc>
            </a:pPr>
            <a:r>
              <a:rPr lang="en-GB" sz="1300" b="1" i="1" dirty="0">
                <a:solidFill>
                  <a:srgbClr val="4B564E"/>
                </a:solidFill>
                <a:latin typeface="Calibri"/>
              </a:rPr>
              <a:t>In plain words: </a:t>
            </a:r>
            <a:r>
              <a:rPr lang="en-GB" sz="1300" b="0" i="1" dirty="0">
                <a:solidFill>
                  <a:srgbClr val="4B564E"/>
                </a:solidFill>
                <a:latin typeface="Calibri"/>
              </a:rPr>
              <a:t>we didn't stop at made-up examples – real Swiss geology data went in, and all 1,097 rows came out correct.</a:t>
            </a:r>
          </a:p>
        </p:txBody>
      </p:sp>
    </p:spTree>
    <p:extLst>
      <p:ext uri="{BB962C8B-B14F-4D97-AF65-F5344CB8AC3E}">
        <p14:creationId xmlns:p14="http://schemas.microsoft.com/office/powerpoint/2010/main" val="240717882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10</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6171561"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What running it actually taught us</a:t>
            </a:r>
          </a:p>
        </p:txBody>
      </p:sp>
      <p:sp>
        <p:nvSpPr>
          <p:cNvPr id="2" name="Rectangle 1">
            <a:extLst>
              <a:ext uri="{FF2B5EF4-FFF2-40B4-BE49-F238E27FC236}">
                <a16:creationId xmlns:a16="http://schemas.microsoft.com/office/drawing/2014/main" id="{033DC04C-DA3D-18C1-ABEA-1D19E0AE92E1}"/>
              </a:ext>
            </a:extLst>
          </p:cNvPr>
          <p:cNvSpPr/>
          <p:nvPr/>
        </p:nvSpPr>
        <p:spPr>
          <a:xfrm>
            <a:off x="502920" y="169164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3" name="Rounded Rectangle 5">
            <a:extLst>
              <a:ext uri="{FF2B5EF4-FFF2-40B4-BE49-F238E27FC236}">
                <a16:creationId xmlns:a16="http://schemas.microsoft.com/office/drawing/2014/main" id="{2041772C-A43B-9273-6D4C-83EE3793BA44}"/>
              </a:ext>
            </a:extLst>
          </p:cNvPr>
          <p:cNvSpPr/>
          <p:nvPr/>
        </p:nvSpPr>
        <p:spPr>
          <a:xfrm>
            <a:off x="685800" y="1856232"/>
            <a:ext cx="1051560" cy="292608"/>
          </a:xfrm>
          <a:prstGeom prst="roundRect">
            <a:avLst>
              <a:gd name="adj" fmla="val 50000"/>
            </a:avLst>
          </a:prstGeom>
          <a:ln/>
        </p:spPr>
        <p:style>
          <a:lnRef idx="1">
            <a:schemeClr val="accent6"/>
          </a:lnRef>
          <a:fillRef idx="2">
            <a:schemeClr val="accent6"/>
          </a:fillRef>
          <a:effectRef idx="1">
            <a:schemeClr val="accent6"/>
          </a:effectRef>
          <a:fontRef idx="minor">
            <a:schemeClr val="dk1"/>
          </a:fontRef>
        </p:style>
        <p:txBody>
          <a:bodyPr lIns="50800" tIns="12700" rIns="50800" bIns="12700" rtlCol="0" anchor="ctr"/>
          <a:lstStyle/>
          <a:p>
            <a:pPr algn="ctr"/>
            <a:r>
              <a:rPr sz="1100" b="1">
                <a:solidFill>
                  <a:srgbClr val="20402F"/>
                </a:solidFill>
                <a:latin typeface="Calibri"/>
              </a:rPr>
              <a:t>FIXED</a:t>
            </a:r>
          </a:p>
        </p:txBody>
      </p:sp>
      <p:sp>
        <p:nvSpPr>
          <p:cNvPr id="4" name="TextBox 3">
            <a:extLst>
              <a:ext uri="{FF2B5EF4-FFF2-40B4-BE49-F238E27FC236}">
                <a16:creationId xmlns:a16="http://schemas.microsoft.com/office/drawing/2014/main" id="{30B9F3E1-B8EC-665C-71EB-E58074E5A507}"/>
              </a:ext>
            </a:extLst>
          </p:cNvPr>
          <p:cNvSpPr txBox="1"/>
          <p:nvPr/>
        </p:nvSpPr>
        <p:spPr>
          <a:xfrm>
            <a:off x="685800" y="228600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Plain WKB wasn't 2.0-compliant</a:t>
            </a:r>
          </a:p>
        </p:txBody>
      </p:sp>
      <p:sp>
        <p:nvSpPr>
          <p:cNvPr id="5" name="TextBox 4">
            <a:extLst>
              <a:ext uri="{FF2B5EF4-FFF2-40B4-BE49-F238E27FC236}">
                <a16:creationId xmlns:a16="http://schemas.microsoft.com/office/drawing/2014/main" id="{60675912-9AEC-A703-E145-A18ED73D778A}"/>
              </a:ext>
            </a:extLst>
          </p:cNvPr>
          <p:cNvSpPr txBox="1"/>
          <p:nvPr/>
        </p:nvSpPr>
        <p:spPr>
          <a:xfrm>
            <a:off x="685800" y="283464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The obvious approach (WKB + file metadata only) is the old 1.x convention. Fixed once found — no library upgrade needed.</a:t>
            </a:r>
          </a:p>
        </p:txBody>
      </p:sp>
      <p:sp>
        <p:nvSpPr>
          <p:cNvPr id="6" name="Rectangle 5">
            <a:extLst>
              <a:ext uri="{FF2B5EF4-FFF2-40B4-BE49-F238E27FC236}">
                <a16:creationId xmlns:a16="http://schemas.microsoft.com/office/drawing/2014/main" id="{408AD3FB-C197-3C00-67D5-7B45141675FA}"/>
              </a:ext>
            </a:extLst>
          </p:cNvPr>
          <p:cNvSpPr/>
          <p:nvPr/>
        </p:nvSpPr>
        <p:spPr>
          <a:xfrm>
            <a:off x="4322978" y="169164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9" name="Rounded Rectangle 9">
            <a:extLst>
              <a:ext uri="{FF2B5EF4-FFF2-40B4-BE49-F238E27FC236}">
                <a16:creationId xmlns:a16="http://schemas.microsoft.com/office/drawing/2014/main" id="{CC1326EF-65B5-B957-2193-54D124F99207}"/>
              </a:ext>
            </a:extLst>
          </p:cNvPr>
          <p:cNvSpPr/>
          <p:nvPr/>
        </p:nvSpPr>
        <p:spPr>
          <a:xfrm>
            <a:off x="4505858" y="1856232"/>
            <a:ext cx="1051560" cy="292608"/>
          </a:xfrm>
          <a:prstGeom prst="roundRect">
            <a:avLst>
              <a:gd name="adj" fmla="val 50000"/>
            </a:avLst>
          </a:prstGeom>
          <a:ln/>
        </p:spPr>
        <p:style>
          <a:lnRef idx="1">
            <a:schemeClr val="accent2"/>
          </a:lnRef>
          <a:fillRef idx="2">
            <a:schemeClr val="accent2"/>
          </a:fillRef>
          <a:effectRef idx="1">
            <a:schemeClr val="accent2"/>
          </a:effectRef>
          <a:fontRef idx="minor">
            <a:schemeClr val="dk1"/>
          </a:fontRef>
        </p:style>
        <p:txBody>
          <a:bodyPr lIns="50800" tIns="12700" rIns="50800" bIns="12700" rtlCol="0" anchor="ctr"/>
          <a:lstStyle/>
          <a:p>
            <a:pPr algn="ctr"/>
            <a:r>
              <a:rPr sz="1100" b="1" dirty="0">
                <a:solidFill>
                  <a:srgbClr val="7E3D19"/>
                </a:solidFill>
                <a:latin typeface="Calibri"/>
              </a:rPr>
              <a:t>RISK</a:t>
            </a:r>
          </a:p>
        </p:txBody>
      </p:sp>
      <p:sp>
        <p:nvSpPr>
          <p:cNvPr id="10" name="TextBox 9">
            <a:extLst>
              <a:ext uri="{FF2B5EF4-FFF2-40B4-BE49-F238E27FC236}">
                <a16:creationId xmlns:a16="http://schemas.microsoft.com/office/drawing/2014/main" id="{C62E73C6-3CE7-699B-9ED8-4DCDFCF1EA37}"/>
              </a:ext>
            </a:extLst>
          </p:cNvPr>
          <p:cNvSpPr txBox="1"/>
          <p:nvPr/>
        </p:nvSpPr>
        <p:spPr>
          <a:xfrm>
            <a:off x="4505858" y="228600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Compression drags Hadoop back in</a:t>
            </a:r>
          </a:p>
        </p:txBody>
      </p:sp>
      <p:sp>
        <p:nvSpPr>
          <p:cNvPr id="11" name="TextBox 10">
            <a:extLst>
              <a:ext uri="{FF2B5EF4-FFF2-40B4-BE49-F238E27FC236}">
                <a16:creationId xmlns:a16="http://schemas.microsoft.com/office/drawing/2014/main" id="{1FBE8DF3-5B52-3F9E-55E5-7AD3220D75E7}"/>
              </a:ext>
            </a:extLst>
          </p:cNvPr>
          <p:cNvSpPr txBox="1"/>
          <p:nvPr/>
        </p:nvSpPr>
        <p:spPr>
          <a:xfrm>
            <a:off x="4505858" y="283464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Every codec except UNCOMPRESSED — GZIP included — makes parquet-hadoop construct a real Hadoop Configuration internally.</a:t>
            </a:r>
          </a:p>
        </p:txBody>
      </p:sp>
      <p:sp>
        <p:nvSpPr>
          <p:cNvPr id="12" name="Rectangle 11">
            <a:extLst>
              <a:ext uri="{FF2B5EF4-FFF2-40B4-BE49-F238E27FC236}">
                <a16:creationId xmlns:a16="http://schemas.microsoft.com/office/drawing/2014/main" id="{B4D95209-70BE-0780-4675-E2358C606A81}"/>
              </a:ext>
            </a:extLst>
          </p:cNvPr>
          <p:cNvSpPr/>
          <p:nvPr/>
        </p:nvSpPr>
        <p:spPr>
          <a:xfrm>
            <a:off x="8143036" y="169164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13" name="Rounded Rectangle 13">
            <a:extLst>
              <a:ext uri="{FF2B5EF4-FFF2-40B4-BE49-F238E27FC236}">
                <a16:creationId xmlns:a16="http://schemas.microsoft.com/office/drawing/2014/main" id="{36745F2F-1679-E7F8-DF3A-6BE22BB43C7F}"/>
              </a:ext>
            </a:extLst>
          </p:cNvPr>
          <p:cNvSpPr/>
          <p:nvPr/>
        </p:nvSpPr>
        <p:spPr>
          <a:xfrm>
            <a:off x="8325916" y="1856232"/>
            <a:ext cx="1051560" cy="292608"/>
          </a:xfrm>
          <a:prstGeom prst="roundRect">
            <a:avLst>
              <a:gd name="adj" fmla="val 50000"/>
            </a:avLst>
          </a:prstGeom>
          <a:ln/>
        </p:spPr>
        <p:style>
          <a:lnRef idx="1">
            <a:schemeClr val="accent6"/>
          </a:lnRef>
          <a:fillRef idx="2">
            <a:schemeClr val="accent6"/>
          </a:fillRef>
          <a:effectRef idx="1">
            <a:schemeClr val="accent6"/>
          </a:effectRef>
          <a:fontRef idx="minor">
            <a:schemeClr val="dk1"/>
          </a:fontRef>
        </p:style>
        <p:txBody>
          <a:bodyPr lIns="50800" tIns="12700" rIns="50800" bIns="12700" rtlCol="0" anchor="ctr"/>
          <a:lstStyle/>
          <a:p>
            <a:pPr algn="ctr"/>
            <a:r>
              <a:rPr sz="1100" b="1">
                <a:solidFill>
                  <a:srgbClr val="20402F"/>
                </a:solidFill>
                <a:latin typeface="Calibri"/>
              </a:rPr>
              <a:t>FIXED</a:t>
            </a:r>
          </a:p>
        </p:txBody>
      </p:sp>
      <p:sp>
        <p:nvSpPr>
          <p:cNvPr id="14" name="TextBox 13">
            <a:extLst>
              <a:ext uri="{FF2B5EF4-FFF2-40B4-BE49-F238E27FC236}">
                <a16:creationId xmlns:a16="http://schemas.microsoft.com/office/drawing/2014/main" id="{92EDBF44-DA88-4C65-FC6A-6B9AAF43C0C5}"/>
              </a:ext>
            </a:extLst>
          </p:cNvPr>
          <p:cNvSpPr txBox="1"/>
          <p:nvPr/>
        </p:nvSpPr>
        <p:spPr>
          <a:xfrm>
            <a:off x="8325916" y="228600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OSGi bundling needed real testing</a:t>
            </a:r>
          </a:p>
        </p:txBody>
      </p:sp>
      <p:sp>
        <p:nvSpPr>
          <p:cNvPr id="15" name="TextBox 14">
            <a:extLst>
              <a:ext uri="{FF2B5EF4-FFF2-40B4-BE49-F238E27FC236}">
                <a16:creationId xmlns:a16="http://schemas.microsoft.com/office/drawing/2014/main" id="{010F12ED-B17C-2E40-5526-CFE308E66BCC}"/>
              </a:ext>
            </a:extLst>
          </p:cNvPr>
          <p:cNvSpPr txBox="1"/>
          <p:nvPr/>
        </p:nvSpPr>
        <p:spPr>
          <a:xfrm>
            <a:off x="8325916" y="283464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Built an actual bundle with hale's own tooling. Found hard, unresolvable imports on Hadoop/Snappy/Zstd — fixed by marking them optional.</a:t>
            </a:r>
          </a:p>
        </p:txBody>
      </p:sp>
      <p:sp>
        <p:nvSpPr>
          <p:cNvPr id="16" name="Rectangle 15">
            <a:extLst>
              <a:ext uri="{FF2B5EF4-FFF2-40B4-BE49-F238E27FC236}">
                <a16:creationId xmlns:a16="http://schemas.microsoft.com/office/drawing/2014/main" id="{6E8DCAD0-75D7-2D6B-F4B8-0295CA1FE4EB}"/>
              </a:ext>
            </a:extLst>
          </p:cNvPr>
          <p:cNvSpPr/>
          <p:nvPr/>
        </p:nvSpPr>
        <p:spPr>
          <a:xfrm>
            <a:off x="502920" y="406908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17" name="Rounded Rectangle 17">
            <a:extLst>
              <a:ext uri="{FF2B5EF4-FFF2-40B4-BE49-F238E27FC236}">
                <a16:creationId xmlns:a16="http://schemas.microsoft.com/office/drawing/2014/main" id="{DBF86583-A004-8C5C-C174-B4266D7FEBD5}"/>
              </a:ext>
            </a:extLst>
          </p:cNvPr>
          <p:cNvSpPr/>
          <p:nvPr/>
        </p:nvSpPr>
        <p:spPr>
          <a:xfrm>
            <a:off x="685800" y="4233672"/>
            <a:ext cx="1051560" cy="292608"/>
          </a:xfrm>
          <a:prstGeom prst="roundRect">
            <a:avLst>
              <a:gd name="adj" fmla="val 50000"/>
            </a:avLst>
          </a:prstGeom>
          <a:ln/>
        </p:spPr>
        <p:style>
          <a:lnRef idx="1">
            <a:schemeClr val="accent5"/>
          </a:lnRef>
          <a:fillRef idx="2">
            <a:schemeClr val="accent5"/>
          </a:fillRef>
          <a:effectRef idx="1">
            <a:schemeClr val="accent5"/>
          </a:effectRef>
          <a:fontRef idx="minor">
            <a:schemeClr val="dk1"/>
          </a:fontRef>
        </p:style>
        <p:txBody>
          <a:bodyPr lIns="50800" tIns="12700" rIns="50800" bIns="12700" rtlCol="0" anchor="ctr"/>
          <a:lstStyle/>
          <a:p>
            <a:pPr algn="ctr"/>
            <a:r>
              <a:rPr sz="1100" b="1">
                <a:solidFill>
                  <a:srgbClr val="4B564E"/>
                </a:solidFill>
                <a:latin typeface="Calibri"/>
              </a:rPr>
              <a:t>OPEN</a:t>
            </a:r>
          </a:p>
        </p:txBody>
      </p:sp>
      <p:sp>
        <p:nvSpPr>
          <p:cNvPr id="18" name="TextBox 17">
            <a:extLst>
              <a:ext uri="{FF2B5EF4-FFF2-40B4-BE49-F238E27FC236}">
                <a16:creationId xmlns:a16="http://schemas.microsoft.com/office/drawing/2014/main" id="{235744C2-33A4-6AEF-09D9-34160983A5F7}"/>
              </a:ext>
            </a:extLst>
          </p:cNvPr>
          <p:cNvSpPr txBox="1"/>
          <p:nvPr/>
        </p:nvSpPr>
        <p:spPr>
          <a:xfrm>
            <a:off x="685800" y="466344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One more manifest fix, unapplied</a:t>
            </a:r>
          </a:p>
        </p:txBody>
      </p:sp>
      <p:sp>
        <p:nvSpPr>
          <p:cNvPr id="19" name="TextBox 18">
            <a:extLst>
              <a:ext uri="{FF2B5EF4-FFF2-40B4-BE49-F238E27FC236}">
                <a16:creationId xmlns:a16="http://schemas.microsoft.com/office/drawing/2014/main" id="{FF5A7854-8FC1-884D-000E-7F12A82CCE70}"/>
              </a:ext>
            </a:extLst>
          </p:cNvPr>
          <p:cNvSpPr txBox="1"/>
          <p:nvPr/>
        </p:nvSpPr>
        <p:spPr>
          <a:xfrm>
            <a:off x="685800" y="521208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Parquet's own relocated Jackson classes aren't declared private — small, mechanical, identified but not done.</a:t>
            </a:r>
          </a:p>
        </p:txBody>
      </p:sp>
      <p:sp>
        <p:nvSpPr>
          <p:cNvPr id="20" name="Rectangle 19">
            <a:extLst>
              <a:ext uri="{FF2B5EF4-FFF2-40B4-BE49-F238E27FC236}">
                <a16:creationId xmlns:a16="http://schemas.microsoft.com/office/drawing/2014/main" id="{E8F32D79-7573-B975-19E9-5FA67FD6B041}"/>
              </a:ext>
            </a:extLst>
          </p:cNvPr>
          <p:cNvSpPr/>
          <p:nvPr/>
        </p:nvSpPr>
        <p:spPr>
          <a:xfrm>
            <a:off x="4322978" y="406908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21" name="Rounded Rectangle 21">
            <a:extLst>
              <a:ext uri="{FF2B5EF4-FFF2-40B4-BE49-F238E27FC236}">
                <a16:creationId xmlns:a16="http://schemas.microsoft.com/office/drawing/2014/main" id="{E8922BDA-2E31-4BAE-F432-FFB56C4AC230}"/>
              </a:ext>
            </a:extLst>
          </p:cNvPr>
          <p:cNvSpPr/>
          <p:nvPr/>
        </p:nvSpPr>
        <p:spPr>
          <a:xfrm>
            <a:off x="4505858" y="4233672"/>
            <a:ext cx="1051560" cy="292608"/>
          </a:xfrm>
          <a:prstGeom prst="roundRect">
            <a:avLst>
              <a:gd name="adj" fmla="val 50000"/>
            </a:avLst>
          </a:prstGeom>
          <a:ln/>
        </p:spPr>
        <p:style>
          <a:lnRef idx="1">
            <a:schemeClr val="accent5"/>
          </a:lnRef>
          <a:fillRef idx="2">
            <a:schemeClr val="accent5"/>
          </a:fillRef>
          <a:effectRef idx="1">
            <a:schemeClr val="accent5"/>
          </a:effectRef>
          <a:fontRef idx="minor">
            <a:schemeClr val="dk1"/>
          </a:fontRef>
        </p:style>
        <p:txBody>
          <a:bodyPr lIns="50800" tIns="12700" rIns="50800" bIns="12700" rtlCol="0" anchor="ctr"/>
          <a:lstStyle/>
          <a:p>
            <a:pPr algn="ctr"/>
            <a:r>
              <a:rPr sz="1100" b="1">
                <a:solidFill>
                  <a:srgbClr val="20402F"/>
                </a:solidFill>
                <a:latin typeface="Calibri"/>
              </a:rPr>
              <a:t>CONFIRMED</a:t>
            </a:r>
          </a:p>
        </p:txBody>
      </p:sp>
      <p:sp>
        <p:nvSpPr>
          <p:cNvPr id="22" name="TextBox 21">
            <a:extLst>
              <a:ext uri="{FF2B5EF4-FFF2-40B4-BE49-F238E27FC236}">
                <a16:creationId xmlns:a16="http://schemas.microsoft.com/office/drawing/2014/main" id="{34EDCA1F-E451-88DB-9173-F173246481AC}"/>
              </a:ext>
            </a:extLst>
          </p:cNvPr>
          <p:cNvSpPr txBox="1"/>
          <p:nvPr/>
        </p:nvSpPr>
        <p:spPr>
          <a:xfrm>
            <a:off x="4505858" y="466344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Real data, not just synthetic samples</a:t>
            </a:r>
          </a:p>
        </p:txBody>
      </p:sp>
      <p:sp>
        <p:nvSpPr>
          <p:cNvPr id="23" name="TextBox 22">
            <a:extLst>
              <a:ext uri="{FF2B5EF4-FFF2-40B4-BE49-F238E27FC236}">
                <a16:creationId xmlns:a16="http://schemas.microsoft.com/office/drawing/2014/main" id="{0E40DC44-5752-73E2-7448-E470B05D86C9}"/>
              </a:ext>
            </a:extLst>
          </p:cNvPr>
          <p:cNvSpPr txBox="1"/>
          <p:nvPr/>
        </p:nvSpPr>
        <p:spPr>
          <a:xfrm>
            <a:off x="4505858" y="521208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1,097 real polygons with non-ASCII text round-tripped correctly through an independent reader.</a:t>
            </a:r>
          </a:p>
        </p:txBody>
      </p:sp>
      <p:sp>
        <p:nvSpPr>
          <p:cNvPr id="24" name="Rectangle 23">
            <a:extLst>
              <a:ext uri="{FF2B5EF4-FFF2-40B4-BE49-F238E27FC236}">
                <a16:creationId xmlns:a16="http://schemas.microsoft.com/office/drawing/2014/main" id="{45D9559A-A344-6ED1-B9AD-B5C8D9E2B55B}"/>
              </a:ext>
            </a:extLst>
          </p:cNvPr>
          <p:cNvSpPr/>
          <p:nvPr/>
        </p:nvSpPr>
        <p:spPr>
          <a:xfrm>
            <a:off x="8143036" y="4069080"/>
            <a:ext cx="3545738" cy="214884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25" name="Rounded Rectangle 25">
            <a:extLst>
              <a:ext uri="{FF2B5EF4-FFF2-40B4-BE49-F238E27FC236}">
                <a16:creationId xmlns:a16="http://schemas.microsoft.com/office/drawing/2014/main" id="{53ADB24D-C707-76C3-0C0F-9CD8D8E4A1B9}"/>
              </a:ext>
            </a:extLst>
          </p:cNvPr>
          <p:cNvSpPr/>
          <p:nvPr/>
        </p:nvSpPr>
        <p:spPr>
          <a:xfrm>
            <a:off x="8325916" y="4233672"/>
            <a:ext cx="1051560" cy="292608"/>
          </a:xfrm>
          <a:prstGeom prst="roundRect">
            <a:avLst>
              <a:gd name="adj" fmla="val 50000"/>
            </a:avLst>
          </a:prstGeom>
          <a:ln/>
        </p:spPr>
        <p:style>
          <a:lnRef idx="1">
            <a:schemeClr val="accent5"/>
          </a:lnRef>
          <a:fillRef idx="2">
            <a:schemeClr val="accent5"/>
          </a:fillRef>
          <a:effectRef idx="1">
            <a:schemeClr val="accent5"/>
          </a:effectRef>
          <a:fontRef idx="minor">
            <a:schemeClr val="dk1"/>
          </a:fontRef>
        </p:style>
        <p:txBody>
          <a:bodyPr lIns="50800" tIns="12700" rIns="50800" bIns="12700" rtlCol="0" anchor="ctr"/>
          <a:lstStyle/>
          <a:p>
            <a:pPr algn="ctr"/>
            <a:r>
              <a:rPr sz="1100" b="1">
                <a:solidFill>
                  <a:srgbClr val="4B564E"/>
                </a:solidFill>
                <a:latin typeface="Calibri"/>
              </a:rPr>
              <a:t>OPEN</a:t>
            </a:r>
          </a:p>
        </p:txBody>
      </p:sp>
      <p:sp>
        <p:nvSpPr>
          <p:cNvPr id="26" name="TextBox 25">
            <a:extLst>
              <a:ext uri="{FF2B5EF4-FFF2-40B4-BE49-F238E27FC236}">
                <a16:creationId xmlns:a16="http://schemas.microsoft.com/office/drawing/2014/main" id="{95E28231-09FF-3379-42B4-014729D13225}"/>
              </a:ext>
            </a:extLst>
          </p:cNvPr>
          <p:cNvSpPr txBox="1"/>
          <p:nvPr/>
        </p:nvSpPr>
        <p:spPr>
          <a:xfrm>
            <a:off x="8325916" y="4663440"/>
            <a:ext cx="3179978" cy="502920"/>
          </a:xfrm>
          <a:prstGeom prst="rect">
            <a:avLst/>
          </a:prstGeom>
          <a:noFill/>
        </p:spPr>
        <p:txBody>
          <a:bodyPr wrap="square" lIns="0" tIns="0" rIns="0" bIns="0" anchor="t">
            <a:spAutoFit/>
          </a:bodyPr>
          <a:lstStyle/>
          <a:p>
            <a:pPr algn="l">
              <a:lnSpc>
                <a:spcPct val="105000"/>
              </a:lnSpc>
            </a:pPr>
            <a:r>
              <a:rPr sz="1350" b="1" i="0">
                <a:solidFill>
                  <a:srgbClr val="1A231E"/>
                </a:solidFill>
                <a:latin typeface="Calibri"/>
              </a:rPr>
              <a:t>CRS string convention unverified</a:t>
            </a:r>
          </a:p>
        </p:txBody>
      </p:sp>
      <p:sp>
        <p:nvSpPr>
          <p:cNvPr id="27" name="TextBox 26">
            <a:extLst>
              <a:ext uri="{FF2B5EF4-FFF2-40B4-BE49-F238E27FC236}">
                <a16:creationId xmlns:a16="http://schemas.microsoft.com/office/drawing/2014/main" id="{72DEC532-BE5D-1C7D-0A53-ECF2F26EA07F}"/>
              </a:ext>
            </a:extLst>
          </p:cNvPr>
          <p:cNvSpPr txBox="1"/>
          <p:nvPr/>
        </p:nvSpPr>
        <p:spPr>
          <a:xfrm>
            <a:off x="8325916" y="5212080"/>
            <a:ext cx="3179978" cy="868680"/>
          </a:xfrm>
          <a:prstGeom prst="rect">
            <a:avLst/>
          </a:prstGeom>
          <a:noFill/>
        </p:spPr>
        <p:txBody>
          <a:bodyPr wrap="square" lIns="0" tIns="0" rIns="0" bIns="0" anchor="t">
            <a:spAutoFit/>
          </a:bodyPr>
          <a:lstStyle/>
          <a:p>
            <a:pPr algn="l">
              <a:lnSpc>
                <a:spcPct val="115000"/>
              </a:lnSpc>
            </a:pPr>
            <a:r>
              <a:rPr sz="1150" b="0" i="0">
                <a:solidFill>
                  <a:srgbClr val="4B564E"/>
                </a:solidFill>
                <a:latin typeface="Calibri"/>
              </a:rPr>
              <a:t>The native logical type's crs field is left undefined by the spec itself — not checked against a reference writer yet.</a:t>
            </a:r>
          </a:p>
        </p:txBody>
      </p:sp>
    </p:spTree>
    <p:extLst>
      <p:ext uri="{BB962C8B-B14F-4D97-AF65-F5344CB8AC3E}">
        <p14:creationId xmlns:p14="http://schemas.microsoft.com/office/powerpoint/2010/main" val="25097136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11</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7134325" cy="584775"/>
          </a:xfrm>
          <a:prstGeom prst="rect">
            <a:avLst/>
          </a:prstGeom>
          <a:noFill/>
        </p:spPr>
        <p:txBody>
          <a:bodyPr wrap="none" rtlCol="0">
            <a:spAutoFit/>
          </a:bodyPr>
          <a:lstStyle/>
          <a:p>
            <a:r>
              <a:rPr lang="en-US" sz="3200" b="1" dirty="0">
                <a:solidFill>
                  <a:srgbClr val="51A1E9"/>
                </a:solidFill>
                <a:latin typeface="PT Sans" panose="020B0503020203020204" pitchFamily="34" charset="77"/>
              </a:rPr>
              <a:t>Pure-Java, non-Arrow options compared</a:t>
            </a:r>
          </a:p>
        </p:txBody>
      </p:sp>
      <p:graphicFrame>
        <p:nvGraphicFramePr>
          <p:cNvPr id="2" name="Table 1">
            <a:extLst>
              <a:ext uri="{FF2B5EF4-FFF2-40B4-BE49-F238E27FC236}">
                <a16:creationId xmlns:a16="http://schemas.microsoft.com/office/drawing/2014/main" id="{0E6813E7-B98E-D4D0-36BE-94F9148B98F5}"/>
              </a:ext>
            </a:extLst>
          </p:cNvPr>
          <p:cNvGraphicFramePr>
            <a:graphicFrameLocks noGrp="1"/>
          </p:cNvGraphicFramePr>
          <p:nvPr>
            <p:extLst>
              <p:ext uri="{D42A27DB-BD31-4B8C-83A1-F6EECF244321}">
                <p14:modId xmlns:p14="http://schemas.microsoft.com/office/powerpoint/2010/main" val="2622034322"/>
              </p:ext>
            </p:extLst>
          </p:nvPr>
        </p:nvGraphicFramePr>
        <p:xfrm>
          <a:off x="502920" y="1737360"/>
          <a:ext cx="11064240" cy="3968496"/>
        </p:xfrm>
        <a:graphic>
          <a:graphicData uri="http://schemas.openxmlformats.org/drawingml/2006/table">
            <a:tbl>
              <a:tblPr firstRow="1" bandRow="1">
                <a:tableStyleId>{7DF18680-E054-41AD-8BC1-D1AEF772440D}</a:tableStyleId>
              </a:tblPr>
              <a:tblGrid>
                <a:gridCol w="420624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5120640">
                  <a:extLst>
                    <a:ext uri="{9D8B030D-6E8A-4147-A177-3AD203B41FA5}">
                      <a16:colId xmlns:a16="http://schemas.microsoft.com/office/drawing/2014/main" val="20002"/>
                    </a:ext>
                  </a:extLst>
                </a:gridCol>
              </a:tblGrid>
              <a:tr h="566928">
                <a:tc>
                  <a:txBody>
                    <a:bodyPr/>
                    <a:lstStyle/>
                    <a:p>
                      <a:r>
                        <a:rPr sz="1350" b="1">
                          <a:solidFill>
                            <a:srgbClr val="FFFFFF"/>
                          </a:solidFill>
                        </a:rPr>
                        <a:t>Option</a:t>
                      </a:r>
                      <a:endParaRPr sz="1350" b="1">
                        <a:solidFill>
                          <a:srgbClr val="FFFFFF"/>
                        </a:solidFill>
                        <a:latin typeface="Calibri"/>
                      </a:endParaRPr>
                    </a:p>
                  </a:txBody>
                  <a:tcPr marL="101600" marR="101600" anchor="ctr"/>
                </a:tc>
                <a:tc>
                  <a:txBody>
                    <a:bodyPr/>
                    <a:lstStyle/>
                    <a:p>
                      <a:r>
                        <a:rPr sz="1350" b="1">
                          <a:solidFill>
                            <a:srgbClr val="FFFFFF"/>
                          </a:solidFill>
                        </a:rPr>
                        <a:t>License</a:t>
                      </a:r>
                      <a:endParaRPr sz="1350" b="1">
                        <a:solidFill>
                          <a:srgbClr val="FFFFFF"/>
                        </a:solidFill>
                        <a:latin typeface="Calibri"/>
                      </a:endParaRPr>
                    </a:p>
                  </a:txBody>
                  <a:tcPr marL="101600" marR="101600" anchor="ctr"/>
                </a:tc>
                <a:tc>
                  <a:txBody>
                    <a:bodyPr/>
                    <a:lstStyle/>
                    <a:p>
                      <a:r>
                        <a:rPr sz="1350" b="1">
                          <a:solidFill>
                            <a:srgbClr val="FFFFFF"/>
                          </a:solidFill>
                        </a:rPr>
                        <a:t>Verdict</a:t>
                      </a:r>
                      <a:endParaRPr sz="1350" b="1">
                        <a:solidFill>
                          <a:srgbClr val="FFFFFF"/>
                        </a:solidFill>
                        <a:latin typeface="Calibri"/>
                      </a:endParaRPr>
                    </a:p>
                  </a:txBody>
                  <a:tcPr marL="101600" marR="101600" anchor="ctr"/>
                </a:tc>
                <a:extLst>
                  <a:ext uri="{0D108BD9-81ED-4DB2-BD59-A6C34878D82A}">
                    <a16:rowId xmlns:a16="http://schemas.microsoft.com/office/drawing/2014/main" val="10000"/>
                  </a:ext>
                </a:extLst>
              </a:tr>
              <a:tr h="566928">
                <a:tc>
                  <a:txBody>
                    <a:bodyPr/>
                    <a:lstStyle/>
                    <a:p>
                      <a:r>
                        <a:rPr sz="1300" b="1">
                          <a:solidFill>
                            <a:srgbClr val="20402F"/>
                          </a:solidFill>
                        </a:rPr>
                        <a:t>parquet-java (direct)</a:t>
                      </a:r>
                      <a:endParaRPr sz="1300" b="1">
                        <a:solidFill>
                          <a:srgbClr val="20402F"/>
                        </a:solidFill>
                        <a:latin typeface="Calibri"/>
                      </a:endParaRPr>
                    </a:p>
                  </a:txBody>
                  <a:tcPr marL="101600" marR="101600" anchor="ctr"/>
                </a:tc>
                <a:tc>
                  <a:txBody>
                    <a:bodyPr/>
                    <a:lstStyle/>
                    <a:p>
                      <a:r>
                        <a:rPr sz="1300" b="0">
                          <a:solidFill>
                            <a:srgbClr val="20402F"/>
                          </a:solidFill>
                        </a:rPr>
                        <a:t>Apache-2.0</a:t>
                      </a:r>
                      <a:endParaRPr sz="1300" b="0">
                        <a:solidFill>
                          <a:srgbClr val="20402F"/>
                        </a:solidFill>
                        <a:latin typeface="Calibri"/>
                      </a:endParaRPr>
                    </a:p>
                  </a:txBody>
                  <a:tcPr marL="101600" marR="101600" anchor="ctr"/>
                </a:tc>
                <a:tc>
                  <a:txBody>
                    <a:bodyPr/>
                    <a:lstStyle/>
                    <a:p>
                      <a:r>
                        <a:rPr sz="1300" b="1">
                          <a:solidFill>
                            <a:srgbClr val="20402F"/>
                          </a:solidFill>
                        </a:rPr>
                        <a:t>Recommended — this spike</a:t>
                      </a:r>
                      <a:endParaRPr sz="1300" b="1">
                        <a:solidFill>
                          <a:srgbClr val="20402F"/>
                        </a:solidFill>
                        <a:latin typeface="Calibri"/>
                      </a:endParaRPr>
                    </a:p>
                  </a:txBody>
                  <a:tcPr marL="101600" marR="101600" anchor="ctr"/>
                </a:tc>
                <a:extLst>
                  <a:ext uri="{0D108BD9-81ED-4DB2-BD59-A6C34878D82A}">
                    <a16:rowId xmlns:a16="http://schemas.microsoft.com/office/drawing/2014/main" val="10001"/>
                  </a:ext>
                </a:extLst>
              </a:tr>
              <a:tr h="566928">
                <a:tc>
                  <a:txBody>
                    <a:bodyPr/>
                    <a:lstStyle/>
                    <a:p>
                      <a:r>
                        <a:rPr sz="1300" b="0">
                          <a:solidFill>
                            <a:srgbClr val="1A231E"/>
                          </a:solidFill>
                        </a:rPr>
                        <a:t>Carpet (com.jerolba)</a:t>
                      </a:r>
                      <a:endParaRPr sz="1300" b="0">
                        <a:solidFill>
                          <a:srgbClr val="1A231E"/>
                        </a:solidFill>
                        <a:latin typeface="Calibri"/>
                      </a:endParaRPr>
                    </a:p>
                  </a:txBody>
                  <a:tcPr marL="101600" marR="101600" anchor="ctr"/>
                </a:tc>
                <a:tc>
                  <a:txBody>
                    <a:bodyPr/>
                    <a:lstStyle/>
                    <a:p>
                      <a:r>
                        <a:rPr sz="1300" b="0">
                          <a:solidFill>
                            <a:srgbClr val="1A231E"/>
                          </a:solidFill>
                        </a:rPr>
                        <a:t>Apache-2.0</a:t>
                      </a:r>
                      <a:endParaRPr sz="1300" b="0">
                        <a:solidFill>
                          <a:srgbClr val="1A231E"/>
                        </a:solidFill>
                        <a:latin typeface="Calibri"/>
                      </a:endParaRPr>
                    </a:p>
                  </a:txBody>
                  <a:tcPr marL="101600" marR="101600" anchor="ctr"/>
                </a:tc>
                <a:tc>
                  <a:txBody>
                    <a:bodyPr/>
                    <a:lstStyle/>
                    <a:p>
                      <a:r>
                        <a:rPr sz="1300" b="0">
                          <a:solidFill>
                            <a:srgbClr val="1A231E"/>
                          </a:solidFill>
                        </a:rPr>
                        <a:t>Not recommended — quietly needs hadoop-common</a:t>
                      </a:r>
                      <a:endParaRPr sz="1300" b="0">
                        <a:solidFill>
                          <a:srgbClr val="1A231E"/>
                        </a:solidFill>
                        <a:latin typeface="Calibri"/>
                      </a:endParaRPr>
                    </a:p>
                  </a:txBody>
                  <a:tcPr marL="101600" marR="101600" anchor="ctr"/>
                </a:tc>
                <a:extLst>
                  <a:ext uri="{0D108BD9-81ED-4DB2-BD59-A6C34878D82A}">
                    <a16:rowId xmlns:a16="http://schemas.microsoft.com/office/drawing/2014/main" val="10002"/>
                  </a:ext>
                </a:extLst>
              </a:tr>
              <a:tr h="566928">
                <a:tc>
                  <a:txBody>
                    <a:bodyPr/>
                    <a:lstStyle/>
                    <a:p>
                      <a:r>
                        <a:rPr sz="1300" b="0">
                          <a:solidFill>
                            <a:srgbClr val="1A231E"/>
                          </a:solidFill>
                        </a:rPr>
                        <a:t>tileverse-io/parquetry</a:t>
                      </a:r>
                      <a:endParaRPr sz="1300" b="0">
                        <a:solidFill>
                          <a:srgbClr val="1A231E"/>
                        </a:solidFill>
                        <a:latin typeface="Calibri"/>
                      </a:endParaRPr>
                    </a:p>
                  </a:txBody>
                  <a:tcPr marL="101600" marR="101600" anchor="ctr"/>
                </a:tc>
                <a:tc>
                  <a:txBody>
                    <a:bodyPr/>
                    <a:lstStyle/>
                    <a:p>
                      <a:r>
                        <a:rPr sz="1300" b="0">
                          <a:solidFill>
                            <a:srgbClr val="1A231E"/>
                          </a:solidFill>
                        </a:rPr>
                        <a:t>Apache-2.0</a:t>
                      </a:r>
                      <a:endParaRPr sz="1300" b="0">
                        <a:solidFill>
                          <a:srgbClr val="1A231E"/>
                        </a:solidFill>
                        <a:latin typeface="Calibri"/>
                      </a:endParaRPr>
                    </a:p>
                  </a:txBody>
                  <a:tcPr marL="101600" marR="101600" anchor="ctr"/>
                </a:tc>
                <a:tc>
                  <a:txBody>
                    <a:bodyPr/>
                    <a:lstStyle/>
                    <a:p>
                      <a:r>
                        <a:rPr sz="1300" b="0">
                          <a:solidFill>
                            <a:srgbClr val="1A231E"/>
                          </a:solidFill>
                        </a:rPr>
                        <a:t>Promising, unusable now — needs Java 25</a:t>
                      </a:r>
                      <a:endParaRPr sz="1300" b="0">
                        <a:solidFill>
                          <a:srgbClr val="1A231E"/>
                        </a:solidFill>
                        <a:latin typeface="Calibri"/>
                      </a:endParaRPr>
                    </a:p>
                  </a:txBody>
                  <a:tcPr marL="101600" marR="101600" anchor="ctr"/>
                </a:tc>
                <a:extLst>
                  <a:ext uri="{0D108BD9-81ED-4DB2-BD59-A6C34878D82A}">
                    <a16:rowId xmlns:a16="http://schemas.microsoft.com/office/drawing/2014/main" val="10003"/>
                  </a:ext>
                </a:extLst>
              </a:tr>
              <a:tr h="566928">
                <a:tc>
                  <a:txBody>
                    <a:bodyPr/>
                    <a:lstStyle/>
                    <a:p>
                      <a:r>
                        <a:rPr sz="1300" b="0">
                          <a:solidFill>
                            <a:srgbClr val="1A231E"/>
                          </a:solidFill>
                        </a:rPr>
                        <a:t>GeoTools GeoParquet DataStore</a:t>
                      </a:r>
                      <a:endParaRPr sz="1300" b="0">
                        <a:solidFill>
                          <a:srgbClr val="1A231E"/>
                        </a:solidFill>
                        <a:latin typeface="Calibri"/>
                      </a:endParaRPr>
                    </a:p>
                  </a:txBody>
                  <a:tcPr marL="101600" marR="101600" anchor="ctr"/>
                </a:tc>
                <a:tc>
                  <a:txBody>
                    <a:bodyPr/>
                    <a:lstStyle/>
                    <a:p>
                      <a:r>
                        <a:rPr sz="1300" b="0">
                          <a:solidFill>
                            <a:srgbClr val="1A231E"/>
                          </a:solidFill>
                        </a:rPr>
                        <a:t>LGPL-2.1</a:t>
                      </a:r>
                      <a:endParaRPr sz="1300" b="0">
                        <a:solidFill>
                          <a:srgbClr val="1A231E"/>
                        </a:solidFill>
                        <a:latin typeface="Calibri"/>
                      </a:endParaRPr>
                    </a:p>
                  </a:txBody>
                  <a:tcPr marL="101600" marR="101600" anchor="ctr"/>
                </a:tc>
                <a:tc>
                  <a:txBody>
                    <a:bodyPr/>
                    <a:lstStyle/>
                    <a:p>
                      <a:r>
                        <a:rPr sz="1300" b="0" dirty="0">
                          <a:solidFill>
                            <a:srgbClr val="1A231E"/>
                          </a:solidFill>
                        </a:rPr>
                        <a:t>Disqualified — read-only</a:t>
                      </a:r>
                      <a:endParaRPr sz="1300" b="0" dirty="0">
                        <a:solidFill>
                          <a:srgbClr val="1A231E"/>
                        </a:solidFill>
                        <a:latin typeface="Calibri"/>
                      </a:endParaRPr>
                    </a:p>
                  </a:txBody>
                  <a:tcPr marL="101600" marR="101600" anchor="ctr"/>
                </a:tc>
                <a:extLst>
                  <a:ext uri="{0D108BD9-81ED-4DB2-BD59-A6C34878D82A}">
                    <a16:rowId xmlns:a16="http://schemas.microsoft.com/office/drawing/2014/main" val="10004"/>
                  </a:ext>
                </a:extLst>
              </a:tr>
              <a:tr h="566928">
                <a:tc>
                  <a:txBody>
                    <a:bodyPr/>
                    <a:lstStyle/>
                    <a:p>
                      <a:r>
                        <a:rPr sz="1300" b="0">
                          <a:solidFill>
                            <a:srgbClr val="1A231E"/>
                          </a:solidFill>
                        </a:rPr>
                        <a:t>GDAL / OGR</a:t>
                      </a:r>
                      <a:endParaRPr sz="1300" b="0">
                        <a:solidFill>
                          <a:srgbClr val="1A231E"/>
                        </a:solidFill>
                        <a:latin typeface="Calibri"/>
                      </a:endParaRPr>
                    </a:p>
                  </a:txBody>
                  <a:tcPr marL="101600" marR="101600" anchor="ctr"/>
                </a:tc>
                <a:tc>
                  <a:txBody>
                    <a:bodyPr/>
                    <a:lstStyle/>
                    <a:p>
                      <a:r>
                        <a:rPr sz="1300" b="0">
                          <a:solidFill>
                            <a:srgbClr val="1A231E"/>
                          </a:solidFill>
                        </a:rPr>
                        <a:t>MIT-style</a:t>
                      </a:r>
                      <a:endParaRPr sz="1300" b="0">
                        <a:solidFill>
                          <a:srgbClr val="1A231E"/>
                        </a:solidFill>
                        <a:latin typeface="Calibri"/>
                      </a:endParaRPr>
                    </a:p>
                  </a:txBody>
                  <a:tcPr marL="101600" marR="101600" anchor="ctr"/>
                </a:tc>
                <a:tc>
                  <a:txBody>
                    <a:bodyPr/>
                    <a:lstStyle/>
                    <a:p>
                      <a:r>
                        <a:rPr sz="1300" b="0">
                          <a:solidFill>
                            <a:srgbClr val="1A231E"/>
                          </a:solidFill>
                        </a:rPr>
                        <a:t>Disqualified — native/JNI dependency</a:t>
                      </a:r>
                      <a:endParaRPr sz="1300" b="0">
                        <a:solidFill>
                          <a:srgbClr val="1A231E"/>
                        </a:solidFill>
                        <a:latin typeface="Calibri"/>
                      </a:endParaRPr>
                    </a:p>
                  </a:txBody>
                  <a:tcPr marL="101600" marR="101600" anchor="ctr"/>
                </a:tc>
                <a:extLst>
                  <a:ext uri="{0D108BD9-81ED-4DB2-BD59-A6C34878D82A}">
                    <a16:rowId xmlns:a16="http://schemas.microsoft.com/office/drawing/2014/main" val="10005"/>
                  </a:ext>
                </a:extLst>
              </a:tr>
              <a:tr h="566928">
                <a:tc>
                  <a:txBody>
                    <a:bodyPr/>
                    <a:lstStyle/>
                    <a:p>
                      <a:r>
                        <a:rPr sz="1300" b="0">
                          <a:solidFill>
                            <a:srgbClr val="1A231E"/>
                          </a:solidFill>
                        </a:rPr>
                        <a:t>Apache Sedona</a:t>
                      </a:r>
                      <a:endParaRPr sz="1300" b="0">
                        <a:solidFill>
                          <a:srgbClr val="1A231E"/>
                        </a:solidFill>
                        <a:latin typeface="Calibri"/>
                      </a:endParaRPr>
                    </a:p>
                  </a:txBody>
                  <a:tcPr marL="101600" marR="101600" anchor="ctr"/>
                </a:tc>
                <a:tc>
                  <a:txBody>
                    <a:bodyPr/>
                    <a:lstStyle/>
                    <a:p>
                      <a:r>
                        <a:rPr sz="1300" b="0">
                          <a:solidFill>
                            <a:srgbClr val="1A231E"/>
                          </a:solidFill>
                        </a:rPr>
                        <a:t>Apache-2.0</a:t>
                      </a:r>
                      <a:endParaRPr sz="1300" b="0">
                        <a:solidFill>
                          <a:srgbClr val="1A231E"/>
                        </a:solidFill>
                        <a:latin typeface="Calibri"/>
                      </a:endParaRPr>
                    </a:p>
                  </a:txBody>
                  <a:tcPr marL="101600" marR="101600" anchor="ctr"/>
                </a:tc>
                <a:tc>
                  <a:txBody>
                    <a:bodyPr/>
                    <a:lstStyle/>
                    <a:p>
                      <a:r>
                        <a:rPr sz="1300" b="0" dirty="0">
                          <a:solidFill>
                            <a:srgbClr val="1A231E"/>
                          </a:solidFill>
                        </a:rPr>
                        <a:t>Disqualified — Spark/</a:t>
                      </a:r>
                      <a:r>
                        <a:rPr sz="1300" b="0" dirty="0" err="1">
                          <a:solidFill>
                            <a:srgbClr val="1A231E"/>
                          </a:solidFill>
                        </a:rPr>
                        <a:t>Flink</a:t>
                      </a:r>
                      <a:r>
                        <a:rPr sz="1300" b="0" dirty="0">
                          <a:solidFill>
                            <a:srgbClr val="1A231E"/>
                          </a:solidFill>
                        </a:rPr>
                        <a:t>-only runtime</a:t>
                      </a:r>
                      <a:endParaRPr sz="1300" b="0" dirty="0">
                        <a:solidFill>
                          <a:srgbClr val="1A231E"/>
                        </a:solidFill>
                        <a:latin typeface="Calibri"/>
                      </a:endParaRPr>
                    </a:p>
                  </a:txBody>
                  <a:tcPr marL="101600" marR="101600" anchor="ctr"/>
                </a:tc>
                <a:extLst>
                  <a:ext uri="{0D108BD9-81ED-4DB2-BD59-A6C34878D82A}">
                    <a16:rowId xmlns:a16="http://schemas.microsoft.com/office/drawing/2014/main" val="10006"/>
                  </a:ext>
                </a:extLst>
              </a:tr>
            </a:tbl>
          </a:graphicData>
        </a:graphic>
      </p:graphicFrame>
      <p:sp>
        <p:nvSpPr>
          <p:cNvPr id="3" name="TextBox 2">
            <a:extLst>
              <a:ext uri="{FF2B5EF4-FFF2-40B4-BE49-F238E27FC236}">
                <a16:creationId xmlns:a16="http://schemas.microsoft.com/office/drawing/2014/main" id="{D3A01152-E767-643C-4EF7-6368EF7FB2C8}"/>
              </a:ext>
            </a:extLst>
          </p:cNvPr>
          <p:cNvSpPr txBox="1"/>
          <p:nvPr/>
        </p:nvSpPr>
        <p:spPr>
          <a:xfrm>
            <a:off x="502920" y="5980176"/>
            <a:ext cx="11185855" cy="822960"/>
          </a:xfrm>
          <a:prstGeom prst="rect">
            <a:avLst/>
          </a:prstGeom>
          <a:noFill/>
        </p:spPr>
        <p:txBody>
          <a:bodyPr wrap="square" lIns="0" tIns="0" rIns="0" bIns="0" anchor="t">
            <a:spAutoFit/>
          </a:bodyPr>
          <a:lstStyle/>
          <a:p>
            <a:pPr algn="l">
              <a:lnSpc>
                <a:spcPct val="100000"/>
              </a:lnSpc>
            </a:pPr>
            <a:r>
              <a:rPr sz="1350" b="0" i="1">
                <a:solidFill>
                  <a:srgbClr val="4B564E"/>
                </a:solidFill>
                <a:latin typeface="Calibri"/>
              </a:rPr>
              <a:t>All permissively licensed except GeoTools (LGPL-2.1 — already how hale-core consumes GeoTools elsewhere, not a new constraint). License wasn't the differentiator here — fit and maturity were.</a:t>
            </a:r>
          </a:p>
        </p:txBody>
      </p:sp>
    </p:spTree>
    <p:extLst>
      <p:ext uri="{BB962C8B-B14F-4D97-AF65-F5344CB8AC3E}">
        <p14:creationId xmlns:p14="http://schemas.microsoft.com/office/powerpoint/2010/main" val="1244512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12</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4449808"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The case for and against</a:t>
            </a:r>
          </a:p>
        </p:txBody>
      </p:sp>
      <p:sp>
        <p:nvSpPr>
          <p:cNvPr id="2" name="Rectangle 1">
            <a:extLst>
              <a:ext uri="{FF2B5EF4-FFF2-40B4-BE49-F238E27FC236}">
                <a16:creationId xmlns:a16="http://schemas.microsoft.com/office/drawing/2014/main" id="{9856AF68-BD53-4728-E918-CF87902EF4D2}"/>
              </a:ext>
            </a:extLst>
          </p:cNvPr>
          <p:cNvSpPr/>
          <p:nvPr/>
        </p:nvSpPr>
        <p:spPr>
          <a:xfrm>
            <a:off x="502920" y="1691640"/>
            <a:ext cx="5455767" cy="4572000"/>
          </a:xfrm>
          <a:prstGeom prst="rect">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a:p>
        </p:txBody>
      </p:sp>
      <p:sp>
        <p:nvSpPr>
          <p:cNvPr id="3" name="Rectangle 2">
            <a:extLst>
              <a:ext uri="{FF2B5EF4-FFF2-40B4-BE49-F238E27FC236}">
                <a16:creationId xmlns:a16="http://schemas.microsoft.com/office/drawing/2014/main" id="{7547D112-E687-C5CF-82D5-933B8A176DB2}"/>
              </a:ext>
            </a:extLst>
          </p:cNvPr>
          <p:cNvSpPr/>
          <p:nvPr/>
        </p:nvSpPr>
        <p:spPr>
          <a:xfrm>
            <a:off x="502920" y="1691640"/>
            <a:ext cx="5455767" cy="54864"/>
          </a:xfrm>
          <a:prstGeom prst="rect">
            <a:avLst/>
          </a:prstGeom>
          <a:ln/>
        </p:spPr>
        <p:style>
          <a:lnRef idx="1">
            <a:schemeClr val="accent5"/>
          </a:lnRef>
          <a:fillRef idx="2">
            <a:schemeClr val="accent5"/>
          </a:fillRef>
          <a:effectRef idx="1">
            <a:schemeClr val="accent5"/>
          </a:effectRef>
          <a:fontRef idx="minor">
            <a:schemeClr val="dk1"/>
          </a:fontRef>
        </p:style>
        <p:txBody>
          <a:bodyPr rtlCol="0" anchor="ctr"/>
          <a:lstStyle/>
          <a:p>
            <a:pPr algn="ctr"/>
            <a:endParaRPr/>
          </a:p>
        </p:txBody>
      </p:sp>
      <p:sp>
        <p:nvSpPr>
          <p:cNvPr id="4" name="TextBox 3">
            <a:extLst>
              <a:ext uri="{FF2B5EF4-FFF2-40B4-BE49-F238E27FC236}">
                <a16:creationId xmlns:a16="http://schemas.microsoft.com/office/drawing/2014/main" id="{79CCC016-B8FE-2DB5-42DB-2D8C665878D2}"/>
              </a:ext>
            </a:extLst>
          </p:cNvPr>
          <p:cNvSpPr txBox="1"/>
          <p:nvPr/>
        </p:nvSpPr>
        <p:spPr>
          <a:xfrm>
            <a:off x="777240" y="1920240"/>
            <a:ext cx="4907127" cy="365760"/>
          </a:xfrm>
          <a:prstGeom prst="rect">
            <a:avLst/>
          </a:prstGeom>
          <a:noFill/>
        </p:spPr>
        <p:txBody>
          <a:bodyPr wrap="square" lIns="0" tIns="0" rIns="0" bIns="0" anchor="t">
            <a:spAutoFit/>
          </a:bodyPr>
          <a:lstStyle/>
          <a:p>
            <a:pPr algn="l">
              <a:lnSpc>
                <a:spcPct val="100000"/>
              </a:lnSpc>
            </a:pPr>
            <a:r>
              <a:rPr sz="1400" b="1" i="0">
                <a:solidFill>
                  <a:srgbClr val="20402F"/>
                </a:solidFill>
                <a:latin typeface="Calibri"/>
              </a:rPr>
              <a:t>FOR BUILDING IT</a:t>
            </a:r>
          </a:p>
        </p:txBody>
      </p:sp>
      <p:sp>
        <p:nvSpPr>
          <p:cNvPr id="5" name="TextBox 4">
            <a:extLst>
              <a:ext uri="{FF2B5EF4-FFF2-40B4-BE49-F238E27FC236}">
                <a16:creationId xmlns:a16="http://schemas.microsoft.com/office/drawing/2014/main" id="{92763419-210F-1C68-080D-E01CCD2484AB}"/>
              </a:ext>
            </a:extLst>
          </p:cNvPr>
          <p:cNvSpPr txBox="1"/>
          <p:nvPr/>
        </p:nvSpPr>
        <p:spPr>
          <a:xfrm>
            <a:off x="777240" y="2423160"/>
            <a:ext cx="4907127" cy="3657600"/>
          </a:xfrm>
          <a:prstGeom prst="rect">
            <a:avLst/>
          </a:prstGeom>
          <a:noFill/>
        </p:spPr>
        <p:txBody>
          <a:bodyPr wrap="square">
            <a:spAutoFit/>
          </a:bodyPr>
          <a:lstStyle/>
          <a:p>
            <a:pPr>
              <a:lnSpc>
                <a:spcPct val="112000"/>
              </a:lnSpc>
              <a:spcAft>
                <a:spcPts val="1100"/>
              </a:spcAft>
            </a:pPr>
            <a:r>
              <a:rPr sz="1400" b="1">
                <a:solidFill>
                  <a:srgbClr val="2F5B49"/>
                </a:solidFill>
                <a:latin typeface="Calibri"/>
              </a:rPr>
              <a:t>•  </a:t>
            </a:r>
            <a:r>
              <a:rPr sz="1400" b="1">
                <a:solidFill>
                  <a:srgbClr val="1A231E"/>
                </a:solidFill>
                <a:latin typeface="Calibri"/>
              </a:rPr>
              <a:t>Real, not theoretical. </a:t>
            </a:r>
            <a:r>
              <a:rPr sz="1400">
                <a:solidFill>
                  <a:srgbClr val="4B564E"/>
                </a:solidFill>
                <a:latin typeface="Calibri"/>
              </a:rPr>
              <a:t>Pure Java, no Arrow, validated against the actual 2.0 spec text.</a:t>
            </a:r>
          </a:p>
          <a:p>
            <a:pPr>
              <a:lnSpc>
                <a:spcPct val="112000"/>
              </a:lnSpc>
              <a:spcAft>
                <a:spcPts val="1100"/>
              </a:spcAft>
            </a:pPr>
            <a:r>
              <a:rPr sz="1400" b="1">
                <a:solidFill>
                  <a:srgbClr val="2F5B49"/>
                </a:solidFill>
                <a:latin typeface="Calibri"/>
              </a:rPr>
              <a:t>•  </a:t>
            </a:r>
            <a:r>
              <a:rPr sz="1400" b="1">
                <a:solidFill>
                  <a:srgbClr val="1A231E"/>
                </a:solidFill>
                <a:latin typeface="Calibri"/>
              </a:rPr>
              <a:t>Fits hale's existing pattern exactly. </a:t>
            </a:r>
            <a:r>
              <a:rPr sz="1400">
                <a:solidFill>
                  <a:srgbClr val="4B564E"/>
                </a:solidFill>
                <a:latin typeface="Calibri"/>
              </a:rPr>
              <a:t>Same shape as the GeoPackage/Shapefile writers already in the codebase.</a:t>
            </a:r>
          </a:p>
          <a:p>
            <a:pPr>
              <a:lnSpc>
                <a:spcPct val="112000"/>
              </a:lnSpc>
              <a:spcAft>
                <a:spcPts val="1100"/>
              </a:spcAft>
            </a:pPr>
            <a:r>
              <a:rPr sz="1400" b="1">
                <a:solidFill>
                  <a:srgbClr val="2F5B49"/>
                </a:solidFill>
                <a:latin typeface="Calibri"/>
              </a:rPr>
              <a:t>•  </a:t>
            </a:r>
            <a:r>
              <a:rPr sz="1400" b="1">
                <a:solidFill>
                  <a:srgbClr val="1A231E"/>
                </a:solidFill>
                <a:latin typeface="Calibri"/>
              </a:rPr>
              <a:t>OSGi bundling is solved, not new. </a:t>
            </a:r>
            <a:r>
              <a:rPr sz="1400">
                <a:solidFill>
                  <a:srgbClr val="4B564E"/>
                </a:solidFill>
                <a:latin typeface="Calibri"/>
              </a:rPr>
              <a:t>hale already has a proven shadow+bnd convention; this spike confirmed it works here too.</a:t>
            </a:r>
          </a:p>
          <a:p>
            <a:pPr>
              <a:lnSpc>
                <a:spcPct val="112000"/>
              </a:lnSpc>
              <a:spcAft>
                <a:spcPts val="1100"/>
              </a:spcAft>
            </a:pPr>
            <a:r>
              <a:rPr sz="1400" b="1">
                <a:solidFill>
                  <a:srgbClr val="2F5B49"/>
                </a:solidFill>
                <a:latin typeface="Calibri"/>
              </a:rPr>
              <a:t>•  </a:t>
            </a:r>
            <a:r>
              <a:rPr sz="1400" b="1">
                <a:solidFill>
                  <a:srgbClr val="1A231E"/>
                </a:solidFill>
                <a:latin typeface="Calibri"/>
              </a:rPr>
              <a:t>Small, bounded dependency footprint.</a:t>
            </a:r>
          </a:p>
          <a:p>
            <a:pPr>
              <a:lnSpc>
                <a:spcPct val="112000"/>
              </a:lnSpc>
              <a:spcAft>
                <a:spcPts val="1100"/>
              </a:spcAft>
            </a:pPr>
            <a:r>
              <a:rPr sz="1400" b="1">
                <a:solidFill>
                  <a:srgbClr val="2F5B49"/>
                </a:solidFill>
                <a:latin typeface="Calibri"/>
              </a:rPr>
              <a:t>•  </a:t>
            </a:r>
            <a:r>
              <a:rPr sz="1400" b="1">
                <a:solidFill>
                  <a:srgbClr val="1A231E"/>
                </a:solidFill>
                <a:latin typeface="Calibri"/>
              </a:rPr>
              <a:t>Proven against real, representative data,</a:t>
            </a:r>
            <a:r>
              <a:rPr sz="1400">
                <a:solidFill>
                  <a:srgbClr val="4B564E"/>
                </a:solidFill>
                <a:latin typeface="Calibri"/>
              </a:rPr>
              <a:t> not just a synthetic sample.</a:t>
            </a:r>
          </a:p>
          <a:p>
            <a:pPr>
              <a:lnSpc>
                <a:spcPct val="112000"/>
              </a:lnSpc>
              <a:spcAft>
                <a:spcPts val="1100"/>
              </a:spcAft>
            </a:pPr>
            <a:r>
              <a:rPr sz="1400" b="1">
                <a:solidFill>
                  <a:srgbClr val="2F5B49"/>
                </a:solidFill>
                <a:latin typeface="Calibri"/>
              </a:rPr>
              <a:t>•  </a:t>
            </a:r>
            <a:r>
              <a:rPr sz="1400" b="1">
                <a:solidFill>
                  <a:srgbClr val="1A231E"/>
                </a:solidFill>
                <a:latin typeface="Calibri"/>
              </a:rPr>
              <a:t>Permissively licensed.</a:t>
            </a:r>
            <a:r>
              <a:rPr sz="1400">
                <a:solidFill>
                  <a:srgbClr val="4B564E"/>
                </a:solidFill>
                <a:latin typeface="Calibri"/>
              </a:rPr>
              <a:t> No new legal review needed.</a:t>
            </a:r>
          </a:p>
        </p:txBody>
      </p:sp>
      <p:sp>
        <p:nvSpPr>
          <p:cNvPr id="6" name="Rectangle 5">
            <a:extLst>
              <a:ext uri="{FF2B5EF4-FFF2-40B4-BE49-F238E27FC236}">
                <a16:creationId xmlns:a16="http://schemas.microsoft.com/office/drawing/2014/main" id="{42DEF1D5-E78A-C999-823D-0C1AD6F50687}"/>
              </a:ext>
            </a:extLst>
          </p:cNvPr>
          <p:cNvSpPr/>
          <p:nvPr/>
        </p:nvSpPr>
        <p:spPr>
          <a:xfrm>
            <a:off x="6233007" y="1691640"/>
            <a:ext cx="5455767" cy="4572000"/>
          </a:xfrm>
          <a:prstGeom prst="rect">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a:p>
        </p:txBody>
      </p:sp>
      <p:sp>
        <p:nvSpPr>
          <p:cNvPr id="9" name="Rectangle 8">
            <a:extLst>
              <a:ext uri="{FF2B5EF4-FFF2-40B4-BE49-F238E27FC236}">
                <a16:creationId xmlns:a16="http://schemas.microsoft.com/office/drawing/2014/main" id="{AE4884FC-8725-2C66-2747-6059F7724579}"/>
              </a:ext>
            </a:extLst>
          </p:cNvPr>
          <p:cNvSpPr/>
          <p:nvPr/>
        </p:nvSpPr>
        <p:spPr>
          <a:xfrm>
            <a:off x="6233007" y="1691640"/>
            <a:ext cx="5455767" cy="54864"/>
          </a:xfrm>
          <a:prstGeom prst="rect">
            <a:avLst/>
          </a:prstGeom>
          <a:ln/>
        </p:spPr>
        <p:style>
          <a:lnRef idx="1">
            <a:schemeClr val="accent2"/>
          </a:lnRef>
          <a:fillRef idx="2">
            <a:schemeClr val="accent2"/>
          </a:fillRef>
          <a:effectRef idx="1">
            <a:schemeClr val="accent2"/>
          </a:effectRef>
          <a:fontRef idx="minor">
            <a:schemeClr val="dk1"/>
          </a:fontRef>
        </p:style>
        <p:txBody>
          <a:bodyPr rtlCol="0" anchor="ctr"/>
          <a:lstStyle/>
          <a:p>
            <a:pPr algn="ctr"/>
            <a:endParaRPr/>
          </a:p>
        </p:txBody>
      </p:sp>
      <p:sp>
        <p:nvSpPr>
          <p:cNvPr id="10" name="TextBox 9">
            <a:extLst>
              <a:ext uri="{FF2B5EF4-FFF2-40B4-BE49-F238E27FC236}">
                <a16:creationId xmlns:a16="http://schemas.microsoft.com/office/drawing/2014/main" id="{C61C7CA3-A2F8-F3A0-12AF-6556D1C9FFA0}"/>
              </a:ext>
            </a:extLst>
          </p:cNvPr>
          <p:cNvSpPr txBox="1"/>
          <p:nvPr/>
        </p:nvSpPr>
        <p:spPr>
          <a:xfrm>
            <a:off x="6507327" y="1920240"/>
            <a:ext cx="4907127" cy="365760"/>
          </a:xfrm>
          <a:prstGeom prst="rect">
            <a:avLst/>
          </a:prstGeom>
          <a:noFill/>
        </p:spPr>
        <p:txBody>
          <a:bodyPr wrap="square" lIns="0" tIns="0" rIns="0" bIns="0" anchor="t">
            <a:spAutoFit/>
          </a:bodyPr>
          <a:lstStyle/>
          <a:p>
            <a:pPr algn="l">
              <a:lnSpc>
                <a:spcPct val="100000"/>
              </a:lnSpc>
            </a:pPr>
            <a:r>
              <a:rPr sz="1400" b="1" i="0">
                <a:solidFill>
                  <a:srgbClr val="7E3D19"/>
                </a:solidFill>
                <a:latin typeface="Calibri"/>
              </a:rPr>
              <a:t>REASONS TO PAUSE</a:t>
            </a:r>
          </a:p>
        </p:txBody>
      </p:sp>
      <p:sp>
        <p:nvSpPr>
          <p:cNvPr id="11" name="TextBox 10">
            <a:extLst>
              <a:ext uri="{FF2B5EF4-FFF2-40B4-BE49-F238E27FC236}">
                <a16:creationId xmlns:a16="http://schemas.microsoft.com/office/drawing/2014/main" id="{D6E04B7D-1ED6-E2D5-7137-CBC518BB7A7E}"/>
              </a:ext>
            </a:extLst>
          </p:cNvPr>
          <p:cNvSpPr txBox="1"/>
          <p:nvPr/>
        </p:nvSpPr>
        <p:spPr>
          <a:xfrm>
            <a:off x="6507327" y="2423160"/>
            <a:ext cx="4907127" cy="3657600"/>
          </a:xfrm>
          <a:prstGeom prst="rect">
            <a:avLst/>
          </a:prstGeom>
          <a:noFill/>
        </p:spPr>
        <p:txBody>
          <a:bodyPr wrap="square">
            <a:spAutoFit/>
          </a:bodyPr>
          <a:lstStyle/>
          <a:p>
            <a:pPr>
              <a:lnSpc>
                <a:spcPct val="112000"/>
              </a:lnSpc>
              <a:spcAft>
                <a:spcPts val="1100"/>
              </a:spcAft>
            </a:pPr>
            <a:r>
              <a:rPr sz="1400" b="1" dirty="0">
                <a:solidFill>
                  <a:srgbClr val="A85425"/>
                </a:solidFill>
                <a:latin typeface="Calibri"/>
              </a:rPr>
              <a:t>•  </a:t>
            </a:r>
            <a:r>
              <a:rPr sz="1400" b="1" dirty="0">
                <a:solidFill>
                  <a:srgbClr val="1A231E"/>
                </a:solidFill>
                <a:latin typeface="Calibri"/>
              </a:rPr>
              <a:t>No compression story. </a:t>
            </a:r>
            <a:r>
              <a:rPr sz="1400" dirty="0">
                <a:solidFill>
                  <a:srgbClr val="4B564E"/>
                </a:solidFill>
                <a:latin typeface="Calibri"/>
              </a:rPr>
              <a:t>Files ship uncompressed until the Hadoop-coupling in parquet-</a:t>
            </a:r>
            <a:r>
              <a:rPr sz="1400" dirty="0" err="1">
                <a:solidFill>
                  <a:srgbClr val="4B564E"/>
                </a:solidFill>
                <a:latin typeface="Calibri"/>
              </a:rPr>
              <a:t>hadoop's</a:t>
            </a:r>
            <a:r>
              <a:rPr sz="1400" dirty="0">
                <a:solidFill>
                  <a:srgbClr val="4B564E"/>
                </a:solidFill>
                <a:latin typeface="Calibri"/>
              </a:rPr>
              <a:t> codec factory is solved.</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CRS handling isn't production-ready. </a:t>
            </a:r>
            <a:r>
              <a:rPr sz="1400" dirty="0">
                <a:solidFill>
                  <a:srgbClr val="4B564E"/>
                </a:solidFill>
                <a:latin typeface="Calibri"/>
              </a:rPr>
              <a:t>PROJJSON is fetched from a public website at runtime right now.</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Two OSGi manifest details still open</a:t>
            </a:r>
            <a:r>
              <a:rPr sz="1400" dirty="0">
                <a:solidFill>
                  <a:srgbClr val="4B564E"/>
                </a:solidFill>
                <a:latin typeface="Calibri"/>
              </a:rPr>
              <a:t> before a real plugin build resolves cleanly.</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The </a:t>
            </a:r>
            <a:r>
              <a:rPr sz="1400" b="1" dirty="0" err="1">
                <a:solidFill>
                  <a:srgbClr val="1A231E"/>
                </a:solidFill>
                <a:latin typeface="Calibri"/>
              </a:rPr>
              <a:t>crs</a:t>
            </a:r>
            <a:r>
              <a:rPr sz="1400" b="1" dirty="0">
                <a:solidFill>
                  <a:srgbClr val="1A231E"/>
                </a:solidFill>
                <a:latin typeface="Calibri"/>
              </a:rPr>
              <a:t> field convention is a guess</a:t>
            </a:r>
            <a:r>
              <a:rPr sz="1400" dirty="0">
                <a:solidFill>
                  <a:srgbClr val="4B564E"/>
                </a:solidFill>
                <a:latin typeface="Calibri"/>
              </a:rPr>
              <a:t> until checked against a reference writer.</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The spec is still a release candidate</a:t>
            </a:r>
            <a:r>
              <a:rPr sz="1400" dirty="0">
                <a:solidFill>
                  <a:srgbClr val="4B564E"/>
                </a:solidFill>
                <a:latin typeface="Calibri"/>
              </a:rPr>
              <a:t> (2.0.0-rc.1), not final.</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No convenience library helps yet.</a:t>
            </a:r>
            <a:r>
              <a:rPr sz="1400" dirty="0">
                <a:solidFill>
                  <a:srgbClr val="4B564E"/>
                </a:solidFill>
                <a:latin typeface="Calibri"/>
              </a:rPr>
              <a:t> The metadata/schema work is hand-rolled either way.</a:t>
            </a:r>
          </a:p>
          <a:p>
            <a:pPr>
              <a:lnSpc>
                <a:spcPct val="112000"/>
              </a:lnSpc>
              <a:spcAft>
                <a:spcPts val="1100"/>
              </a:spcAft>
            </a:pPr>
            <a:r>
              <a:rPr sz="1400" b="1" dirty="0">
                <a:solidFill>
                  <a:srgbClr val="A85425"/>
                </a:solidFill>
                <a:latin typeface="Calibri"/>
              </a:rPr>
              <a:t>•  </a:t>
            </a:r>
            <a:r>
              <a:rPr sz="1400" b="1" dirty="0">
                <a:solidFill>
                  <a:srgbClr val="1A231E"/>
                </a:solidFill>
                <a:latin typeface="Calibri"/>
              </a:rPr>
              <a:t>Two more gaps:</a:t>
            </a:r>
            <a:r>
              <a:rPr sz="1400" dirty="0">
                <a:solidFill>
                  <a:srgbClr val="4B564E"/>
                </a:solidFill>
                <a:latin typeface="Calibri"/>
              </a:rPr>
              <a:t> no </a:t>
            </a:r>
            <a:r>
              <a:rPr sz="1400" dirty="0" err="1">
                <a:solidFill>
                  <a:srgbClr val="4B564E"/>
                </a:solidFill>
                <a:latin typeface="Calibri"/>
              </a:rPr>
              <a:t>bbox</a:t>
            </a:r>
            <a:r>
              <a:rPr sz="1400" dirty="0">
                <a:solidFill>
                  <a:srgbClr val="4B564E"/>
                </a:solidFill>
                <a:latin typeface="Calibri"/>
              </a:rPr>
              <a:t> column, no CRS-without-EPSG path.</a:t>
            </a:r>
          </a:p>
        </p:txBody>
      </p:sp>
    </p:spTree>
    <p:extLst>
      <p:ext uri="{BB962C8B-B14F-4D97-AF65-F5344CB8AC3E}">
        <p14:creationId xmlns:p14="http://schemas.microsoft.com/office/powerpoint/2010/main" val="40952410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13</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10464083"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Where ING-5399 stands against its own Definition of Done</a:t>
            </a:r>
          </a:p>
        </p:txBody>
      </p:sp>
      <p:sp>
        <p:nvSpPr>
          <p:cNvPr id="2" name="Rectangle 1">
            <a:extLst>
              <a:ext uri="{FF2B5EF4-FFF2-40B4-BE49-F238E27FC236}">
                <a16:creationId xmlns:a16="http://schemas.microsoft.com/office/drawing/2014/main" id="{B42CB38E-46B3-4846-8620-618059F78C97}"/>
              </a:ext>
            </a:extLst>
          </p:cNvPr>
          <p:cNvSpPr/>
          <p:nvPr/>
        </p:nvSpPr>
        <p:spPr>
          <a:xfrm>
            <a:off x="502920" y="1737360"/>
            <a:ext cx="457200" cy="457200"/>
          </a:xfrm>
          <a:prstGeom prst="rect">
            <a:avLst/>
          </a:prstGeom>
          <a:solidFill>
            <a:srgbClr val="DCE6DB"/>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a:extLst>
              <a:ext uri="{FF2B5EF4-FFF2-40B4-BE49-F238E27FC236}">
                <a16:creationId xmlns:a16="http://schemas.microsoft.com/office/drawing/2014/main" id="{F1E9B6A2-85AA-4AE6-0DE1-1C6F8D76608A}"/>
              </a:ext>
            </a:extLst>
          </p:cNvPr>
          <p:cNvSpPr txBox="1"/>
          <p:nvPr/>
        </p:nvSpPr>
        <p:spPr>
          <a:xfrm>
            <a:off x="502920" y="1737360"/>
            <a:ext cx="457200" cy="457200"/>
          </a:xfrm>
          <a:prstGeom prst="rect">
            <a:avLst/>
          </a:prstGeom>
          <a:noFill/>
        </p:spPr>
        <p:txBody>
          <a:bodyPr wrap="square" lIns="0" tIns="0" rIns="0" bIns="0" anchor="ctr">
            <a:spAutoFit/>
          </a:bodyPr>
          <a:lstStyle/>
          <a:p>
            <a:pPr algn="ctr">
              <a:lnSpc>
                <a:spcPct val="100000"/>
              </a:lnSpc>
            </a:pPr>
            <a:r>
              <a:rPr sz="2000" b="1" i="0" dirty="0">
                <a:solidFill>
                  <a:srgbClr val="2F5B49"/>
                </a:solidFill>
                <a:latin typeface="Calibri"/>
              </a:rPr>
              <a:t>✓</a:t>
            </a:r>
          </a:p>
        </p:txBody>
      </p:sp>
      <p:sp>
        <p:nvSpPr>
          <p:cNvPr id="4" name="TextBox 3">
            <a:extLst>
              <a:ext uri="{FF2B5EF4-FFF2-40B4-BE49-F238E27FC236}">
                <a16:creationId xmlns:a16="http://schemas.microsoft.com/office/drawing/2014/main" id="{FD7F03C9-0264-0794-4216-A55F29DDBE7E}"/>
              </a:ext>
            </a:extLst>
          </p:cNvPr>
          <p:cNvSpPr txBox="1"/>
          <p:nvPr/>
        </p:nvSpPr>
        <p:spPr>
          <a:xfrm>
            <a:off x="1143000" y="1801368"/>
            <a:ext cx="9601200" cy="457200"/>
          </a:xfrm>
          <a:prstGeom prst="rect">
            <a:avLst/>
          </a:prstGeom>
          <a:noFill/>
        </p:spPr>
        <p:txBody>
          <a:bodyPr wrap="square" lIns="0" tIns="0" rIns="0" bIns="0" anchor="ctr">
            <a:spAutoFit/>
          </a:bodyPr>
          <a:lstStyle/>
          <a:p>
            <a:pPr algn="l">
              <a:lnSpc>
                <a:spcPct val="100000"/>
              </a:lnSpc>
            </a:pPr>
            <a:r>
              <a:rPr sz="1700" b="0" i="0">
                <a:solidFill>
                  <a:srgbClr val="1A231E"/>
                </a:solidFill>
                <a:latin typeface="Calibri"/>
              </a:rPr>
              <a:t>Written library comparison (maturity, license, OSGi/JTS fit)</a:t>
            </a:r>
          </a:p>
        </p:txBody>
      </p:sp>
      <p:sp>
        <p:nvSpPr>
          <p:cNvPr id="5" name="Rectangle 4">
            <a:extLst>
              <a:ext uri="{FF2B5EF4-FFF2-40B4-BE49-F238E27FC236}">
                <a16:creationId xmlns:a16="http://schemas.microsoft.com/office/drawing/2014/main" id="{44D2E9D2-EFDE-F2A1-1261-9DE9470FAD43}"/>
              </a:ext>
            </a:extLst>
          </p:cNvPr>
          <p:cNvSpPr/>
          <p:nvPr/>
        </p:nvSpPr>
        <p:spPr>
          <a:xfrm>
            <a:off x="502920" y="2514600"/>
            <a:ext cx="457200" cy="457200"/>
          </a:xfrm>
          <a:prstGeom prst="rect">
            <a:avLst/>
          </a:prstGeom>
          <a:solidFill>
            <a:srgbClr val="DCE6DB"/>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a:extLst>
              <a:ext uri="{FF2B5EF4-FFF2-40B4-BE49-F238E27FC236}">
                <a16:creationId xmlns:a16="http://schemas.microsoft.com/office/drawing/2014/main" id="{B197E44C-ADD8-6003-375C-91E89046D0C0}"/>
              </a:ext>
            </a:extLst>
          </p:cNvPr>
          <p:cNvSpPr txBox="1"/>
          <p:nvPr/>
        </p:nvSpPr>
        <p:spPr>
          <a:xfrm>
            <a:off x="502920" y="2514600"/>
            <a:ext cx="457200" cy="457200"/>
          </a:xfrm>
          <a:prstGeom prst="rect">
            <a:avLst/>
          </a:prstGeom>
          <a:noFill/>
        </p:spPr>
        <p:txBody>
          <a:bodyPr wrap="square" lIns="0" tIns="0" rIns="0" bIns="0" anchor="ctr">
            <a:spAutoFit/>
          </a:bodyPr>
          <a:lstStyle/>
          <a:p>
            <a:pPr algn="ctr">
              <a:lnSpc>
                <a:spcPct val="100000"/>
              </a:lnSpc>
            </a:pPr>
            <a:r>
              <a:rPr sz="2000" b="1" i="0">
                <a:solidFill>
                  <a:srgbClr val="2F5B49"/>
                </a:solidFill>
                <a:latin typeface="Calibri"/>
              </a:rPr>
              <a:t>✓</a:t>
            </a:r>
          </a:p>
        </p:txBody>
      </p:sp>
      <p:sp>
        <p:nvSpPr>
          <p:cNvPr id="9" name="TextBox 8">
            <a:extLst>
              <a:ext uri="{FF2B5EF4-FFF2-40B4-BE49-F238E27FC236}">
                <a16:creationId xmlns:a16="http://schemas.microsoft.com/office/drawing/2014/main" id="{D7426712-7634-C8A6-1AA5-C242689E1725}"/>
              </a:ext>
            </a:extLst>
          </p:cNvPr>
          <p:cNvSpPr txBox="1"/>
          <p:nvPr/>
        </p:nvSpPr>
        <p:spPr>
          <a:xfrm>
            <a:off x="1143000" y="2578608"/>
            <a:ext cx="9601200" cy="457200"/>
          </a:xfrm>
          <a:prstGeom prst="rect">
            <a:avLst/>
          </a:prstGeom>
          <a:noFill/>
        </p:spPr>
        <p:txBody>
          <a:bodyPr wrap="square" lIns="0" tIns="0" rIns="0" bIns="0" anchor="ctr">
            <a:spAutoFit/>
          </a:bodyPr>
          <a:lstStyle/>
          <a:p>
            <a:pPr algn="l">
              <a:lnSpc>
                <a:spcPct val="100000"/>
              </a:lnSpc>
            </a:pPr>
            <a:r>
              <a:rPr sz="1700" b="0" i="0">
                <a:solidFill>
                  <a:srgbClr val="1A231E"/>
                </a:solidFill>
                <a:latin typeface="Calibri"/>
              </a:rPr>
              <a:t>A recommendation for the follow-up implementation</a:t>
            </a:r>
          </a:p>
        </p:txBody>
      </p:sp>
      <p:sp>
        <p:nvSpPr>
          <p:cNvPr id="10" name="Rectangle 9">
            <a:extLst>
              <a:ext uri="{FF2B5EF4-FFF2-40B4-BE49-F238E27FC236}">
                <a16:creationId xmlns:a16="http://schemas.microsoft.com/office/drawing/2014/main" id="{117793FC-4ED2-4C92-A130-224EE579099F}"/>
              </a:ext>
            </a:extLst>
          </p:cNvPr>
          <p:cNvSpPr/>
          <p:nvPr/>
        </p:nvSpPr>
        <p:spPr>
          <a:xfrm>
            <a:off x="502920" y="3291840"/>
            <a:ext cx="457200" cy="457200"/>
          </a:xfrm>
          <a:prstGeom prst="rect">
            <a:avLst/>
          </a:prstGeom>
          <a:solidFill>
            <a:srgbClr val="DCE6DB"/>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a:extLst>
              <a:ext uri="{FF2B5EF4-FFF2-40B4-BE49-F238E27FC236}">
                <a16:creationId xmlns:a16="http://schemas.microsoft.com/office/drawing/2014/main" id="{206456D6-7161-472F-07CA-BFEC36224E2E}"/>
              </a:ext>
            </a:extLst>
          </p:cNvPr>
          <p:cNvSpPr txBox="1"/>
          <p:nvPr/>
        </p:nvSpPr>
        <p:spPr>
          <a:xfrm>
            <a:off x="502920" y="3291840"/>
            <a:ext cx="457200" cy="457200"/>
          </a:xfrm>
          <a:prstGeom prst="rect">
            <a:avLst/>
          </a:prstGeom>
          <a:noFill/>
        </p:spPr>
        <p:txBody>
          <a:bodyPr wrap="square" lIns="0" tIns="0" rIns="0" bIns="0" anchor="ctr">
            <a:spAutoFit/>
          </a:bodyPr>
          <a:lstStyle/>
          <a:p>
            <a:pPr algn="ctr">
              <a:lnSpc>
                <a:spcPct val="100000"/>
              </a:lnSpc>
            </a:pPr>
            <a:r>
              <a:rPr sz="2000" b="1" i="0">
                <a:solidFill>
                  <a:srgbClr val="2F5B49"/>
                </a:solidFill>
                <a:latin typeface="Calibri"/>
              </a:rPr>
              <a:t>✓</a:t>
            </a:r>
          </a:p>
        </p:txBody>
      </p:sp>
      <p:sp>
        <p:nvSpPr>
          <p:cNvPr id="12" name="TextBox 11">
            <a:extLst>
              <a:ext uri="{FF2B5EF4-FFF2-40B4-BE49-F238E27FC236}">
                <a16:creationId xmlns:a16="http://schemas.microsoft.com/office/drawing/2014/main" id="{9B75FE09-462D-6A20-46E0-C5176454A6A8}"/>
              </a:ext>
            </a:extLst>
          </p:cNvPr>
          <p:cNvSpPr txBox="1"/>
          <p:nvPr/>
        </p:nvSpPr>
        <p:spPr>
          <a:xfrm>
            <a:off x="1143000" y="3355848"/>
            <a:ext cx="9601200" cy="457200"/>
          </a:xfrm>
          <a:prstGeom prst="rect">
            <a:avLst/>
          </a:prstGeom>
          <a:noFill/>
        </p:spPr>
        <p:txBody>
          <a:bodyPr wrap="square" lIns="0" tIns="0" rIns="0" bIns="0" anchor="ctr">
            <a:spAutoFit/>
          </a:bodyPr>
          <a:lstStyle/>
          <a:p>
            <a:pPr algn="l">
              <a:lnSpc>
                <a:spcPct val="100000"/>
              </a:lnSpc>
            </a:pPr>
            <a:r>
              <a:rPr sz="1700" b="0" i="0">
                <a:solidFill>
                  <a:srgbClr val="1A231E"/>
                </a:solidFill>
                <a:latin typeface="Calibri"/>
              </a:rPr>
              <a:t>Small PoC on real data, validated by an independent tool</a:t>
            </a:r>
          </a:p>
        </p:txBody>
      </p:sp>
      <p:sp>
        <p:nvSpPr>
          <p:cNvPr id="13" name="Rectangle 12">
            <a:extLst>
              <a:ext uri="{FF2B5EF4-FFF2-40B4-BE49-F238E27FC236}">
                <a16:creationId xmlns:a16="http://schemas.microsoft.com/office/drawing/2014/main" id="{CEC3BD44-CE2B-0DAC-A4E7-3596E6E71E88}"/>
              </a:ext>
            </a:extLst>
          </p:cNvPr>
          <p:cNvSpPr/>
          <p:nvPr/>
        </p:nvSpPr>
        <p:spPr>
          <a:xfrm>
            <a:off x="502920" y="4069080"/>
            <a:ext cx="457200" cy="457200"/>
          </a:xfrm>
          <a:prstGeom prst="rect">
            <a:avLst/>
          </a:prstGeom>
          <a:solidFill>
            <a:srgbClr val="DCE6DB"/>
          </a:solidFill>
          <a:ln w="9525">
            <a:solidFill>
              <a:srgbClr val="2F5B4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a:extLst>
              <a:ext uri="{FF2B5EF4-FFF2-40B4-BE49-F238E27FC236}">
                <a16:creationId xmlns:a16="http://schemas.microsoft.com/office/drawing/2014/main" id="{E52ECCEC-CC96-3FAF-EE55-E3154D35253C}"/>
              </a:ext>
            </a:extLst>
          </p:cNvPr>
          <p:cNvSpPr txBox="1"/>
          <p:nvPr/>
        </p:nvSpPr>
        <p:spPr>
          <a:xfrm>
            <a:off x="502920" y="4069080"/>
            <a:ext cx="457200" cy="457200"/>
          </a:xfrm>
          <a:prstGeom prst="rect">
            <a:avLst/>
          </a:prstGeom>
          <a:noFill/>
        </p:spPr>
        <p:txBody>
          <a:bodyPr wrap="square" lIns="0" tIns="0" rIns="0" bIns="0" anchor="ctr">
            <a:spAutoFit/>
          </a:bodyPr>
          <a:lstStyle/>
          <a:p>
            <a:pPr algn="ctr">
              <a:lnSpc>
                <a:spcPct val="100000"/>
              </a:lnSpc>
            </a:pPr>
            <a:r>
              <a:rPr sz="2000" b="1" i="0">
                <a:solidFill>
                  <a:srgbClr val="2F5B49"/>
                </a:solidFill>
                <a:latin typeface="Calibri"/>
              </a:rPr>
              <a:t>✓</a:t>
            </a:r>
          </a:p>
        </p:txBody>
      </p:sp>
      <p:sp>
        <p:nvSpPr>
          <p:cNvPr id="15" name="TextBox 14">
            <a:extLst>
              <a:ext uri="{FF2B5EF4-FFF2-40B4-BE49-F238E27FC236}">
                <a16:creationId xmlns:a16="http://schemas.microsoft.com/office/drawing/2014/main" id="{B8EB860B-400E-0B04-4CD5-0804E7F4C70E}"/>
              </a:ext>
            </a:extLst>
          </p:cNvPr>
          <p:cNvSpPr txBox="1"/>
          <p:nvPr/>
        </p:nvSpPr>
        <p:spPr>
          <a:xfrm>
            <a:off x="1143000" y="4133088"/>
            <a:ext cx="9601200" cy="457200"/>
          </a:xfrm>
          <a:prstGeom prst="rect">
            <a:avLst/>
          </a:prstGeom>
          <a:noFill/>
        </p:spPr>
        <p:txBody>
          <a:bodyPr wrap="square" lIns="0" tIns="0" rIns="0" bIns="0" anchor="ctr">
            <a:spAutoFit/>
          </a:bodyPr>
          <a:lstStyle/>
          <a:p>
            <a:pPr algn="l">
              <a:lnSpc>
                <a:spcPct val="100000"/>
              </a:lnSpc>
            </a:pPr>
            <a:r>
              <a:rPr sz="1700" b="0" i="0">
                <a:solidFill>
                  <a:srgbClr val="1A231E"/>
                </a:solidFill>
                <a:latin typeface="Calibri"/>
              </a:rPr>
              <a:t>Documented open questions / risks for the follow-up ticket</a:t>
            </a:r>
          </a:p>
        </p:txBody>
      </p:sp>
      <p:sp>
        <p:nvSpPr>
          <p:cNvPr id="16" name="TextBox 15">
            <a:extLst>
              <a:ext uri="{FF2B5EF4-FFF2-40B4-BE49-F238E27FC236}">
                <a16:creationId xmlns:a16="http://schemas.microsoft.com/office/drawing/2014/main" id="{22C31445-FEE7-7A1B-834B-2F7ED7912A4F}"/>
              </a:ext>
            </a:extLst>
          </p:cNvPr>
          <p:cNvSpPr txBox="1"/>
          <p:nvPr/>
        </p:nvSpPr>
        <p:spPr>
          <a:xfrm>
            <a:off x="502920" y="5074920"/>
            <a:ext cx="11185855" cy="822960"/>
          </a:xfrm>
          <a:prstGeom prst="rect">
            <a:avLst/>
          </a:prstGeom>
          <a:noFill/>
        </p:spPr>
        <p:txBody>
          <a:bodyPr wrap="square" lIns="0" tIns="0" rIns="0" bIns="0" anchor="t">
            <a:spAutoFit/>
          </a:bodyPr>
          <a:lstStyle/>
          <a:p>
            <a:pPr algn="l">
              <a:lnSpc>
                <a:spcPct val="130000"/>
              </a:lnSpc>
            </a:pPr>
            <a:r>
              <a:rPr sz="1500" b="0" i="1">
                <a:solidFill>
                  <a:srgbClr val="4B564E"/>
                </a:solidFill>
                <a:latin typeface="Calibri"/>
              </a:rPr>
              <a:t>All four DoD items are met. What's left is process: getting this in front of the team (this deck, plus NOTES.md) and a 16h time-box gut-check given how much ground this covered.</a:t>
            </a:r>
          </a:p>
          <a:p>
            <a:pPr algn="l">
              <a:lnSpc>
                <a:spcPct val="130000"/>
              </a:lnSpc>
              <a:spcBef>
                <a:spcPts val="600"/>
              </a:spcBef>
            </a:pPr>
            <a:r>
              <a:rPr sz="1500" b="1" i="1">
                <a:solidFill>
                  <a:srgbClr val="4B564E"/>
                </a:solidFill>
                <a:latin typeface="Calibri"/>
              </a:rPr>
              <a:t>Caveat on that third item: </a:t>
            </a:r>
            <a:r>
              <a:rPr sz="1500" b="0" i="1">
                <a:solidFill>
                  <a:srgbClr val="4B564E"/>
                </a:solidFill>
                <a:latin typeface="Calibri"/>
              </a:rPr>
              <a:t>only DuckDB has actually validated the output so far — a second attempt via GDAL/pyogrio was inconclusive for environment reasons (no Parquet driver in either build tested), not a finding about the file itself. Worth re-running with a full GDAL build before final sign-off.</a:t>
            </a:r>
          </a:p>
        </p:txBody>
      </p:sp>
    </p:spTree>
    <p:extLst>
      <p:ext uri="{BB962C8B-B14F-4D97-AF65-F5344CB8AC3E}">
        <p14:creationId xmlns:p14="http://schemas.microsoft.com/office/powerpoint/2010/main" val="181824786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14</a:t>
            </a:fld>
            <a:endParaRPr lang="en-US" dirty="0">
              <a:solidFill>
                <a:srgbClr val="51A1E9"/>
              </a:solidFill>
              <a:latin typeface="PT Sans Pro Light" panose="020B0403020203020204" pitchFamily="34" charset="0"/>
            </a:endParaRPr>
          </a:p>
        </p:txBody>
      </p:sp>
      <p:sp>
        <p:nvSpPr>
          <p:cNvPr id="8" name="TextBox 26">
            <a:extLst>
              <a:ext uri="{FF2B5EF4-FFF2-40B4-BE49-F238E27FC236}">
                <a16:creationId xmlns:a16="http://schemas.microsoft.com/office/drawing/2014/main" id="{415C9A0B-49F0-AB33-1A9C-601A5CF6AFFA}"/>
              </a:ext>
            </a:extLst>
          </p:cNvPr>
          <p:cNvSpPr txBox="1"/>
          <p:nvPr/>
        </p:nvSpPr>
        <p:spPr>
          <a:xfrm>
            <a:off x="593874" y="1327291"/>
            <a:ext cx="11035142" cy="5232523"/>
          </a:xfrm>
          <a:prstGeom prst="rect">
            <a:avLst/>
          </a:prstGeom>
          <a:noFill/>
        </p:spPr>
        <p:txBody>
          <a:bodyPr wrap="square">
            <a:spAutoFit/>
          </a:bodyPr>
          <a:lstStyle/>
          <a:p>
            <a:pPr>
              <a:lnSpc>
                <a:spcPct val="112000"/>
              </a:lnSpc>
              <a:spcAft>
                <a:spcPts val="2000"/>
              </a:spcAft>
            </a:pPr>
            <a:r>
              <a:rPr lang="en-GB" sz="2400" b="1" dirty="0">
                <a:solidFill>
                  <a:srgbClr val="2F5B49"/>
                </a:solidFill>
                <a:latin typeface="Calibri"/>
              </a:rPr>
              <a:t>•  </a:t>
            </a:r>
            <a:r>
              <a:rPr lang="en-GB" sz="2400" dirty="0">
                <a:solidFill>
                  <a:srgbClr val="4B564E"/>
                </a:solidFill>
                <a:latin typeface="Calibri"/>
              </a:rPr>
              <a:t>Do we accept the open risks (compression, CRS convention, the two OSGi fixes) as scope for a follow-up implementation ticket — rather than blockers to starting one?</a:t>
            </a:r>
          </a:p>
          <a:p>
            <a:pPr>
              <a:lnSpc>
                <a:spcPct val="112000"/>
              </a:lnSpc>
              <a:spcAft>
                <a:spcPts val="2000"/>
              </a:spcAft>
            </a:pPr>
            <a:r>
              <a:rPr lang="en-GB" sz="2400" b="1" dirty="0">
                <a:solidFill>
                  <a:srgbClr val="2F5B49"/>
                </a:solidFill>
                <a:latin typeface="Calibri"/>
              </a:rPr>
              <a:t>•  </a:t>
            </a:r>
            <a:r>
              <a:rPr lang="en-GB" sz="2400" dirty="0">
                <a:solidFill>
                  <a:srgbClr val="4B564E"/>
                </a:solidFill>
                <a:latin typeface="Calibri"/>
              </a:rPr>
              <a:t>Is uncompressed-only output acceptable for a first shipped version, given no pure-Java compressed path exists today?</a:t>
            </a:r>
          </a:p>
          <a:p>
            <a:pPr>
              <a:lnSpc>
                <a:spcPct val="112000"/>
              </a:lnSpc>
              <a:spcAft>
                <a:spcPts val="2000"/>
              </a:spcAft>
            </a:pPr>
            <a:r>
              <a:rPr lang="en-GB" sz="2400" b="1" dirty="0">
                <a:solidFill>
                  <a:srgbClr val="2F5B49"/>
                </a:solidFill>
                <a:latin typeface="Calibri"/>
              </a:rPr>
              <a:t>•  </a:t>
            </a:r>
            <a:r>
              <a:rPr lang="en-GB" sz="2400" dirty="0">
                <a:solidFill>
                  <a:srgbClr val="4B564E"/>
                </a:solidFill>
                <a:latin typeface="Calibri"/>
              </a:rPr>
              <a:t>Who owns closing the two known, bounded OSGi manifest fixes before a real plugin build?</a:t>
            </a:r>
          </a:p>
          <a:p>
            <a:pPr>
              <a:lnSpc>
                <a:spcPct val="112000"/>
              </a:lnSpc>
              <a:spcAft>
                <a:spcPts val="2000"/>
              </a:spcAft>
            </a:pPr>
            <a:r>
              <a:rPr lang="en-GB" sz="2400" b="1" dirty="0">
                <a:solidFill>
                  <a:srgbClr val="2F5B49"/>
                </a:solidFill>
                <a:latin typeface="Calibri"/>
              </a:rPr>
              <a:t>•  </a:t>
            </a:r>
            <a:r>
              <a:rPr lang="en-GB" sz="2400" dirty="0">
                <a:solidFill>
                  <a:srgbClr val="4B564E"/>
                </a:solidFill>
                <a:latin typeface="Calibri"/>
              </a:rPr>
              <a:t>Does the CRS/PROJJSON story (currently a network fetch, not shippable) need solving before or during the follow-up ticket?</a:t>
            </a:r>
          </a:p>
          <a:p>
            <a:pPr>
              <a:lnSpc>
                <a:spcPct val="112000"/>
              </a:lnSpc>
              <a:spcAft>
                <a:spcPts val="2000"/>
              </a:spcAft>
            </a:pPr>
            <a:r>
              <a:rPr lang="en-GB" sz="2400" b="1" dirty="0">
                <a:solidFill>
                  <a:srgbClr val="2F5B49"/>
                </a:solidFill>
                <a:latin typeface="Calibri"/>
              </a:rPr>
              <a:t>•  </a:t>
            </a:r>
            <a:r>
              <a:rPr lang="en-GB" sz="2400" dirty="0">
                <a:solidFill>
                  <a:srgbClr val="4B564E"/>
                </a:solidFill>
                <a:latin typeface="Calibri"/>
              </a:rPr>
              <a:t>Are we comfortable building against a spec that's still officially a release candidate (2.0.0-rc.1)?</a:t>
            </a: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3962623" cy="584775"/>
          </a:xfrm>
          <a:prstGeom prst="rect">
            <a:avLst/>
          </a:prstGeom>
          <a:noFill/>
        </p:spPr>
        <p:txBody>
          <a:bodyPr wrap="none" rtlCol="0">
            <a:spAutoFit/>
          </a:bodyPr>
          <a:lstStyle/>
          <a:p>
            <a:r>
              <a:rPr lang="en-GB" sz="3200" b="1" dirty="0">
                <a:solidFill>
                  <a:srgbClr val="51A1E9"/>
                </a:solidFill>
                <a:latin typeface="PT Sans" panose="020B0503020203020204" pitchFamily="34" charset="77"/>
              </a:rPr>
              <a:t>The decision we need</a:t>
            </a:r>
          </a:p>
        </p:txBody>
      </p:sp>
    </p:spTree>
    <p:extLst>
      <p:ext uri="{BB962C8B-B14F-4D97-AF65-F5344CB8AC3E}">
        <p14:creationId xmlns:p14="http://schemas.microsoft.com/office/powerpoint/2010/main" val="20758177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15</a:t>
            </a:fld>
            <a:endParaRPr lang="en-US" dirty="0">
              <a:solidFill>
                <a:srgbClr val="51A1E9"/>
              </a:solidFill>
              <a:latin typeface="PT Sans Pro Light" panose="020B0403020203020204" pitchFamily="34" charset="0"/>
            </a:endParaRPr>
          </a:p>
        </p:txBody>
      </p:sp>
      <p:sp>
        <p:nvSpPr>
          <p:cNvPr id="8" name="TextBox 26">
            <a:extLst>
              <a:ext uri="{FF2B5EF4-FFF2-40B4-BE49-F238E27FC236}">
                <a16:creationId xmlns:a16="http://schemas.microsoft.com/office/drawing/2014/main" id="{415C9A0B-49F0-AB33-1A9C-601A5CF6AFFA}"/>
              </a:ext>
            </a:extLst>
          </p:cNvPr>
          <p:cNvSpPr txBox="1"/>
          <p:nvPr/>
        </p:nvSpPr>
        <p:spPr>
          <a:xfrm>
            <a:off x="489473" y="2372717"/>
            <a:ext cx="11035142" cy="2112566"/>
          </a:xfrm>
          <a:prstGeom prst="rect">
            <a:avLst/>
          </a:prstGeom>
          <a:noFill/>
        </p:spPr>
        <p:txBody>
          <a:bodyPr wrap="square">
            <a:spAutoFit/>
          </a:bodyPr>
          <a:lstStyle/>
          <a:p>
            <a:pPr algn="l">
              <a:lnSpc>
                <a:spcPct val="140000"/>
              </a:lnSpc>
            </a:pPr>
            <a:r>
              <a:rPr lang="en-GB" sz="2400" b="0" i="0" dirty="0">
                <a:solidFill>
                  <a:srgbClr val="20402F"/>
                </a:solidFill>
                <a:latin typeface="Calibri"/>
              </a:rPr>
              <a:t>No pure-Java, non-Arrow alternative beats it today: Carpet adds an API layer without solving anything </a:t>
            </a:r>
            <a:r>
              <a:rPr lang="en-GB" sz="2400" b="0" i="0" dirty="0" err="1">
                <a:solidFill>
                  <a:srgbClr val="20402F"/>
                </a:solidFill>
                <a:latin typeface="Calibri"/>
              </a:rPr>
              <a:t>GeoParquet</a:t>
            </a:r>
            <a:r>
              <a:rPr lang="en-GB" sz="2400" b="0" i="0" dirty="0">
                <a:solidFill>
                  <a:srgbClr val="20402F"/>
                </a:solidFill>
                <a:latin typeface="Calibri"/>
              </a:rPr>
              <a:t>-specific, and Parquetry — the one library built for this — needs Java 25, which hale doesn't run yet. The open items aren't reasons to stop — they're exactly what the follow-up ticket should be scoped around.</a:t>
            </a:r>
          </a:p>
        </p:txBody>
      </p:sp>
      <p:sp>
        <p:nvSpPr>
          <p:cNvPr id="7" name="TextBox 34">
            <a:extLst>
              <a:ext uri="{FF2B5EF4-FFF2-40B4-BE49-F238E27FC236}">
                <a16:creationId xmlns:a16="http://schemas.microsoft.com/office/drawing/2014/main" id="{4E0B5CF1-50AF-C5A9-E4A5-106CF09A68DC}"/>
              </a:ext>
            </a:extLst>
          </p:cNvPr>
          <p:cNvSpPr txBox="1"/>
          <p:nvPr/>
        </p:nvSpPr>
        <p:spPr>
          <a:xfrm>
            <a:off x="464023" y="340948"/>
            <a:ext cx="10277429" cy="1077218"/>
          </a:xfrm>
          <a:prstGeom prst="rect">
            <a:avLst/>
          </a:prstGeom>
          <a:noFill/>
        </p:spPr>
        <p:txBody>
          <a:bodyPr wrap="none" rtlCol="0">
            <a:spAutoFit/>
          </a:bodyPr>
          <a:lstStyle/>
          <a:p>
            <a:r>
              <a:rPr lang="en-GB" sz="3200" b="1" dirty="0">
                <a:solidFill>
                  <a:srgbClr val="51A1E9"/>
                </a:solidFill>
                <a:latin typeface="PT Sans" panose="020B0503020203020204" pitchFamily="34" charset="77"/>
              </a:rPr>
              <a:t>Move forward with parquet-java direct — </a:t>
            </a:r>
          </a:p>
          <a:p>
            <a:r>
              <a:rPr lang="en-GB" sz="3200" b="1" dirty="0">
                <a:solidFill>
                  <a:srgbClr val="51A1E9"/>
                </a:solidFill>
                <a:latin typeface="PT Sans" panose="020B0503020203020204" pitchFamily="34" charset="77"/>
              </a:rPr>
              <a:t>with the risks scoped into the next ticket, not solved by it.</a:t>
            </a:r>
          </a:p>
        </p:txBody>
      </p:sp>
    </p:spTree>
    <p:extLst>
      <p:ext uri="{BB962C8B-B14F-4D97-AF65-F5344CB8AC3E}">
        <p14:creationId xmlns:p14="http://schemas.microsoft.com/office/powerpoint/2010/main" val="38026425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8" name="Picture 287" descr="A picture containing drawing&#10;&#10;Description automatically generated">
            <a:extLst>
              <a:ext uri="{FF2B5EF4-FFF2-40B4-BE49-F238E27FC236}">
                <a16:creationId xmlns:a16="http://schemas.microsoft.com/office/drawing/2014/main" id="{2972DA13-FAB1-4D1D-82F3-70E1A4BE60C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37580" y="374073"/>
            <a:ext cx="505170" cy="505170"/>
          </a:xfrm>
          <a:prstGeom prst="rect">
            <a:avLst/>
          </a:prstGeom>
        </p:spPr>
      </p:pic>
      <p:sp>
        <p:nvSpPr>
          <p:cNvPr id="113" name="Slide Number Placeholder 103">
            <a:extLst>
              <a:ext uri="{FF2B5EF4-FFF2-40B4-BE49-F238E27FC236}">
                <a16:creationId xmlns:a16="http://schemas.microsoft.com/office/drawing/2014/main" id="{B875F0F2-9EFF-44CF-B88B-14B87E85A499}"/>
              </a:ext>
            </a:extLst>
          </p:cNvPr>
          <p:cNvSpPr txBox="1">
            <a:spLocks/>
          </p:cNvSpPr>
          <p:nvPr/>
        </p:nvSpPr>
        <p:spPr>
          <a:xfrm>
            <a:off x="11784278" y="6421969"/>
            <a:ext cx="268022" cy="276999"/>
          </a:xfrm>
          <a:prstGeom prst="rect">
            <a:avLst/>
          </a:prstGeom>
        </p:spPr>
        <p:txBody>
          <a:bodyPr vert="horz" wrap="none" lIns="91440" tIns="45720" rIns="91440" bIns="45720" rtlCol="0" anchor="ctr">
            <a:spAutoFit/>
          </a:bodyP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9577D2D2-DD48-490C-91B1-F9CF36E8FB7C}" type="slidenum">
              <a:rPr lang="en-US" smtClean="0">
                <a:solidFill>
                  <a:srgbClr val="51A1E9"/>
                </a:solidFill>
                <a:latin typeface="PT Sans Pro Light" panose="020B0403020203020204" pitchFamily="34" charset="0"/>
              </a:rPr>
              <a:pPr/>
              <a:t>16</a:t>
            </a:fld>
            <a:endParaRPr lang="en-US" dirty="0">
              <a:solidFill>
                <a:srgbClr val="51A1E9"/>
              </a:solidFill>
              <a:latin typeface="PT Sans Pro Light" panose="020B0403020203020204" pitchFamily="34" charset="0"/>
            </a:endParaRPr>
          </a:p>
        </p:txBody>
      </p:sp>
      <p:sp>
        <p:nvSpPr>
          <p:cNvPr id="7" name="TextBox 34">
            <a:extLst>
              <a:ext uri="{FF2B5EF4-FFF2-40B4-BE49-F238E27FC236}">
                <a16:creationId xmlns:a16="http://schemas.microsoft.com/office/drawing/2014/main" id="{4E0B5CF1-50AF-C5A9-E4A5-106CF09A68DC}"/>
              </a:ext>
            </a:extLst>
          </p:cNvPr>
          <p:cNvSpPr txBox="1"/>
          <p:nvPr/>
        </p:nvSpPr>
        <p:spPr>
          <a:xfrm>
            <a:off x="4143446" y="2668512"/>
            <a:ext cx="3905108" cy="1107996"/>
          </a:xfrm>
          <a:prstGeom prst="rect">
            <a:avLst/>
          </a:prstGeom>
          <a:noFill/>
        </p:spPr>
        <p:txBody>
          <a:bodyPr wrap="none" rtlCol="0">
            <a:spAutoFit/>
          </a:bodyPr>
          <a:lstStyle/>
          <a:p>
            <a:r>
              <a:rPr lang="en-GB" sz="6600" b="1" dirty="0">
                <a:solidFill>
                  <a:srgbClr val="51A1E9"/>
                </a:solidFill>
                <a:latin typeface="PT Sans" panose="020B0503020203020204" pitchFamily="34" charset="77"/>
              </a:rPr>
              <a:t>Thank you</a:t>
            </a:r>
          </a:p>
        </p:txBody>
      </p:sp>
    </p:spTree>
    <p:extLst>
      <p:ext uri="{BB962C8B-B14F-4D97-AF65-F5344CB8AC3E}">
        <p14:creationId xmlns:p14="http://schemas.microsoft.com/office/powerpoint/2010/main" val="364878753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1A1E9"/>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6732</Words>
  <Application>Microsoft Office PowerPoint</Application>
  <PresentationFormat>Widescreen</PresentationFormat>
  <Paragraphs>419</Paragraphs>
  <Slides>16</Slides>
  <Notes>16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Calibri</vt:lpstr>
      <vt:lpstr>Calibri Light</vt:lpstr>
      <vt:lpstr>Consolas</vt:lpstr>
      <vt:lpstr>PT Sans</vt:lpstr>
      <vt:lpstr>PT Sans Pro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UnicornPitch</dc:creator>
  <cp:keywords/>
  <dc:description/>
  <cp:lastModifiedBy>Emanuela Epure</cp:lastModifiedBy>
  <cp:revision>247</cp:revision>
  <cp:lastPrinted>2020-07-10T05:12:34Z</cp:lastPrinted>
  <dcterms:created xsi:type="dcterms:W3CDTF">2020-07-06T22:28:46Z</dcterms:created>
  <dcterms:modified xsi:type="dcterms:W3CDTF">2026-09-29T11:36:35Z</dcterms:modified>
  <cp:category/>
</cp:coreProperties>
</file>