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97" r:id="rId2"/>
    <p:sldId id="647" r:id="rId3"/>
    <p:sldId id="660" r:id="rId4"/>
    <p:sldId id="644" r:id="rId5"/>
    <p:sldId id="648" r:id="rId6"/>
    <p:sldId id="651" r:id="rId7"/>
    <p:sldId id="659" r:id="rId8"/>
    <p:sldId id="649" r:id="rId9"/>
    <p:sldId id="650" r:id="rId10"/>
    <p:sldId id="652" r:id="rId11"/>
    <p:sldId id="653" r:id="rId12"/>
    <p:sldId id="654" r:id="rId13"/>
    <p:sldId id="655" r:id="rId14"/>
    <p:sldId id="656" r:id="rId15"/>
    <p:sldId id="657" r:id="rId16"/>
    <p:sldId id="66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7680" userDrawn="1">
          <p15:clr>
            <a:srgbClr val="F26B43"/>
          </p15:clr>
        </p15:guide>
        <p15:guide id="6" pos="3840" userDrawn="1">
          <p15:clr>
            <a:srgbClr val="F26B43"/>
          </p15:clr>
        </p15:guide>
        <p15:guide id="7" orient="horz" userDrawn="1">
          <p15:clr>
            <a:srgbClr val="F26B43"/>
          </p15:clr>
        </p15:guide>
        <p15:guide id="9" pos="30" userDrawn="1">
          <p15:clr>
            <a:srgbClr val="F26B43"/>
          </p15:clr>
        </p15:guide>
        <p15:guide id="10" orient="horz" pos="2183" userDrawn="1">
          <p15:clr>
            <a:srgbClr val="F26B43"/>
          </p15:clr>
        </p15:guide>
        <p15:guide id="11" orient="horz" pos="4320" userDrawn="1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A1E9"/>
    <a:srgbClr val="98C14F"/>
    <a:srgbClr val="A7DC72"/>
    <a:srgbClr val="176DBB"/>
    <a:srgbClr val="1C84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6" autoAdjust="0"/>
    <p:restoredTop sz="52542" autoAdjust="0"/>
  </p:normalViewPr>
  <p:slideViewPr>
    <p:cSldViewPr snapToGrid="0" showGuides="1">
      <p:cViewPr varScale="1">
        <p:scale>
          <a:sx n="43" d="100"/>
          <a:sy n="43" d="100"/>
        </p:scale>
        <p:origin x="2232" y="48"/>
      </p:cViewPr>
      <p:guideLst>
        <p:guide pos="7680"/>
        <p:guide pos="3840"/>
        <p:guide orient="horz"/>
        <p:guide pos="30"/>
        <p:guide orient="horz" pos="2183"/>
        <p:guide orient="horz" pos="43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C9BBC5-1F67-41FB-A8A4-95382B5B8A5F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2BE2D-578C-4925-9F89-CF92B7E88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100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2BE2D-578C-4925-9F89-CF92B7E8868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515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2BE2D-578C-4925-9F89-CF92B7E8868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5128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2BE2D-578C-4925-9F89-CF92B7E8868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235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2BE2D-578C-4925-9F89-CF92B7E8868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2485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2BE2D-578C-4925-9F89-CF92B7E8868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497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2BE2D-578C-4925-9F89-CF92B7E8868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8933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2BE2D-578C-4925-9F89-CF92B7E8868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374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2BE2D-578C-4925-9F89-CF92B7E8868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3288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2BE2D-578C-4925-9F89-CF92B7E8868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2614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2BE2D-578C-4925-9F89-CF92B7E8868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081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2BE2D-578C-4925-9F89-CF92B7E8868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9156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2BE2D-578C-4925-9F89-CF92B7E8868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444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2BE2D-578C-4925-9F89-CF92B7E8868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9526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2BE2D-578C-4925-9F89-CF92B7E8868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4795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2BE2D-578C-4925-9F89-CF92B7E8868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3604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2BE2D-578C-4925-9F89-CF92B7E8868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476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0D883-2407-4AD9-9054-9639F67F3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CA8D1D-7482-40BF-917B-24880D36E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3CD48-95D1-4ADA-AAB1-FBE709EFA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C0094-66D6-4007-8D89-557F6A75C6F4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5EF36-9A33-48CE-ABEC-9ACF983F1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3956C-4344-4ACD-998D-BD8CCC278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7D2D2-DD48-490C-91B1-F9CF36E8F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00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04B32-4F0C-46E4-9169-CADB7F66F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29C9F-C4EA-4170-B750-6C307C294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53D04-2E01-49DB-9BBC-CFD7ABD9E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6E47-1AD7-4BC9-943B-CC8E7E694A54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48804-3E22-4E16-BA28-3858D58EA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5FBE5-08D7-4263-9A89-F13D85E04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7D2D2-DD48-490C-91B1-F9CF36E8F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142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9D1E0-E5D4-4E17-B660-8F6DAD590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4D49C-2E84-4B30-8528-2ED789581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7A2E9-D8AF-40ED-AC4F-B0CC6266D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410E1-FA68-46F2-B406-D457A05CC697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96DA1-BE3D-428C-BF33-109B6E7F2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F37EB-7D75-407A-A98E-F0056780A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7D2D2-DD48-490C-91B1-F9CF36E8F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2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519D1-5373-4C69-81CC-4333CAA5E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40258-037A-49BD-B2C0-1BA6B73B87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332390-BFBB-4E7D-BCEA-EF9EF75C84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6643A6-CB93-4915-AC90-B00E78F77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AF317-09B9-4DD3-BFA3-0308158818C9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0BA81-2394-4157-B022-CE5FCFE46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502C96-A80E-4688-9B45-B29B2C9AA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7D2D2-DD48-490C-91B1-F9CF36E8F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24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4F396-637B-4B28-B9F3-485FE25B9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640AE2-5337-4617-B08A-3FA0885E1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80D54B-7BB1-448D-ABB7-B08424CEB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816116-8EA5-4271-AED4-D5B9792601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C0BECF-05C7-43C3-976D-0166ECBC17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BE11A5-2492-4EA7-96EA-805F39A12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CD9A1-EC20-430F-98C9-8920695276E0}" type="datetime1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C75D2F-5796-40D0-8F37-27E1E269F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936290-F20C-4D7B-9761-86CA17057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7D2D2-DD48-490C-91B1-F9CF36E8F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045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31AB4-4FE3-455A-B8BD-E932C28EF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5CAB15-9FDA-4AA1-9F6D-004F0067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79CD6-7DD7-4224-8F9E-2F80DC6DDE3B}" type="datetime1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52248A-5B6D-4617-8437-31E25048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288C71-98BF-4B07-A333-D40A3F2A9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7D2D2-DD48-490C-91B1-F9CF36E8F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575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44B9EF-9A91-4778-87CA-EC3A3AE89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DEB64-B559-411D-AE07-BBD5B7248028}" type="datetime1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84730E-5D4A-41A8-801C-B2DCFADBA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E8357-5AAE-42E4-9003-AD337A051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7D2D2-DD48-490C-91B1-F9CF36E8F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907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22C14-CCDA-4B61-8AF3-0EBE4A72B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830E0-614D-42CF-9073-4499AE4F9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1022E3-4F24-4776-9D3D-1D6605CE0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4C3ACD-28AC-4521-9DDC-A07DB998C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08133-22E3-498E-A9DE-AF8A93B8A171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951F60-ECDC-4152-B9CE-0125A4BFC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788B4-1108-41CC-A5B5-40567784E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7D2D2-DD48-490C-91B1-F9CF36E8F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819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7C3B1-E28E-4CE4-A4ED-255BEB99E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DF1A67-7A9A-42A3-B919-18EC03A1D2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E135E2-05E2-4BF5-945A-194B25113B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995DD-CCC0-4202-9627-302AA627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626B-BD27-4B41-A5FF-E41611FDEA8F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E513A1-5356-4A0F-85B8-E290E469D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4C3E0B-B8C2-4E59-9145-9B48C9F84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7D2D2-DD48-490C-91B1-F9CF36E8F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82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37B88-2D2A-4D31-863F-28AC0F808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577619-91A8-423F-AF8C-6B536D69E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3B1A4-0058-4D37-BA03-C6F76D8E2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7767-410D-4D79-9975-D80113B8A809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64952-8432-4D4C-9F34-A66BAFE81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A1B31-BF34-4439-A927-B5702799A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7D2D2-DD48-490C-91B1-F9CF36E8F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327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044A0C-93CE-4E6D-AEE5-6FC83CBB9B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86A1BC-0137-4639-8106-5345D92BF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1D254-3167-4D67-A3FE-E8D9CA8DF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42615-E607-408D-B80F-568D5033D504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307A3-827D-45D6-974D-BD7F52293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2E1F1-608C-417E-B135-C74F38B21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7D2D2-DD48-490C-91B1-F9CF36E8F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818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9C0EA5-34FE-403C-9A5E-F1584DC11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27FDD-1473-4D67-BC5B-A485256B5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E7BCD-0132-4F9F-B184-122FB7B365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D2585-CADF-4620-BD5C-C76CC7EDB47E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665B7-0C42-4B3F-9A5D-C6234D0C45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EFA44-20FA-4E87-AA0F-20E2E40F7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7D2D2-DD48-490C-91B1-F9CF36E8F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33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id="{9DC48B3B-D783-4178-80EA-9D6DB46AFFAE}"/>
              </a:ext>
            </a:extLst>
          </p:cNvPr>
          <p:cNvSpPr>
            <a:spLocks noChangeAspect="1"/>
          </p:cNvSpPr>
          <p:nvPr/>
        </p:nvSpPr>
        <p:spPr>
          <a:xfrm>
            <a:off x="1434977" y="4771649"/>
            <a:ext cx="1144078" cy="1144078"/>
          </a:xfrm>
          <a:prstGeom prst="ellipse">
            <a:avLst/>
          </a:prstGeom>
          <a:gradFill>
            <a:gsLst>
              <a:gs pos="0">
                <a:srgbClr val="51A1E9"/>
              </a:gs>
              <a:gs pos="100000">
                <a:srgbClr val="176DBB"/>
              </a:gs>
            </a:gsLst>
            <a:lin ang="5400000" scaled="1"/>
          </a:gradFill>
          <a:ln>
            <a:noFill/>
          </a:ln>
          <a:effectLst>
            <a:outerShdw blurRad="254000" algn="ctr" rotWithShape="0">
              <a:schemeClr val="tx1">
                <a:lumMod val="85000"/>
                <a:lumOff val="1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D2856B-C888-514C-9674-F368B50491A9}"/>
              </a:ext>
            </a:extLst>
          </p:cNvPr>
          <p:cNvPicPr>
            <a:picLocks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84" r="12850"/>
          <a:stretch/>
        </p:blipFill>
        <p:spPr>
          <a:xfrm>
            <a:off x="1157493" y="1075600"/>
            <a:ext cx="4705199" cy="47068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0" algn="ctr" rotWithShape="0">
              <a:schemeClr val="tx1">
                <a:lumMod val="85000"/>
                <a:lumOff val="15000"/>
                <a:alpha val="24000"/>
              </a:scheme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5B19D5-A87C-4D51-B034-9B8CA3240158}"/>
              </a:ext>
            </a:extLst>
          </p:cNvPr>
          <p:cNvSpPr txBox="1"/>
          <p:nvPr/>
        </p:nvSpPr>
        <p:spPr>
          <a:xfrm>
            <a:off x="6458607" y="2371445"/>
            <a:ext cx="50209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51A1E9"/>
                </a:solidFill>
                <a:latin typeface="PT Sans" panose="020B0503020203020204" pitchFamily="34" charset="77"/>
              </a:rPr>
              <a:t>Should hale-core </a:t>
            </a:r>
            <a:br>
              <a:rPr lang="en-US" sz="4800" b="1" dirty="0">
                <a:solidFill>
                  <a:srgbClr val="51A1E9"/>
                </a:solidFill>
                <a:latin typeface="PT Sans" panose="020B0503020203020204" pitchFamily="34" charset="77"/>
              </a:rPr>
            </a:br>
            <a:r>
              <a:rPr lang="en-US" sz="4800" b="1" dirty="0">
                <a:solidFill>
                  <a:srgbClr val="51A1E9"/>
                </a:solidFill>
                <a:latin typeface="PT Sans" panose="020B0503020203020204" pitchFamily="34" charset="77"/>
              </a:rPr>
              <a:t>write </a:t>
            </a:r>
            <a:r>
              <a:rPr lang="en-US" sz="4800" b="1" dirty="0" err="1">
                <a:solidFill>
                  <a:srgbClr val="51A1E9"/>
                </a:solidFill>
                <a:latin typeface="PT Sans" panose="020B0503020203020204" pitchFamily="34" charset="77"/>
              </a:rPr>
              <a:t>GeoParquet</a:t>
            </a:r>
            <a:r>
              <a:rPr lang="en-US" sz="4800" b="1" dirty="0">
                <a:solidFill>
                  <a:srgbClr val="51A1E9"/>
                </a:solidFill>
                <a:latin typeface="PT Sans" panose="020B0503020203020204" pitchFamily="34" charset="77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AC0213-A5F3-4713-8BE0-FD2A8F2A18F2}"/>
              </a:ext>
            </a:extLst>
          </p:cNvPr>
          <p:cNvSpPr txBox="1"/>
          <p:nvPr/>
        </p:nvSpPr>
        <p:spPr>
          <a:xfrm>
            <a:off x="6458607" y="4081715"/>
            <a:ext cx="51474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77"/>
              </a:rPr>
              <a:t>What </a:t>
            </a:r>
            <a:r>
              <a:rPr lang="en-GB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77"/>
              </a:rPr>
              <a:t>GeoParquet</a:t>
            </a:r>
            <a:r>
              <a:rPr lang="en-GB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77"/>
              </a:rPr>
              <a:t> is, how it connects to hale-core, </a:t>
            </a:r>
          </a:p>
          <a:p>
            <a:r>
              <a:rPr lang="en-GB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77"/>
              </a:rPr>
              <a:t>what the spike in spikes/</a:t>
            </a:r>
            <a:r>
              <a:rPr lang="en-GB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77"/>
              </a:rPr>
              <a:t>geoparquet-poc</a:t>
            </a:r>
            <a:r>
              <a:rPr lang="en-GB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77"/>
              </a:rPr>
              <a:t> actually does —</a:t>
            </a:r>
          </a:p>
          <a:p>
            <a:r>
              <a:rPr lang="en-GB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77"/>
              </a:rPr>
              <a:t>and the decision we need to make.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F5355FF-62ED-4535-BE0D-03FFA97C3F88}"/>
              </a:ext>
            </a:extLst>
          </p:cNvPr>
          <p:cNvSpPr>
            <a:spLocks noChangeAspect="1"/>
          </p:cNvSpPr>
          <p:nvPr/>
        </p:nvSpPr>
        <p:spPr>
          <a:xfrm>
            <a:off x="4644042" y="1053655"/>
            <a:ext cx="838991" cy="838991"/>
          </a:xfrm>
          <a:prstGeom prst="ellipse">
            <a:avLst/>
          </a:prstGeom>
          <a:gradFill>
            <a:gsLst>
              <a:gs pos="0">
                <a:srgbClr val="51A1E9"/>
              </a:gs>
              <a:gs pos="100000">
                <a:srgbClr val="176DBB"/>
              </a:gs>
            </a:gsLst>
            <a:lin ang="5400000" scaled="1"/>
          </a:gradFill>
          <a:ln>
            <a:noFill/>
          </a:ln>
          <a:effectLst>
            <a:outerShdw blurRad="254000" algn="ctr" rotWithShape="0">
              <a:schemeClr val="tx1">
                <a:lumMod val="85000"/>
                <a:lumOff val="1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95F6E1E-DD50-4C98-AE5E-D8FC4316C506}"/>
              </a:ext>
            </a:extLst>
          </p:cNvPr>
          <p:cNvSpPr>
            <a:spLocks noChangeAspect="1"/>
          </p:cNvSpPr>
          <p:nvPr/>
        </p:nvSpPr>
        <p:spPr>
          <a:xfrm>
            <a:off x="905888" y="1075600"/>
            <a:ext cx="1349907" cy="134990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0" algn="ctr" rotWithShape="0">
              <a:schemeClr val="tx1">
                <a:lumMod val="85000"/>
                <a:lumOff val="15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4DB347A-B510-BE43-8DC8-AA6A068FA94D}"/>
              </a:ext>
            </a:extLst>
          </p:cNvPr>
          <p:cNvSpPr/>
          <p:nvPr/>
        </p:nvSpPr>
        <p:spPr>
          <a:xfrm>
            <a:off x="5102137" y="5257532"/>
            <a:ext cx="245371" cy="245372"/>
          </a:xfrm>
          <a:prstGeom prst="ellipse">
            <a:avLst/>
          </a:prstGeom>
          <a:gradFill>
            <a:gsLst>
              <a:gs pos="0">
                <a:srgbClr val="51A1E9"/>
              </a:gs>
              <a:gs pos="100000">
                <a:srgbClr val="176DBB"/>
              </a:gs>
            </a:gsLst>
            <a:lin ang="5400000" scaled="1"/>
          </a:gradFill>
          <a:ln>
            <a:noFill/>
          </a:ln>
          <a:effectLst>
            <a:outerShdw blurRad="254000" algn="ctr" rotWithShape="0">
              <a:schemeClr val="tx1">
                <a:lumMod val="85000"/>
                <a:lumOff val="1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2A350D4-8C78-F449-95A1-C70CAEA3E1BF}"/>
              </a:ext>
            </a:extLst>
          </p:cNvPr>
          <p:cNvSpPr/>
          <p:nvPr/>
        </p:nvSpPr>
        <p:spPr>
          <a:xfrm>
            <a:off x="6177864" y="1810154"/>
            <a:ext cx="344008" cy="344008"/>
          </a:xfrm>
          <a:prstGeom prst="ellipse">
            <a:avLst/>
          </a:prstGeom>
          <a:gradFill>
            <a:gsLst>
              <a:gs pos="0">
                <a:schemeClr val="tx1">
                  <a:lumMod val="50000"/>
                  <a:lumOff val="50000"/>
                </a:schemeClr>
              </a:gs>
              <a:gs pos="81000">
                <a:schemeClr val="tx1">
                  <a:lumMod val="85000"/>
                  <a:lumOff val="15000"/>
                </a:schemeClr>
              </a:gs>
            </a:gsLst>
            <a:lin ang="5400000" scaled="1"/>
          </a:gradFill>
          <a:ln>
            <a:noFill/>
          </a:ln>
          <a:effectLst>
            <a:outerShdw blurRad="254000" algn="ctr" rotWithShape="0">
              <a:schemeClr val="tx1">
                <a:lumMod val="85000"/>
                <a:lumOff val="15000"/>
                <a:alpha val="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4134798-297E-408D-8DBA-B3C38B860E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997" y="1349640"/>
            <a:ext cx="761687" cy="761687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44D39397-3693-9245-B00E-38238554E79F}"/>
              </a:ext>
            </a:extLst>
          </p:cNvPr>
          <p:cNvSpPr/>
          <p:nvPr/>
        </p:nvSpPr>
        <p:spPr>
          <a:xfrm>
            <a:off x="681736" y="3587941"/>
            <a:ext cx="344008" cy="344008"/>
          </a:xfrm>
          <a:prstGeom prst="ellipse">
            <a:avLst/>
          </a:prstGeom>
          <a:gradFill>
            <a:gsLst>
              <a:gs pos="0">
                <a:schemeClr val="tx1">
                  <a:lumMod val="50000"/>
                  <a:lumOff val="50000"/>
                </a:schemeClr>
              </a:gs>
              <a:gs pos="81000">
                <a:schemeClr val="tx1">
                  <a:lumMod val="85000"/>
                  <a:lumOff val="15000"/>
                </a:schemeClr>
              </a:gs>
            </a:gsLst>
            <a:lin ang="5400000" scaled="1"/>
          </a:gradFill>
          <a:ln>
            <a:noFill/>
          </a:ln>
          <a:effectLst>
            <a:outerShdw blurRad="254000" algn="ctr" rotWithShape="0">
              <a:schemeClr val="tx1">
                <a:lumMod val="85000"/>
                <a:lumOff val="15000"/>
                <a:alpha val="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03D103-707F-D00E-841E-EC550FFAAF7F}"/>
              </a:ext>
            </a:extLst>
          </p:cNvPr>
          <p:cNvSpPr txBox="1"/>
          <p:nvPr/>
        </p:nvSpPr>
        <p:spPr>
          <a:xfrm>
            <a:off x="6521872" y="1936878"/>
            <a:ext cx="5388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</a:rPr>
              <a:t>ING-5399 · INVESTIGATION SPIKE</a:t>
            </a:r>
          </a:p>
        </p:txBody>
      </p:sp>
    </p:spTree>
    <p:extLst>
      <p:ext uri="{BB962C8B-B14F-4D97-AF65-F5344CB8AC3E}">
        <p14:creationId xmlns:p14="http://schemas.microsoft.com/office/powerpoint/2010/main" val="4026771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287" descr="A picture containing drawing&#10;&#10;Description automatically generated">
            <a:extLst>
              <a:ext uri="{FF2B5EF4-FFF2-40B4-BE49-F238E27FC236}">
                <a16:creationId xmlns:a16="http://schemas.microsoft.com/office/drawing/2014/main" id="{2972DA13-FAB1-4D1D-82F3-70E1A4BE60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580" y="374073"/>
            <a:ext cx="505170" cy="505170"/>
          </a:xfrm>
          <a:prstGeom prst="rect">
            <a:avLst/>
          </a:prstGeom>
        </p:spPr>
      </p:pic>
      <p:sp>
        <p:nvSpPr>
          <p:cNvPr id="113" name="Slide Number Placeholder 103">
            <a:extLst>
              <a:ext uri="{FF2B5EF4-FFF2-40B4-BE49-F238E27FC236}">
                <a16:creationId xmlns:a16="http://schemas.microsoft.com/office/drawing/2014/main" id="{B875F0F2-9EFF-44CF-B88B-14B87E85A499}"/>
              </a:ext>
            </a:extLst>
          </p:cNvPr>
          <p:cNvSpPr txBox="1">
            <a:spLocks/>
          </p:cNvSpPr>
          <p:nvPr/>
        </p:nvSpPr>
        <p:spPr>
          <a:xfrm>
            <a:off x="11784278" y="6421969"/>
            <a:ext cx="268022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577D2D2-DD48-490C-91B1-F9CF36E8FB7C}" type="slidenum">
              <a:rPr lang="en-US" smtClean="0">
                <a:solidFill>
                  <a:srgbClr val="51A1E9"/>
                </a:solidFill>
                <a:latin typeface="PT Sans Pro Light" panose="020B0403020203020204" pitchFamily="34" charset="0"/>
              </a:rPr>
              <a:pPr/>
              <a:t>2</a:t>
            </a:fld>
            <a:endParaRPr lang="en-US" dirty="0">
              <a:solidFill>
                <a:srgbClr val="51A1E9"/>
              </a:solidFill>
              <a:latin typeface="PT Sans Pro Light" panose="020B0403020203020204" pitchFamily="34" charset="0"/>
            </a:endParaRPr>
          </a:p>
        </p:txBody>
      </p:sp>
      <p:sp>
        <p:nvSpPr>
          <p:cNvPr id="7" name="TextBox 34">
            <a:extLst>
              <a:ext uri="{FF2B5EF4-FFF2-40B4-BE49-F238E27FC236}">
                <a16:creationId xmlns:a16="http://schemas.microsoft.com/office/drawing/2014/main" id="{4E0B5CF1-50AF-C5A9-E4A5-106CF09A68DC}"/>
              </a:ext>
            </a:extLst>
          </p:cNvPr>
          <p:cNvSpPr txBox="1"/>
          <p:nvPr/>
        </p:nvSpPr>
        <p:spPr>
          <a:xfrm>
            <a:off x="464023" y="340948"/>
            <a:ext cx="3602076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51A1E9"/>
                </a:solidFill>
                <a:latin typeface="PT Sans" panose="020B0503020203020204" pitchFamily="34" charset="77"/>
              </a:rPr>
              <a:t>Agenda</a:t>
            </a:r>
            <a:br>
              <a:rPr lang="en-US" sz="3200" b="1" dirty="0">
                <a:solidFill>
                  <a:srgbClr val="51A1E9"/>
                </a:solidFill>
                <a:latin typeface="PT Sans" panose="020B0503020203020204" pitchFamily="34" charset="77"/>
              </a:rPr>
            </a:br>
            <a:r>
              <a:rPr lang="en-US" sz="3200" b="1" dirty="0">
                <a:solidFill>
                  <a:srgbClr val="51A1E9"/>
                </a:solidFill>
                <a:latin typeface="PT Sans" panose="020B0503020203020204" pitchFamily="34" charset="77"/>
              </a:rPr>
              <a:t>Where we</a:t>
            </a:r>
            <a:r>
              <a:rPr lang="en-GB" sz="3200" b="1" dirty="0">
                <a:solidFill>
                  <a:srgbClr val="51A1E9"/>
                </a:solidFill>
                <a:latin typeface="PT Sans" panose="020B0503020203020204" pitchFamily="34" charset="77"/>
              </a:rPr>
              <a:t>’re going?</a:t>
            </a:r>
            <a:endParaRPr lang="en-US" sz="3200" b="1" dirty="0">
              <a:solidFill>
                <a:srgbClr val="51A1E9"/>
              </a:solidFill>
              <a:latin typeface="PT Sans" panose="020B0503020203020204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63488D-61DE-2D25-00ED-EADE0F9CB05A}"/>
              </a:ext>
            </a:extLst>
          </p:cNvPr>
          <p:cNvSpPr txBox="1"/>
          <p:nvPr/>
        </p:nvSpPr>
        <p:spPr>
          <a:xfrm>
            <a:off x="502920" y="1737360"/>
            <a:ext cx="5486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dirty="0">
                <a:solidFill>
                  <a:schemeClr val="accent1">
                    <a:lumMod val="75000"/>
                  </a:schemeClr>
                </a:solidFill>
                <a:latin typeface="Consolas"/>
              </a:rPr>
              <a:t>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903901-E727-3886-CCD6-26FAA6E06322}"/>
              </a:ext>
            </a:extLst>
          </p:cNvPr>
          <p:cNvSpPr txBox="1"/>
          <p:nvPr/>
        </p:nvSpPr>
        <p:spPr>
          <a:xfrm>
            <a:off x="1188720" y="1755648"/>
            <a:ext cx="9601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What is </a:t>
            </a:r>
            <a:r>
              <a:rPr sz="2000" b="0" i="0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GeoParquet</a:t>
            </a:r>
            <a:endParaRPr sz="2000" b="0" i="0" dirty="0">
              <a:solidFill>
                <a:schemeClr val="accent1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E44619-2A29-9886-1D0F-C717EAC7FD1B}"/>
              </a:ext>
            </a:extLst>
          </p:cNvPr>
          <p:cNvSpPr txBox="1"/>
          <p:nvPr/>
        </p:nvSpPr>
        <p:spPr>
          <a:xfrm>
            <a:off x="502920" y="2450592"/>
            <a:ext cx="5486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chemeClr val="accent1">
                    <a:lumMod val="75000"/>
                  </a:schemeClr>
                </a:solidFill>
                <a:latin typeface="Consolas"/>
              </a:rPr>
              <a:t>02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8A5F64-434C-DCEE-CE7C-246DB4C87859}"/>
              </a:ext>
            </a:extLst>
          </p:cNvPr>
          <p:cNvSpPr txBox="1"/>
          <p:nvPr/>
        </p:nvSpPr>
        <p:spPr>
          <a:xfrm>
            <a:off x="1188720" y="2468880"/>
            <a:ext cx="9601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How it connects to hale-core's existing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A322A8-BE80-65DD-FB68-BA40B9F846FC}"/>
              </a:ext>
            </a:extLst>
          </p:cNvPr>
          <p:cNvSpPr txBox="1"/>
          <p:nvPr/>
        </p:nvSpPr>
        <p:spPr>
          <a:xfrm>
            <a:off x="502920" y="3163824"/>
            <a:ext cx="5486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chemeClr val="accent1">
                    <a:lumMod val="75000"/>
                  </a:schemeClr>
                </a:solidFill>
                <a:latin typeface="Consolas"/>
              </a:rPr>
              <a:t>03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D36780-0A81-09B3-403C-DE6A6E0E3683}"/>
              </a:ext>
            </a:extLst>
          </p:cNvPr>
          <p:cNvSpPr txBox="1"/>
          <p:nvPr/>
        </p:nvSpPr>
        <p:spPr>
          <a:xfrm>
            <a:off x="1188720" y="3182112"/>
            <a:ext cx="9601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chemeClr val="accent1">
                    <a:lumMod val="75000"/>
                  </a:schemeClr>
                </a:solidFill>
                <a:latin typeface="Calibri"/>
              </a:rPr>
              <a:t>Inside the spike: a file-by-file code walkthrough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57527A-7389-0881-FB8E-662693194B2C}"/>
              </a:ext>
            </a:extLst>
          </p:cNvPr>
          <p:cNvSpPr txBox="1"/>
          <p:nvPr/>
        </p:nvSpPr>
        <p:spPr>
          <a:xfrm>
            <a:off x="502920" y="3877056"/>
            <a:ext cx="5486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chemeClr val="accent1">
                    <a:lumMod val="75000"/>
                  </a:schemeClr>
                </a:solidFill>
                <a:latin typeface="Consolas"/>
              </a:rPr>
              <a:t>04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7AA09B-0BF4-ED36-5695-FA9825D91163}"/>
              </a:ext>
            </a:extLst>
          </p:cNvPr>
          <p:cNvSpPr txBox="1"/>
          <p:nvPr/>
        </p:nvSpPr>
        <p:spPr>
          <a:xfrm>
            <a:off x="1188720" y="3895344"/>
            <a:ext cx="9601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What w</a:t>
            </a:r>
            <a:r>
              <a:rPr lang="en-GB" sz="2000" b="0" i="0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as</a:t>
            </a:r>
            <a:r>
              <a:rPr sz="2000" b="0" i="0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actually verified — including two real corrections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5DA2FE-84A2-96FC-AB0A-95A14A96351F}"/>
              </a:ext>
            </a:extLst>
          </p:cNvPr>
          <p:cNvSpPr txBox="1"/>
          <p:nvPr/>
        </p:nvSpPr>
        <p:spPr>
          <a:xfrm>
            <a:off x="502920" y="4590288"/>
            <a:ext cx="5486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chemeClr val="accent1">
                    <a:lumMod val="75000"/>
                  </a:schemeClr>
                </a:solidFill>
                <a:latin typeface="Consolas"/>
              </a:rPr>
              <a:t>05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E20BA7-93F5-D6EF-D9C5-2506B6441867}"/>
              </a:ext>
            </a:extLst>
          </p:cNvPr>
          <p:cNvSpPr txBox="1"/>
          <p:nvPr/>
        </p:nvSpPr>
        <p:spPr>
          <a:xfrm>
            <a:off x="1188720" y="4608576"/>
            <a:ext cx="9601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The case for and against building it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74DA21-0793-F8A8-D9AF-1E3433901635}"/>
              </a:ext>
            </a:extLst>
          </p:cNvPr>
          <p:cNvSpPr txBox="1"/>
          <p:nvPr/>
        </p:nvSpPr>
        <p:spPr>
          <a:xfrm>
            <a:off x="502920" y="5303520"/>
            <a:ext cx="5486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chemeClr val="accent1">
                    <a:lumMod val="75000"/>
                  </a:schemeClr>
                </a:solidFill>
                <a:latin typeface="Consolas"/>
              </a:rPr>
              <a:t>06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7B645-F276-8129-39C6-4077E89E28AF}"/>
              </a:ext>
            </a:extLst>
          </p:cNvPr>
          <p:cNvSpPr txBox="1"/>
          <p:nvPr/>
        </p:nvSpPr>
        <p:spPr>
          <a:xfrm>
            <a:off x="1188720" y="5321808"/>
            <a:ext cx="9601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GB" sz="2000" b="0" i="0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Next steps</a:t>
            </a:r>
            <a:endParaRPr sz="2000" b="0" i="0" dirty="0">
              <a:solidFill>
                <a:schemeClr val="accent1">
                  <a:lumMod val="75000"/>
                </a:scheme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8200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287" descr="A picture containing drawing&#10;&#10;Description automatically generated">
            <a:extLst>
              <a:ext uri="{FF2B5EF4-FFF2-40B4-BE49-F238E27FC236}">
                <a16:creationId xmlns:a16="http://schemas.microsoft.com/office/drawing/2014/main" id="{2972DA13-FAB1-4D1D-82F3-70E1A4BE60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580" y="374073"/>
            <a:ext cx="505170" cy="505170"/>
          </a:xfrm>
          <a:prstGeom prst="rect">
            <a:avLst/>
          </a:prstGeom>
        </p:spPr>
      </p:pic>
      <p:sp>
        <p:nvSpPr>
          <p:cNvPr id="113" name="Slide Number Placeholder 103">
            <a:extLst>
              <a:ext uri="{FF2B5EF4-FFF2-40B4-BE49-F238E27FC236}">
                <a16:creationId xmlns:a16="http://schemas.microsoft.com/office/drawing/2014/main" id="{B875F0F2-9EFF-44CF-B88B-14B87E85A499}"/>
              </a:ext>
            </a:extLst>
          </p:cNvPr>
          <p:cNvSpPr txBox="1">
            <a:spLocks/>
          </p:cNvSpPr>
          <p:nvPr/>
        </p:nvSpPr>
        <p:spPr>
          <a:xfrm>
            <a:off x="11784278" y="6421969"/>
            <a:ext cx="268022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577D2D2-DD48-490C-91B1-F9CF36E8FB7C}" type="slidenum">
              <a:rPr lang="en-US" smtClean="0">
                <a:solidFill>
                  <a:srgbClr val="51A1E9"/>
                </a:solidFill>
                <a:latin typeface="PT Sans Pro Light" panose="020B0403020203020204" pitchFamily="34" charset="0"/>
              </a:rPr>
              <a:pPr/>
              <a:t>3</a:t>
            </a:fld>
            <a:endParaRPr lang="en-US" dirty="0">
              <a:solidFill>
                <a:srgbClr val="51A1E9"/>
              </a:solidFill>
              <a:latin typeface="PT Sans Pro Light" panose="020B0403020203020204" pitchFamily="34" charset="0"/>
            </a:endParaRPr>
          </a:p>
        </p:txBody>
      </p:sp>
      <p:sp>
        <p:nvSpPr>
          <p:cNvPr id="7" name="TextBox 34">
            <a:extLst>
              <a:ext uri="{FF2B5EF4-FFF2-40B4-BE49-F238E27FC236}">
                <a16:creationId xmlns:a16="http://schemas.microsoft.com/office/drawing/2014/main" id="{4E0B5CF1-50AF-C5A9-E4A5-106CF09A68DC}"/>
              </a:ext>
            </a:extLst>
          </p:cNvPr>
          <p:cNvSpPr txBox="1"/>
          <p:nvPr/>
        </p:nvSpPr>
        <p:spPr>
          <a:xfrm>
            <a:off x="464023" y="340948"/>
            <a:ext cx="38202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51A1E9"/>
                </a:solidFill>
                <a:latin typeface="PT Sans" panose="020B0503020203020204" pitchFamily="34" charset="77"/>
              </a:rPr>
              <a:t>What is </a:t>
            </a:r>
            <a:r>
              <a:rPr lang="en-US" sz="3200" b="1" dirty="0" err="1">
                <a:solidFill>
                  <a:srgbClr val="51A1E9"/>
                </a:solidFill>
                <a:latin typeface="PT Sans" panose="020B0503020203020204" pitchFamily="34" charset="77"/>
              </a:rPr>
              <a:t>GeoParquet</a:t>
            </a:r>
            <a:r>
              <a:rPr lang="en-US" sz="3200" b="1" dirty="0">
                <a:solidFill>
                  <a:srgbClr val="51A1E9"/>
                </a:solidFill>
                <a:latin typeface="PT Sans" panose="020B0503020203020204" pitchFamily="34" charset="77"/>
              </a:rPr>
              <a:t>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889F53-09EC-2E19-A1AF-2702AC30627A}"/>
              </a:ext>
            </a:extLst>
          </p:cNvPr>
          <p:cNvSpPr txBox="1"/>
          <p:nvPr/>
        </p:nvSpPr>
        <p:spPr>
          <a:xfrm>
            <a:off x="502920" y="1600200"/>
            <a:ext cx="11185855" cy="1046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GB" sz="1700" b="0" i="1" dirty="0">
                <a:solidFill>
                  <a:srgbClr val="4B564E"/>
                </a:solidFill>
                <a:latin typeface="Calibri"/>
              </a:rPr>
              <a:t>A convention for storing geospatial vector data (points, lines, polygons) inside a plain Apache Parquet file — not a new file format. Parquet is a columnar binary format (used a lot in the data/analytics world — </a:t>
            </a:r>
            <a:r>
              <a:rPr lang="en-GB" sz="1700" b="0" i="1" dirty="0" err="1">
                <a:solidFill>
                  <a:srgbClr val="4B564E"/>
                </a:solidFill>
                <a:latin typeface="Calibri"/>
              </a:rPr>
              <a:t>DuckDB</a:t>
            </a:r>
            <a:r>
              <a:rPr lang="en-GB" sz="1700" b="0" i="1" dirty="0">
                <a:solidFill>
                  <a:srgbClr val="4B564E"/>
                </a:solidFill>
                <a:latin typeface="Calibri"/>
              </a:rPr>
              <a:t>, Spark, etc.) that's great for compact storage and fast column-based queries. </a:t>
            </a:r>
            <a:r>
              <a:rPr lang="en-GB" sz="1700" b="0" i="1" dirty="0" err="1">
                <a:solidFill>
                  <a:srgbClr val="4B564E"/>
                </a:solidFill>
                <a:latin typeface="Calibri"/>
              </a:rPr>
              <a:t>GeoParquet</a:t>
            </a:r>
            <a:r>
              <a:rPr lang="en-GB" sz="1700" b="0" i="1" dirty="0">
                <a:solidFill>
                  <a:srgbClr val="4B564E"/>
                </a:solidFill>
                <a:latin typeface="Calibri"/>
              </a:rPr>
              <a:t> just says: "here's how to put geometries in a Parquet column and describe them so geo tools know what they're looking at.“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4A9BF4-4BB7-B94D-E5A4-48384BBB6845}"/>
              </a:ext>
            </a:extLst>
          </p:cNvPr>
          <p:cNvSpPr txBox="1"/>
          <p:nvPr/>
        </p:nvSpPr>
        <p:spPr>
          <a:xfrm>
            <a:off x="502921" y="3088713"/>
            <a:ext cx="1118585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000" b="1" dirty="0"/>
              <a:t>Why it exists</a:t>
            </a:r>
            <a:r>
              <a:rPr lang="en-GB" sz="2000" dirty="0"/>
              <a:t>: Before </a:t>
            </a:r>
            <a:r>
              <a:rPr lang="en-GB" sz="2000" dirty="0" err="1"/>
              <a:t>GeoParquet</a:t>
            </a:r>
            <a:r>
              <a:rPr lang="en-GB" sz="2000" dirty="0"/>
              <a:t>, sharing large vector datasets meant Shapefile (old, limited) or </a:t>
            </a:r>
            <a:r>
              <a:rPr lang="en-GB" sz="2000" dirty="0" err="1"/>
              <a:t>GeoPackage</a:t>
            </a:r>
            <a:r>
              <a:rPr lang="en-GB" sz="2000" dirty="0"/>
              <a:t> (SQLite-based, row-oriented). </a:t>
            </a:r>
            <a:r>
              <a:rPr lang="en-GB" sz="2000" dirty="0" err="1"/>
              <a:t>GeoParquet</a:t>
            </a:r>
            <a:r>
              <a:rPr lang="en-GB" sz="2000" dirty="0"/>
              <a:t> gives you Parquet's benefits — compression, columnar access, huge ecosystem (</a:t>
            </a:r>
            <a:r>
              <a:rPr lang="en-GB" sz="2000" dirty="0" err="1"/>
              <a:t>DuckDB</a:t>
            </a:r>
            <a:r>
              <a:rPr lang="en-GB" sz="2000" dirty="0"/>
              <a:t>, pandas, Spark, etc.) — for spatial data.</a:t>
            </a:r>
          </a:p>
          <a:p>
            <a:endParaRPr lang="en-GB" sz="2000" dirty="0"/>
          </a:p>
          <a:p>
            <a:pPr marL="0" indent="0">
              <a:buNone/>
            </a:pPr>
            <a:r>
              <a:rPr lang="en-GB" sz="2000" b="1" dirty="0"/>
              <a:t>How a geometry actually gets stored: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dirty="0"/>
              <a:t> Encoded as WKB (Well-Known Binary) — the same binary geometry format JTS/</a:t>
            </a:r>
            <a:r>
              <a:rPr lang="en-GB" sz="2000" dirty="0" err="1"/>
              <a:t>GeoTools</a:t>
            </a:r>
            <a:r>
              <a:rPr lang="en-GB" sz="2000" dirty="0"/>
              <a:t> already use internally.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dirty="0"/>
              <a:t> Put into a column, one geometry per row, like any other Parquet column.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dirty="0"/>
              <a:t> Extra metadata describes the geometry column: its CRS, what geometry types appear (Point/Polygon/etc.), a bounding box, etc.</a:t>
            </a:r>
          </a:p>
        </p:txBody>
      </p:sp>
    </p:spTree>
    <p:extLst>
      <p:ext uri="{BB962C8B-B14F-4D97-AF65-F5344CB8AC3E}">
        <p14:creationId xmlns:p14="http://schemas.microsoft.com/office/powerpoint/2010/main" val="1006369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287" descr="A picture containing drawing&#10;&#10;Description automatically generated">
            <a:extLst>
              <a:ext uri="{FF2B5EF4-FFF2-40B4-BE49-F238E27FC236}">
                <a16:creationId xmlns:a16="http://schemas.microsoft.com/office/drawing/2014/main" id="{2972DA13-FAB1-4D1D-82F3-70E1A4BE60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580" y="374073"/>
            <a:ext cx="505170" cy="505170"/>
          </a:xfrm>
          <a:prstGeom prst="rect">
            <a:avLst/>
          </a:prstGeom>
        </p:spPr>
      </p:pic>
      <p:sp>
        <p:nvSpPr>
          <p:cNvPr id="113" name="Slide Number Placeholder 103">
            <a:extLst>
              <a:ext uri="{FF2B5EF4-FFF2-40B4-BE49-F238E27FC236}">
                <a16:creationId xmlns:a16="http://schemas.microsoft.com/office/drawing/2014/main" id="{B875F0F2-9EFF-44CF-B88B-14B87E85A499}"/>
              </a:ext>
            </a:extLst>
          </p:cNvPr>
          <p:cNvSpPr txBox="1">
            <a:spLocks/>
          </p:cNvSpPr>
          <p:nvPr/>
        </p:nvSpPr>
        <p:spPr>
          <a:xfrm>
            <a:off x="11784278" y="6421969"/>
            <a:ext cx="268022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577D2D2-DD48-490C-91B1-F9CF36E8FB7C}" type="slidenum">
              <a:rPr lang="en-US" smtClean="0">
                <a:solidFill>
                  <a:srgbClr val="51A1E9"/>
                </a:solidFill>
                <a:latin typeface="PT Sans Pro Light" panose="020B0403020203020204" pitchFamily="34" charset="0"/>
              </a:rPr>
              <a:pPr/>
              <a:t>4</a:t>
            </a:fld>
            <a:endParaRPr lang="en-US" dirty="0">
              <a:solidFill>
                <a:srgbClr val="51A1E9"/>
              </a:solidFill>
              <a:latin typeface="PT Sans Pro Light" panose="020B0403020203020204" pitchFamily="34" charset="0"/>
            </a:endParaRPr>
          </a:p>
        </p:txBody>
      </p:sp>
      <p:sp>
        <p:nvSpPr>
          <p:cNvPr id="7" name="TextBox 34">
            <a:extLst>
              <a:ext uri="{FF2B5EF4-FFF2-40B4-BE49-F238E27FC236}">
                <a16:creationId xmlns:a16="http://schemas.microsoft.com/office/drawing/2014/main" id="{4E0B5CF1-50AF-C5A9-E4A5-106CF09A68DC}"/>
              </a:ext>
            </a:extLst>
          </p:cNvPr>
          <p:cNvSpPr txBox="1"/>
          <p:nvPr/>
        </p:nvSpPr>
        <p:spPr>
          <a:xfrm>
            <a:off x="464023" y="340948"/>
            <a:ext cx="38202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51A1E9"/>
                </a:solidFill>
                <a:latin typeface="PT Sans" panose="020B0503020203020204" pitchFamily="34" charset="77"/>
              </a:rPr>
              <a:t>What is </a:t>
            </a:r>
            <a:r>
              <a:rPr lang="en-US" sz="3200" b="1" dirty="0" err="1">
                <a:solidFill>
                  <a:srgbClr val="51A1E9"/>
                </a:solidFill>
                <a:latin typeface="PT Sans" panose="020B0503020203020204" pitchFamily="34" charset="77"/>
              </a:rPr>
              <a:t>GeoParquet</a:t>
            </a:r>
            <a:r>
              <a:rPr lang="en-US" sz="3200" b="1" dirty="0">
                <a:solidFill>
                  <a:srgbClr val="51A1E9"/>
                </a:solidFill>
                <a:latin typeface="PT Sans" panose="020B0503020203020204" pitchFamily="34" charset="77"/>
              </a:rPr>
              <a:t>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889F53-09EC-2E19-A1AF-2702AC30627A}"/>
              </a:ext>
            </a:extLst>
          </p:cNvPr>
          <p:cNvSpPr txBox="1"/>
          <p:nvPr/>
        </p:nvSpPr>
        <p:spPr>
          <a:xfrm>
            <a:off x="502920" y="1600200"/>
            <a:ext cx="111858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 dirty="0">
                <a:solidFill>
                  <a:srgbClr val="4B564E"/>
                </a:solidFill>
                <a:latin typeface="Calibri"/>
              </a:rPr>
              <a:t>A convention for storing geometries inside a plain Apache Parquet file — not a new file format.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4A9BF4-4BB7-B94D-E5A4-48384BBB6845}"/>
              </a:ext>
            </a:extLst>
          </p:cNvPr>
          <p:cNvSpPr txBox="1"/>
          <p:nvPr/>
        </p:nvSpPr>
        <p:spPr>
          <a:xfrm>
            <a:off x="502920" y="2240280"/>
            <a:ext cx="5577840" cy="3934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1" dirty="0">
                <a:solidFill>
                  <a:srgbClr val="2F5B49"/>
                </a:solidFill>
                <a:latin typeface="Calibri"/>
              </a:rPr>
              <a:t>•  </a:t>
            </a:r>
            <a:r>
              <a:rPr sz="1400" b="1" dirty="0">
                <a:solidFill>
                  <a:srgbClr val="1A231E"/>
                </a:solidFill>
                <a:latin typeface="Calibri"/>
              </a:rPr>
              <a:t>Geometry → WKB. </a:t>
            </a:r>
            <a:r>
              <a:rPr sz="1400" dirty="0">
                <a:solidFill>
                  <a:srgbClr val="4B564E"/>
                </a:solidFill>
                <a:latin typeface="Calibri"/>
              </a:rPr>
              <a:t>Well-Known Binary, the same encoding JTS/</a:t>
            </a:r>
            <a:r>
              <a:rPr sz="1400" dirty="0" err="1">
                <a:solidFill>
                  <a:srgbClr val="4B564E"/>
                </a:solidFill>
                <a:latin typeface="Calibri"/>
              </a:rPr>
              <a:t>GeoTools</a:t>
            </a:r>
            <a:r>
              <a:rPr sz="1400" dirty="0">
                <a:solidFill>
                  <a:srgbClr val="4B564E"/>
                </a:solidFill>
                <a:latin typeface="Calibri"/>
              </a:rPr>
              <a:t> already use, stored one geometry per row.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1" dirty="0">
                <a:solidFill>
                  <a:srgbClr val="2F5B49"/>
                </a:solidFill>
                <a:latin typeface="Calibri"/>
              </a:rPr>
              <a:t>•  </a:t>
            </a:r>
            <a:r>
              <a:rPr sz="1400" b="1" dirty="0">
                <a:solidFill>
                  <a:srgbClr val="1A231E"/>
                </a:solidFill>
                <a:latin typeface="Calibri"/>
              </a:rPr>
              <a:t>1.x approach</a:t>
            </a:r>
            <a:r>
              <a:rPr lang="en-GB" sz="1400" b="1" dirty="0">
                <a:solidFill>
                  <a:srgbClr val="1A231E"/>
                </a:solidFill>
                <a:latin typeface="Calibri"/>
              </a:rPr>
              <a:t>: </a:t>
            </a:r>
            <a:r>
              <a:rPr lang="en-GB" sz="1400" dirty="0">
                <a:solidFill>
                  <a:srgbClr val="4B564E"/>
                </a:solidFill>
                <a:latin typeface="Calibri"/>
              </a:rPr>
              <a:t>geometry lives in a plain BINARY column; ALL the spatial meaning (CRS, encoding, geometry types) is bolted on separately as a JSON blob in the file's key-value metadata (a "geo" field). The column itself looks like nothing special to a generic Parquet reader.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1" dirty="0">
                <a:solidFill>
                  <a:srgbClr val="2F5B49"/>
                </a:solidFill>
                <a:latin typeface="Calibri"/>
              </a:rPr>
              <a:t>•  </a:t>
            </a:r>
            <a:r>
              <a:rPr sz="1400" b="1" dirty="0">
                <a:solidFill>
                  <a:srgbClr val="1A231E"/>
                </a:solidFill>
                <a:latin typeface="Calibri"/>
              </a:rPr>
              <a:t>2.0 approach (what we need). </a:t>
            </a:r>
            <a:r>
              <a:rPr sz="1400" dirty="0">
                <a:solidFill>
                  <a:srgbClr val="4B564E"/>
                </a:solidFill>
                <a:latin typeface="Calibri"/>
              </a:rPr>
              <a:t>Parquet itself gained native GEOMETRY / GEOGRAPHY logical types — the column is self-describing at the format level.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lang="en-GB" sz="1400" b="1" dirty="0">
                <a:solidFill>
                  <a:srgbClr val="2F5B49"/>
                </a:solidFill>
                <a:latin typeface="Calibri"/>
              </a:rPr>
              <a:t>•  </a:t>
            </a:r>
            <a:r>
              <a:rPr lang="en-GB" sz="1400" b="1" dirty="0" err="1">
                <a:solidFill>
                  <a:srgbClr val="1A231E"/>
                </a:solidFill>
                <a:latin typeface="Calibri"/>
              </a:rPr>
              <a:t>GeoArrow</a:t>
            </a:r>
            <a:r>
              <a:rPr lang="en-GB" sz="1400" b="1" dirty="0">
                <a:solidFill>
                  <a:srgbClr val="1A231E"/>
                </a:solidFill>
                <a:latin typeface="Calibri"/>
              </a:rPr>
              <a:t> — dropped in 2.0. </a:t>
            </a:r>
            <a:r>
              <a:rPr lang="en-GB" sz="1400" dirty="0">
                <a:solidFill>
                  <a:srgbClr val="4B564E"/>
                </a:solidFill>
                <a:latin typeface="Calibri"/>
              </a:rPr>
              <a:t>Good news for us: no Apache Arrow dependency required.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1" dirty="0">
                <a:solidFill>
                  <a:srgbClr val="2F5B49"/>
                </a:solidFill>
                <a:latin typeface="Calibri"/>
              </a:rPr>
              <a:t>•  </a:t>
            </a:r>
            <a:r>
              <a:rPr sz="1400" b="1" dirty="0">
                <a:solidFill>
                  <a:srgbClr val="1A231E"/>
                </a:solidFill>
                <a:latin typeface="Calibri"/>
              </a:rPr>
              <a:t>CRS as PROJJSON. </a:t>
            </a:r>
            <a:r>
              <a:rPr sz="1400" dirty="0">
                <a:solidFill>
                  <a:srgbClr val="4B564E"/>
                </a:solidFill>
                <a:latin typeface="Calibri"/>
              </a:rPr>
              <a:t>Richer, machine-readable CRS description — a writer needs a CRS → PROJJSON path.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819101-2597-5AB5-13FE-13F10C28450C}"/>
              </a:ext>
            </a:extLst>
          </p:cNvPr>
          <p:cNvSpPr/>
          <p:nvPr/>
        </p:nvSpPr>
        <p:spPr>
          <a:xfrm>
            <a:off x="6492240" y="2240280"/>
            <a:ext cx="51206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AA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EFE5C9-1AEE-57D6-F618-5F470D8CE7D2}"/>
              </a:ext>
            </a:extLst>
          </p:cNvPr>
          <p:cNvSpPr txBox="1"/>
          <p:nvPr/>
        </p:nvSpPr>
        <p:spPr>
          <a:xfrm>
            <a:off x="6720840" y="237744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231E"/>
                </a:solidFill>
                <a:latin typeface="Calibri"/>
              </a:rPr>
              <a:t>GeoParquet 1.x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326816-5439-63ED-F490-58F99D9B70DF}"/>
              </a:ext>
            </a:extLst>
          </p:cNvPr>
          <p:cNvSpPr txBox="1"/>
          <p:nvPr/>
        </p:nvSpPr>
        <p:spPr>
          <a:xfrm>
            <a:off x="6720840" y="274320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B564E"/>
                </a:solidFill>
                <a:latin typeface="Calibri"/>
              </a:rPr>
              <a:t>BINARY column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B564E"/>
                </a:solidFill>
                <a:latin typeface="Calibri"/>
              </a:rPr>
              <a:t>+ "geo" JSON metadata carries everything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5D0C4E-3B98-6ECA-BD08-410B175B9DC3}"/>
              </a:ext>
            </a:extLst>
          </p:cNvPr>
          <p:cNvSpPr/>
          <p:nvPr/>
        </p:nvSpPr>
        <p:spPr>
          <a:xfrm>
            <a:off x="6492240" y="3977639"/>
            <a:ext cx="5120640" cy="15544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2F5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6621A3-EF05-BA4A-7B76-B1728C09D709}"/>
              </a:ext>
            </a:extLst>
          </p:cNvPr>
          <p:cNvSpPr txBox="1"/>
          <p:nvPr/>
        </p:nvSpPr>
        <p:spPr>
          <a:xfrm>
            <a:off x="6720840" y="411480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0402F"/>
                </a:solidFill>
                <a:latin typeface="Calibri"/>
              </a:rPr>
              <a:t>GeoParquet 2.0 — target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61394-5271-7739-0184-E3A43D855213}"/>
              </a:ext>
            </a:extLst>
          </p:cNvPr>
          <p:cNvSpPr txBox="1"/>
          <p:nvPr/>
        </p:nvSpPr>
        <p:spPr>
          <a:xfrm>
            <a:off x="6720840" y="448056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0402F"/>
                </a:solidFill>
                <a:latin typeface="Calibri"/>
              </a:rPr>
              <a:t>BINARY column + native GEOMETRY logical type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0402F"/>
                </a:solidFill>
                <a:latin typeface="Calibri"/>
              </a:rPr>
              <a:t>"geo" metadata layered on top</a:t>
            </a:r>
          </a:p>
        </p:txBody>
      </p:sp>
    </p:spTree>
    <p:extLst>
      <p:ext uri="{BB962C8B-B14F-4D97-AF65-F5344CB8AC3E}">
        <p14:creationId xmlns:p14="http://schemas.microsoft.com/office/powerpoint/2010/main" val="3659382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287" descr="A picture containing drawing&#10;&#10;Description automatically generated">
            <a:extLst>
              <a:ext uri="{FF2B5EF4-FFF2-40B4-BE49-F238E27FC236}">
                <a16:creationId xmlns:a16="http://schemas.microsoft.com/office/drawing/2014/main" id="{2972DA13-FAB1-4D1D-82F3-70E1A4BE60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580" y="374073"/>
            <a:ext cx="505170" cy="505170"/>
          </a:xfrm>
          <a:prstGeom prst="rect">
            <a:avLst/>
          </a:prstGeom>
        </p:spPr>
      </p:pic>
      <p:sp>
        <p:nvSpPr>
          <p:cNvPr id="113" name="Slide Number Placeholder 103">
            <a:extLst>
              <a:ext uri="{FF2B5EF4-FFF2-40B4-BE49-F238E27FC236}">
                <a16:creationId xmlns:a16="http://schemas.microsoft.com/office/drawing/2014/main" id="{B875F0F2-9EFF-44CF-B88B-14B87E85A499}"/>
              </a:ext>
            </a:extLst>
          </p:cNvPr>
          <p:cNvSpPr txBox="1">
            <a:spLocks/>
          </p:cNvSpPr>
          <p:nvPr/>
        </p:nvSpPr>
        <p:spPr>
          <a:xfrm>
            <a:off x="11784278" y="6421969"/>
            <a:ext cx="268022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577D2D2-DD48-490C-91B1-F9CF36E8FB7C}" type="slidenum">
              <a:rPr lang="en-US" smtClean="0">
                <a:solidFill>
                  <a:srgbClr val="51A1E9"/>
                </a:solidFill>
                <a:latin typeface="PT Sans Pro Light" panose="020B0403020203020204" pitchFamily="34" charset="0"/>
              </a:rPr>
              <a:pPr/>
              <a:t>5</a:t>
            </a:fld>
            <a:endParaRPr lang="en-US" dirty="0">
              <a:solidFill>
                <a:srgbClr val="51A1E9"/>
              </a:solidFill>
              <a:latin typeface="PT Sans Pro Light" panose="020B0403020203020204" pitchFamily="34" charset="0"/>
            </a:endParaRPr>
          </a:p>
        </p:txBody>
      </p:sp>
      <p:sp>
        <p:nvSpPr>
          <p:cNvPr id="8" name="TextBox 26">
            <a:extLst>
              <a:ext uri="{FF2B5EF4-FFF2-40B4-BE49-F238E27FC236}">
                <a16:creationId xmlns:a16="http://schemas.microsoft.com/office/drawing/2014/main" id="{415C9A0B-49F0-AB33-1A9C-601A5CF6AFFA}"/>
              </a:ext>
            </a:extLst>
          </p:cNvPr>
          <p:cNvSpPr txBox="1"/>
          <p:nvPr/>
        </p:nvSpPr>
        <p:spPr>
          <a:xfrm>
            <a:off x="593874" y="1327291"/>
            <a:ext cx="1103514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34">
            <a:extLst>
              <a:ext uri="{FF2B5EF4-FFF2-40B4-BE49-F238E27FC236}">
                <a16:creationId xmlns:a16="http://schemas.microsoft.com/office/drawing/2014/main" id="{4E0B5CF1-50AF-C5A9-E4A5-106CF09A68DC}"/>
              </a:ext>
            </a:extLst>
          </p:cNvPr>
          <p:cNvSpPr txBox="1"/>
          <p:nvPr/>
        </p:nvSpPr>
        <p:spPr>
          <a:xfrm>
            <a:off x="464023" y="340948"/>
            <a:ext cx="51719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51A1E9"/>
                </a:solidFill>
                <a:latin typeface="PT Sans" panose="020B0503020203020204" pitchFamily="34" charset="77"/>
              </a:rPr>
              <a:t>How it connects to hale-core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61220D-A440-F82A-2A27-43519CFFAE6B}"/>
              </a:ext>
            </a:extLst>
          </p:cNvPr>
          <p:cNvSpPr txBox="1"/>
          <p:nvPr/>
        </p:nvSpPr>
        <p:spPr>
          <a:xfrm>
            <a:off x="502920" y="1600200"/>
            <a:ext cx="111858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4B564E"/>
                </a:solidFill>
                <a:latin typeface="Calibri"/>
              </a:rPr>
              <a:t>hale-core already has a family of geo export plugins that follow one shape.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48C0F5-BFAD-55BE-608A-46943C5AA992}"/>
              </a:ext>
            </a:extLst>
          </p:cNvPr>
          <p:cNvSpPr/>
          <p:nvPr/>
        </p:nvSpPr>
        <p:spPr>
          <a:xfrm>
            <a:off x="502920" y="2286000"/>
            <a:ext cx="56692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AA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F9E105-C691-9ED2-8ADA-FFDB5AF64D56}"/>
              </a:ext>
            </a:extLst>
          </p:cNvPr>
          <p:cNvSpPr txBox="1"/>
          <p:nvPr/>
        </p:nvSpPr>
        <p:spPr>
          <a:xfrm>
            <a:off x="685800" y="235915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231E"/>
                </a:solidFill>
                <a:latin typeface="Consolas"/>
              </a:rPr>
              <a:t>InstanceWriter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0834D2-B8BF-373F-BDD9-EB17E77890C7}"/>
              </a:ext>
            </a:extLst>
          </p:cNvPr>
          <p:cNvSpPr txBox="1"/>
          <p:nvPr/>
        </p:nvSpPr>
        <p:spPr>
          <a:xfrm>
            <a:off x="685800" y="265176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B564E"/>
                </a:solidFill>
                <a:latin typeface="Calibri"/>
              </a:rPr>
              <a:t>interface</a:t>
            </a:r>
          </a:p>
        </p:txBody>
      </p: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5669CCD4-7808-F77E-CDC1-0A7830161F66}"/>
              </a:ext>
            </a:extLst>
          </p:cNvPr>
          <p:cNvCxnSpPr/>
          <p:nvPr/>
        </p:nvCxnSpPr>
        <p:spPr>
          <a:xfrm>
            <a:off x="777240" y="2971800"/>
            <a:ext cx="320040" cy="182880"/>
          </a:xfrm>
          <a:prstGeom prst="line">
            <a:avLst/>
          </a:prstGeom>
          <a:ln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7E8F084-0567-DA53-4304-38F03BFBD165}"/>
              </a:ext>
            </a:extLst>
          </p:cNvPr>
          <p:cNvSpPr/>
          <p:nvPr/>
        </p:nvSpPr>
        <p:spPr>
          <a:xfrm>
            <a:off x="822960" y="3154680"/>
            <a:ext cx="5349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AA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DA6D90-43BC-67D7-D894-F12F6651E8FA}"/>
              </a:ext>
            </a:extLst>
          </p:cNvPr>
          <p:cNvSpPr txBox="1"/>
          <p:nvPr/>
        </p:nvSpPr>
        <p:spPr>
          <a:xfrm>
            <a:off x="1005840" y="3227832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231E"/>
                </a:solidFill>
                <a:latin typeface="Consolas"/>
              </a:rPr>
              <a:t>AbstractInstanceWriter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DC7E81-D78E-4CD0-1894-D27BBB731B62}"/>
              </a:ext>
            </a:extLst>
          </p:cNvPr>
          <p:cNvSpPr txBox="1"/>
          <p:nvPr/>
        </p:nvSpPr>
        <p:spPr>
          <a:xfrm>
            <a:off x="1005840" y="3520440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B564E"/>
                </a:solidFill>
                <a:latin typeface="Calibri"/>
              </a:rPr>
              <a:t>common/plugins/.../instance/io/impl</a:t>
            </a:r>
          </a:p>
        </p:txBody>
      </p: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EC0A30EC-F875-21D5-D431-AA6246B048DA}"/>
              </a:ext>
            </a:extLst>
          </p:cNvPr>
          <p:cNvCxnSpPr/>
          <p:nvPr/>
        </p:nvCxnSpPr>
        <p:spPr>
          <a:xfrm>
            <a:off x="1097280" y="3840480"/>
            <a:ext cx="320040" cy="182880"/>
          </a:xfrm>
          <a:prstGeom prst="line">
            <a:avLst/>
          </a:prstGeom>
          <a:ln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F558543-7040-8948-1D90-D0846AA3A7C6}"/>
              </a:ext>
            </a:extLst>
          </p:cNvPr>
          <p:cNvSpPr/>
          <p:nvPr/>
        </p:nvSpPr>
        <p:spPr>
          <a:xfrm>
            <a:off x="1143000" y="4023360"/>
            <a:ext cx="50292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AA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588E62-E008-4246-8F90-5E15075BBBC8}"/>
              </a:ext>
            </a:extLst>
          </p:cNvPr>
          <p:cNvSpPr txBox="1"/>
          <p:nvPr/>
        </p:nvSpPr>
        <p:spPr>
          <a:xfrm>
            <a:off x="1325880" y="4096512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231E"/>
                </a:solidFill>
                <a:latin typeface="Consolas"/>
              </a:rPr>
              <a:t>AbstractGeoInstanceWriter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C73090-A691-FCF8-F581-5AE8255ACB9C}"/>
              </a:ext>
            </a:extLst>
          </p:cNvPr>
          <p:cNvSpPr txBox="1"/>
          <p:nvPr/>
        </p:nvSpPr>
        <p:spPr>
          <a:xfrm>
            <a:off x="1325880" y="438912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B564E"/>
                </a:solidFill>
                <a:latin typeface="Calibri"/>
              </a:rPr>
              <a:t>implements GeoInstanceWriter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1D5E2C-981D-4C27-2423-DA47D96211F9}"/>
              </a:ext>
            </a:extLst>
          </p:cNvPr>
          <p:cNvSpPr/>
          <p:nvPr/>
        </p:nvSpPr>
        <p:spPr>
          <a:xfrm>
            <a:off x="1143000" y="4892040"/>
            <a:ext cx="4572000" cy="6400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AA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5E44AD-9064-4BF2-D4D1-18B08C151E44}"/>
              </a:ext>
            </a:extLst>
          </p:cNvPr>
          <p:cNvSpPr txBox="1"/>
          <p:nvPr/>
        </p:nvSpPr>
        <p:spPr>
          <a:xfrm>
            <a:off x="1325880" y="498348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231E"/>
                </a:solidFill>
                <a:latin typeface="Consolas"/>
              </a:rPr>
              <a:t>GeopackageInstanceWriter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E56B71-70C3-3718-CA9B-E185DA1BEF95}"/>
              </a:ext>
            </a:extLst>
          </p:cNvPr>
          <p:cNvSpPr txBox="1"/>
          <p:nvPr/>
        </p:nvSpPr>
        <p:spPr>
          <a:xfrm>
            <a:off x="1325880" y="525780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B564E"/>
                </a:solidFill>
                <a:latin typeface="Calibri"/>
              </a:rPr>
              <a:t>existing, shipped</a:t>
            </a:r>
          </a:p>
        </p:txBody>
      </p: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EDF2D50F-A69C-1A4F-B8F1-868E64C3CB88}"/>
              </a:ext>
            </a:extLst>
          </p:cNvPr>
          <p:cNvCxnSpPr/>
          <p:nvPr/>
        </p:nvCxnSpPr>
        <p:spPr>
          <a:xfrm>
            <a:off x="1097280" y="4366260"/>
            <a:ext cx="777240" cy="525780"/>
          </a:xfrm>
          <a:prstGeom prst="line">
            <a:avLst/>
          </a:prstGeom>
          <a:ln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9326E3F9-10E5-FA52-3880-C99733A3AD65}"/>
              </a:ext>
            </a:extLst>
          </p:cNvPr>
          <p:cNvSpPr/>
          <p:nvPr/>
        </p:nvSpPr>
        <p:spPr>
          <a:xfrm>
            <a:off x="6675120" y="2286000"/>
            <a:ext cx="4937760" cy="37947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2F5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E682B2-BB58-09C3-CCDB-15EBD896219B}"/>
              </a:ext>
            </a:extLst>
          </p:cNvPr>
          <p:cNvSpPr txBox="1"/>
          <p:nvPr/>
        </p:nvSpPr>
        <p:spPr>
          <a:xfrm>
            <a:off x="6949440" y="246888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>
                <a:solidFill>
                  <a:srgbClr val="20402F"/>
                </a:solidFill>
                <a:latin typeface="Calibri"/>
              </a:rPr>
              <a:t>What this means in practice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37CE86-B5F2-9146-9F24-F191EE4142D1}"/>
              </a:ext>
            </a:extLst>
          </p:cNvPr>
          <p:cNvSpPr txBox="1"/>
          <p:nvPr/>
        </p:nvSpPr>
        <p:spPr>
          <a:xfrm>
            <a:off x="6949440" y="2880360"/>
            <a:ext cx="4389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>
                <a:solidFill>
                  <a:srgbClr val="20402F"/>
                </a:solidFill>
                <a:latin typeface="Calibri"/>
              </a:rPr>
              <a:t>•  </a:t>
            </a:r>
            <a:r>
              <a:rPr sz="1450">
                <a:solidFill>
                  <a:srgbClr val="20402F"/>
                </a:solidFill>
                <a:latin typeface="Calibri"/>
              </a:rPr>
              <a:t>The existing GeoPackage writer already does: read hale's Instance / GeometryProperty / CRSDefinition → convert CRS via GeoTools → encode geometry to WKB via JTS → write.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>
                <a:solidFill>
                  <a:srgbClr val="20402F"/>
                </a:solidFill>
                <a:latin typeface="Calibri"/>
              </a:rPr>
              <a:t>•  </a:t>
            </a:r>
            <a:r>
              <a:rPr sz="1450">
                <a:solidFill>
                  <a:srgbClr val="20402F"/>
                </a:solidFill>
                <a:latin typeface="Calibri"/>
              </a:rPr>
              <a:t>A future GeoParquetInstanceWriter would follow the exact same shape — identical up through “encode to WKB,” then hand those bytes to parquet-java instead of GeoPackage's API.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>
                <a:solidFill>
                  <a:srgbClr val="20402F"/>
                </a:solidFill>
                <a:latin typeface="Calibri"/>
              </a:rPr>
              <a:t>•  </a:t>
            </a:r>
            <a:r>
              <a:rPr sz="1450">
                <a:solidFill>
                  <a:srgbClr val="20402F"/>
                </a:solidFill>
                <a:latin typeface="Calibri"/>
              </a:rPr>
              <a:t>This spike proves that last step works standalone. It is deliberately NOT wired into hale's Instance model yet — that's follow-up scope.</a:t>
            </a:r>
          </a:p>
        </p:txBody>
      </p:sp>
    </p:spTree>
    <p:extLst>
      <p:ext uri="{BB962C8B-B14F-4D97-AF65-F5344CB8AC3E}">
        <p14:creationId xmlns:p14="http://schemas.microsoft.com/office/powerpoint/2010/main" val="172278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287" descr="A picture containing drawing&#10;&#10;Description automatically generated">
            <a:extLst>
              <a:ext uri="{FF2B5EF4-FFF2-40B4-BE49-F238E27FC236}">
                <a16:creationId xmlns:a16="http://schemas.microsoft.com/office/drawing/2014/main" id="{2972DA13-FAB1-4D1D-82F3-70E1A4BE60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580" y="374073"/>
            <a:ext cx="505170" cy="505170"/>
          </a:xfrm>
          <a:prstGeom prst="rect">
            <a:avLst/>
          </a:prstGeom>
        </p:spPr>
      </p:pic>
      <p:sp>
        <p:nvSpPr>
          <p:cNvPr id="113" name="Slide Number Placeholder 103">
            <a:extLst>
              <a:ext uri="{FF2B5EF4-FFF2-40B4-BE49-F238E27FC236}">
                <a16:creationId xmlns:a16="http://schemas.microsoft.com/office/drawing/2014/main" id="{B875F0F2-9EFF-44CF-B88B-14B87E85A499}"/>
              </a:ext>
            </a:extLst>
          </p:cNvPr>
          <p:cNvSpPr txBox="1">
            <a:spLocks/>
          </p:cNvSpPr>
          <p:nvPr/>
        </p:nvSpPr>
        <p:spPr>
          <a:xfrm>
            <a:off x="11784278" y="6421969"/>
            <a:ext cx="268022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577D2D2-DD48-490C-91B1-F9CF36E8FB7C}" type="slidenum">
              <a:rPr lang="en-US" smtClean="0">
                <a:solidFill>
                  <a:srgbClr val="51A1E9"/>
                </a:solidFill>
                <a:latin typeface="PT Sans Pro Light" panose="020B0403020203020204" pitchFamily="34" charset="0"/>
              </a:rPr>
              <a:pPr/>
              <a:t>6</a:t>
            </a:fld>
            <a:endParaRPr lang="en-US" dirty="0">
              <a:solidFill>
                <a:srgbClr val="51A1E9"/>
              </a:solidFill>
              <a:latin typeface="PT Sans Pro Light" panose="020B0403020203020204" pitchFamily="34" charset="0"/>
            </a:endParaRPr>
          </a:p>
        </p:txBody>
      </p:sp>
      <p:sp>
        <p:nvSpPr>
          <p:cNvPr id="7" name="TextBox 34">
            <a:extLst>
              <a:ext uri="{FF2B5EF4-FFF2-40B4-BE49-F238E27FC236}">
                <a16:creationId xmlns:a16="http://schemas.microsoft.com/office/drawing/2014/main" id="{4E0B5CF1-50AF-C5A9-E4A5-106CF09A68DC}"/>
              </a:ext>
            </a:extLst>
          </p:cNvPr>
          <p:cNvSpPr txBox="1"/>
          <p:nvPr/>
        </p:nvSpPr>
        <p:spPr>
          <a:xfrm>
            <a:off x="464023" y="340948"/>
            <a:ext cx="54352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51A1E9"/>
                </a:solidFill>
                <a:latin typeface="PT Sans" panose="020B0503020203020204" pitchFamily="34" charset="77"/>
              </a:rPr>
              <a:t>The write pipeline, end to end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A51435-1E78-B6B6-93FB-F1667489AF6D}"/>
              </a:ext>
            </a:extLst>
          </p:cNvPr>
          <p:cNvSpPr/>
          <p:nvPr/>
        </p:nvSpPr>
        <p:spPr>
          <a:xfrm>
            <a:off x="540867" y="2377440"/>
            <a:ext cx="1965960" cy="137160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DB70FD-7782-79DA-3083-2911DB687EFB}"/>
              </a:ext>
            </a:extLst>
          </p:cNvPr>
          <p:cNvSpPr txBox="1"/>
          <p:nvPr/>
        </p:nvSpPr>
        <p:spPr>
          <a:xfrm>
            <a:off x="650595" y="2560320"/>
            <a:ext cx="17465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A231E"/>
                </a:solidFill>
                <a:latin typeface="Calibri"/>
              </a:rPr>
              <a:t>Read the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D8093-342B-7E40-368E-FB8320D67EC1}"/>
              </a:ext>
            </a:extLst>
          </p:cNvPr>
          <p:cNvSpPr txBox="1"/>
          <p:nvPr/>
        </p:nvSpPr>
        <p:spPr>
          <a:xfrm>
            <a:off x="650595" y="3063240"/>
            <a:ext cx="17465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4B564E"/>
                </a:solidFill>
                <a:latin typeface="Calibri"/>
              </a:rPr>
              <a:t>GeoPackage row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B564E"/>
                </a:solidFill>
                <a:latin typeface="Calibri"/>
              </a:rPr>
              <a:t>JDBC + header strip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8DA6DA-5C73-8688-FB51-96E9B2B0DAF4}"/>
              </a:ext>
            </a:extLst>
          </p:cNvPr>
          <p:cNvSpPr/>
          <p:nvPr/>
        </p:nvSpPr>
        <p:spPr>
          <a:xfrm>
            <a:off x="2826867" y="2377440"/>
            <a:ext cx="1965960" cy="137160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7F8795-5363-5DAC-26AF-ED9D6A8004E7}"/>
              </a:ext>
            </a:extLst>
          </p:cNvPr>
          <p:cNvSpPr txBox="1"/>
          <p:nvPr/>
        </p:nvSpPr>
        <p:spPr>
          <a:xfrm>
            <a:off x="2936595" y="2560320"/>
            <a:ext cx="17465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A231E"/>
                </a:solidFill>
                <a:latin typeface="Calibri"/>
              </a:rPr>
              <a:t>Encode shapes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F48D16-4F04-2D61-E0BC-69937BF357A7}"/>
              </a:ext>
            </a:extLst>
          </p:cNvPr>
          <p:cNvSpPr txBox="1"/>
          <p:nvPr/>
        </p:nvSpPr>
        <p:spPr>
          <a:xfrm>
            <a:off x="2936595" y="3063240"/>
            <a:ext cx="17465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4B564E"/>
                </a:solidFill>
                <a:latin typeface="Calibri"/>
              </a:rPr>
              <a:t>WKB bytes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B564E"/>
                </a:solidFill>
                <a:latin typeface="Calibri"/>
              </a:rPr>
              <a:t>JTS WKBWriter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8E0A1C-2744-DF00-15A3-D9B2A6C54474}"/>
              </a:ext>
            </a:extLst>
          </p:cNvPr>
          <p:cNvSpPr/>
          <p:nvPr/>
        </p:nvSpPr>
        <p:spPr>
          <a:xfrm>
            <a:off x="5112867" y="2377440"/>
            <a:ext cx="1965960" cy="13716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1B7D5B-2C53-6921-1BDD-3D193DDF6B45}"/>
              </a:ext>
            </a:extLst>
          </p:cNvPr>
          <p:cNvSpPr txBox="1"/>
          <p:nvPr/>
        </p:nvSpPr>
        <p:spPr>
          <a:xfrm>
            <a:off x="5222595" y="2560320"/>
            <a:ext cx="17465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20402F"/>
                </a:solidFill>
                <a:latin typeface="Calibri"/>
              </a:rPr>
              <a:t>Label as geometry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DB15EB-5170-0D2C-BDA6-2C710A94ADFE}"/>
              </a:ext>
            </a:extLst>
          </p:cNvPr>
          <p:cNvSpPr txBox="1"/>
          <p:nvPr/>
        </p:nvSpPr>
        <p:spPr>
          <a:xfrm>
            <a:off x="5222595" y="3063240"/>
            <a:ext cx="17465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0402F"/>
                </a:solidFill>
                <a:latin typeface="Calibri"/>
              </a:rPr>
              <a:t>Parquet column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20402F"/>
                </a:solidFill>
                <a:latin typeface="Calibri"/>
              </a:rPr>
              <a:t>native GEOMETRY type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20402F"/>
                </a:solidFill>
                <a:latin typeface="Calibri"/>
              </a:rPr>
              <a:t>+ "geo" metadata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5BD613-EC33-FCE9-2C58-8A51816650D5}"/>
              </a:ext>
            </a:extLst>
          </p:cNvPr>
          <p:cNvSpPr/>
          <p:nvPr/>
        </p:nvSpPr>
        <p:spPr>
          <a:xfrm>
            <a:off x="7398867" y="2377440"/>
            <a:ext cx="1965960" cy="137160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895ED6-A453-157F-1C3F-5CB403140B00}"/>
              </a:ext>
            </a:extLst>
          </p:cNvPr>
          <p:cNvSpPr txBox="1"/>
          <p:nvPr/>
        </p:nvSpPr>
        <p:spPr>
          <a:xfrm>
            <a:off x="7508595" y="2560320"/>
            <a:ext cx="17465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A231E"/>
                </a:solidFill>
                <a:latin typeface="Calibri"/>
              </a:rPr>
              <a:t>Save the file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025F7C-09DD-B106-FC79-F443EF0DFE9A}"/>
              </a:ext>
            </a:extLst>
          </p:cNvPr>
          <p:cNvSpPr txBox="1"/>
          <p:nvPr/>
        </p:nvSpPr>
        <p:spPr>
          <a:xfrm>
            <a:off x="7508595" y="3063240"/>
            <a:ext cx="17465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4B564E"/>
                </a:solidFill>
                <a:latin typeface="Calibri"/>
              </a:rPr>
              <a:t>.parquet file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B564E"/>
                </a:solidFill>
                <a:latin typeface="Calibri"/>
              </a:rPr>
              <a:t>GeoParquet 2.0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576259-826A-8F75-157E-688BA38B4237}"/>
              </a:ext>
            </a:extLst>
          </p:cNvPr>
          <p:cNvSpPr/>
          <p:nvPr/>
        </p:nvSpPr>
        <p:spPr>
          <a:xfrm>
            <a:off x="9684867" y="2377440"/>
            <a:ext cx="1965960" cy="137160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8325A9-9504-D269-B888-B8FE4C4FB54F}"/>
              </a:ext>
            </a:extLst>
          </p:cNvPr>
          <p:cNvSpPr txBox="1"/>
          <p:nvPr/>
        </p:nvSpPr>
        <p:spPr>
          <a:xfrm>
            <a:off x="9794595" y="2560320"/>
            <a:ext cx="17465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A231E"/>
                </a:solidFill>
                <a:latin typeface="Calibri"/>
              </a:rPr>
              <a:t>Check 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00F1B0-C6CA-E817-BC3B-92814A79B896}"/>
              </a:ext>
            </a:extLst>
          </p:cNvPr>
          <p:cNvSpPr txBox="1"/>
          <p:nvPr/>
        </p:nvSpPr>
        <p:spPr>
          <a:xfrm>
            <a:off x="9794595" y="3063240"/>
            <a:ext cx="17465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4B564E"/>
                </a:solidFill>
                <a:latin typeface="Calibri"/>
              </a:rPr>
              <a:t>DuckDB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B564E"/>
                </a:solidFill>
                <a:latin typeface="Calibri"/>
              </a:rPr>
              <a:t>schema + round-trip check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AF25E2-DDB3-4053-0257-26CA036C9AD5}"/>
              </a:ext>
            </a:extLst>
          </p:cNvPr>
          <p:cNvSpPr txBox="1"/>
          <p:nvPr/>
        </p:nvSpPr>
        <p:spPr>
          <a:xfrm>
            <a:off x="502920" y="4206240"/>
            <a:ext cx="111858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4B564E"/>
                </a:solidFill>
                <a:latin typeface="Calibri"/>
              </a:rPr>
              <a:t>The only step older GeoParquet 1.x writers didn't need to get right.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C5E049-2FF3-75C5-F32D-220ECC31FD9F}"/>
              </a:ext>
            </a:extLst>
          </p:cNvPr>
          <p:cNvSpPr txBox="1"/>
          <p:nvPr/>
        </p:nvSpPr>
        <p:spPr>
          <a:xfrm>
            <a:off x="502920" y="4709160"/>
            <a:ext cx="1118585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B564E"/>
                </a:solidFill>
                <a:latin typeface="Calibri"/>
              </a:rPr>
              <a:t>In a real hale plugin, step one becomes hale's own Instance / GeometryProperty / CRSDefinition model — the same shape the existing GeoPackage and Shapefile writers already read from. Everything from step two on is unchanged.</a:t>
            </a:r>
          </a:p>
        </p:txBody>
      </p:sp>
      <p:sp>
        <p:nvSpPr>
          <p:cNvPr id="289" name="Takeaway 289"/>
          <p:cNvSpPr txBox="1"/>
          <p:nvPr/>
        </p:nvSpPr>
        <p:spPr>
          <a:xfrm>
            <a:off x="508000" y="1168400"/>
            <a:ext cx="10795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GB" sz="1300" b="1" i="1" dirty="0">
                <a:solidFill>
                  <a:srgbClr val="4B564E"/>
                </a:solidFill>
                <a:latin typeface="Calibri"/>
              </a:rPr>
              <a:t>In plain words: </a:t>
            </a:r>
            <a:r>
              <a:rPr lang="en-GB" sz="1300" b="0" i="1" dirty="0">
                <a:solidFill>
                  <a:srgbClr val="4B564E"/>
                </a:solidFill>
                <a:latin typeface="Calibri"/>
              </a:rPr>
              <a:t>data goes in on the left, a checked GeoParquet file comes out on the right. Only the highlighted step is new.</a:t>
            </a:r>
          </a:p>
        </p:txBody>
      </p:sp>
    </p:spTree>
    <p:extLst>
      <p:ext uri="{BB962C8B-B14F-4D97-AF65-F5344CB8AC3E}">
        <p14:creationId xmlns:p14="http://schemas.microsoft.com/office/powerpoint/2010/main" val="3484713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287" descr="A picture containing drawing&#10;&#10;Description automatically generated">
            <a:extLst>
              <a:ext uri="{FF2B5EF4-FFF2-40B4-BE49-F238E27FC236}">
                <a16:creationId xmlns:a16="http://schemas.microsoft.com/office/drawing/2014/main" id="{2972DA13-FAB1-4D1D-82F3-70E1A4BE60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580" y="374073"/>
            <a:ext cx="505170" cy="505170"/>
          </a:xfrm>
          <a:prstGeom prst="rect">
            <a:avLst/>
          </a:prstGeom>
        </p:spPr>
      </p:pic>
      <p:sp>
        <p:nvSpPr>
          <p:cNvPr id="113" name="Slide Number Placeholder 103">
            <a:extLst>
              <a:ext uri="{FF2B5EF4-FFF2-40B4-BE49-F238E27FC236}">
                <a16:creationId xmlns:a16="http://schemas.microsoft.com/office/drawing/2014/main" id="{B875F0F2-9EFF-44CF-B88B-14B87E85A499}"/>
              </a:ext>
            </a:extLst>
          </p:cNvPr>
          <p:cNvSpPr txBox="1">
            <a:spLocks/>
          </p:cNvSpPr>
          <p:nvPr/>
        </p:nvSpPr>
        <p:spPr>
          <a:xfrm>
            <a:off x="11784278" y="6421969"/>
            <a:ext cx="268022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577D2D2-DD48-490C-91B1-F9CF36E8FB7C}" type="slidenum">
              <a:rPr lang="en-US" smtClean="0">
                <a:solidFill>
                  <a:srgbClr val="51A1E9"/>
                </a:solidFill>
                <a:latin typeface="PT Sans Pro Light" panose="020B0403020203020204" pitchFamily="34" charset="0"/>
              </a:rPr>
              <a:pPr/>
              <a:t>7</a:t>
            </a:fld>
            <a:endParaRPr lang="en-US" dirty="0">
              <a:solidFill>
                <a:srgbClr val="51A1E9"/>
              </a:solidFill>
              <a:latin typeface="PT Sans Pro Light" panose="020B0403020203020204" pitchFamily="34" charset="0"/>
            </a:endParaRPr>
          </a:p>
        </p:txBody>
      </p:sp>
      <p:sp>
        <p:nvSpPr>
          <p:cNvPr id="8" name="TextBox 26">
            <a:extLst>
              <a:ext uri="{FF2B5EF4-FFF2-40B4-BE49-F238E27FC236}">
                <a16:creationId xmlns:a16="http://schemas.microsoft.com/office/drawing/2014/main" id="{415C9A0B-49F0-AB33-1A9C-601A5CF6AFFA}"/>
              </a:ext>
            </a:extLst>
          </p:cNvPr>
          <p:cNvSpPr txBox="1"/>
          <p:nvPr/>
        </p:nvSpPr>
        <p:spPr>
          <a:xfrm>
            <a:off x="508000" y="1168400"/>
            <a:ext cx="11035142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GB" sz="1300" b="1" i="1" dirty="0">
                <a:solidFill>
                  <a:srgbClr val="4B564E"/>
                </a:solidFill>
                <a:latin typeface="Calibri"/>
              </a:rPr>
              <a:t>In plain words: </a:t>
            </a:r>
            <a:r>
              <a:rPr lang="en-GB" sz="1300" b="0" i="1" dirty="0">
                <a:solidFill>
                  <a:srgbClr val="4B564E"/>
                </a:solidFill>
                <a:latin typeface="Calibri"/>
              </a:rPr>
              <a:t>the spike does three jobs – write a GeoParquet file, try it on real data, and let an independent tool check the result.</a:t>
            </a:r>
          </a:p>
        </p:txBody>
      </p:sp>
      <p:sp>
        <p:nvSpPr>
          <p:cNvPr id="7" name="TextBox 34">
            <a:extLst>
              <a:ext uri="{FF2B5EF4-FFF2-40B4-BE49-F238E27FC236}">
                <a16:creationId xmlns:a16="http://schemas.microsoft.com/office/drawing/2014/main" id="{4E0B5CF1-50AF-C5A9-E4A5-106CF09A68DC}"/>
              </a:ext>
            </a:extLst>
          </p:cNvPr>
          <p:cNvSpPr txBox="1"/>
          <p:nvPr/>
        </p:nvSpPr>
        <p:spPr>
          <a:xfrm>
            <a:off x="464023" y="340948"/>
            <a:ext cx="61080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51A1E9"/>
                </a:solidFill>
                <a:latin typeface="PT Sans" panose="020B0503020203020204" pitchFamily="34" charset="77"/>
              </a:rPr>
              <a:t>What's actually in the spike folder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55E1A6-5431-BF87-4D11-76E0A892C532}"/>
              </a:ext>
            </a:extLst>
          </p:cNvPr>
          <p:cNvSpPr/>
          <p:nvPr/>
        </p:nvSpPr>
        <p:spPr>
          <a:xfrm>
            <a:off x="502920" y="1691640"/>
            <a:ext cx="11185855" cy="6217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D0796C-40D7-DB09-98CE-13539B1522CA}"/>
              </a:ext>
            </a:extLst>
          </p:cNvPr>
          <p:cNvSpPr txBox="1"/>
          <p:nvPr/>
        </p:nvSpPr>
        <p:spPr>
          <a:xfrm>
            <a:off x="685800" y="180136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A231E"/>
                </a:solidFill>
                <a:latin typeface="Consolas"/>
              </a:rPr>
              <a:t>pom.xml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FD3097-20AB-7A48-A804-A0D004639BFC}"/>
              </a:ext>
            </a:extLst>
          </p:cNvPr>
          <p:cNvSpPr txBox="1"/>
          <p:nvPr/>
        </p:nvSpPr>
        <p:spPr>
          <a:xfrm>
            <a:off x="3291840" y="1764792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B564E"/>
                </a:solidFill>
                <a:latin typeface="Calibri"/>
              </a:rPr>
              <a:t>Standalone Maven build. parquet-hadoop with snappy-java / zstd-jni excluded (native codecs, unnecessary for uncompressed output).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B49A4BB-E543-74BD-2BF9-2DE3F0BEE2C8}"/>
              </a:ext>
            </a:extLst>
          </p:cNvPr>
          <p:cNvSpPr/>
          <p:nvPr/>
        </p:nvSpPr>
        <p:spPr>
          <a:xfrm>
            <a:off x="502920" y="2313432"/>
            <a:ext cx="11185855" cy="62179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895227-370C-28A1-F327-3E54484E22DE}"/>
              </a:ext>
            </a:extLst>
          </p:cNvPr>
          <p:cNvSpPr txBox="1"/>
          <p:nvPr/>
        </p:nvSpPr>
        <p:spPr>
          <a:xfrm>
            <a:off x="685800" y="242316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A231E"/>
                </a:solidFill>
                <a:latin typeface="Consolas"/>
              </a:rPr>
              <a:t>CrsUtil.java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0D335D-343D-5C21-EB6B-A73628E42CF5}"/>
              </a:ext>
            </a:extLst>
          </p:cNvPr>
          <p:cNvSpPr txBox="1"/>
          <p:nvPr/>
        </p:nvSpPr>
        <p:spPr>
          <a:xfrm>
            <a:off x="3291840" y="2386584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 dirty="0">
                <a:solidFill>
                  <a:srgbClr val="4B564E"/>
                </a:solidFill>
                <a:latin typeface="Calibri"/>
              </a:rPr>
              <a:t>Downloads + caches PROJJSON per EPSG code. Spike-only – a real plugin would ship these definitions instead.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E4A8964-50D1-00FF-BCDA-58B9A2D83AAE}"/>
              </a:ext>
            </a:extLst>
          </p:cNvPr>
          <p:cNvSpPr/>
          <p:nvPr/>
        </p:nvSpPr>
        <p:spPr>
          <a:xfrm>
            <a:off x="502920" y="2935224"/>
            <a:ext cx="11185855" cy="6217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B068ED-F787-F932-04C5-A19F892AC55F}"/>
              </a:ext>
            </a:extLst>
          </p:cNvPr>
          <p:cNvSpPr txBox="1"/>
          <p:nvPr/>
        </p:nvSpPr>
        <p:spPr>
          <a:xfrm>
            <a:off x="685800" y="3044952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1A231E"/>
                </a:solidFill>
                <a:latin typeface="Consolas"/>
              </a:rPr>
              <a:t>GeoParquetPoc.java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0DEEF1-BB65-48CD-362D-C64135272851}"/>
              </a:ext>
            </a:extLst>
          </p:cNvPr>
          <p:cNvSpPr txBox="1"/>
          <p:nvPr/>
        </p:nvSpPr>
        <p:spPr>
          <a:xfrm>
            <a:off x="3291840" y="3008376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B564E"/>
                </a:solidFill>
                <a:latin typeface="Calibri"/>
              </a:rPr>
              <a:t>The core demo — 3 synthetic features written with the native GEOMETRY logical type.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C5CFF17-A957-DDBA-AF29-8EDB88D79217}"/>
              </a:ext>
            </a:extLst>
          </p:cNvPr>
          <p:cNvSpPr/>
          <p:nvPr/>
        </p:nvSpPr>
        <p:spPr>
          <a:xfrm>
            <a:off x="502920" y="3557016"/>
            <a:ext cx="11185855" cy="62179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F5E0DA-DCDC-C0CE-251F-60103F5697C7}"/>
              </a:ext>
            </a:extLst>
          </p:cNvPr>
          <p:cNvSpPr txBox="1"/>
          <p:nvPr/>
        </p:nvSpPr>
        <p:spPr>
          <a:xfrm>
            <a:off x="685800" y="3666744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A231E"/>
                </a:solidFill>
                <a:latin typeface="Consolas"/>
              </a:rPr>
              <a:t>GeoPackageToGeoParquet.java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1887F66-5618-3A98-1DC3-F7E39738E99C}"/>
              </a:ext>
            </a:extLst>
          </p:cNvPr>
          <p:cNvSpPr txBox="1"/>
          <p:nvPr/>
        </p:nvSpPr>
        <p:spPr>
          <a:xfrm>
            <a:off x="3291840" y="3630168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B564E"/>
                </a:solidFill>
                <a:latin typeface="Calibri"/>
              </a:rPr>
              <a:t>Reads a real GeoPackage layer over JDBC, hand-parses its binary geometry header, writes via the same path.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E9EFAD8-C890-8192-C550-D022E313961F}"/>
              </a:ext>
            </a:extLst>
          </p:cNvPr>
          <p:cNvSpPr/>
          <p:nvPr/>
        </p:nvSpPr>
        <p:spPr>
          <a:xfrm>
            <a:off x="502920" y="4178808"/>
            <a:ext cx="11185855" cy="6217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8B7EAC-DF2C-4354-E08F-BB4586969A5D}"/>
              </a:ext>
            </a:extLst>
          </p:cNvPr>
          <p:cNvSpPr txBox="1"/>
          <p:nvPr/>
        </p:nvSpPr>
        <p:spPr>
          <a:xfrm>
            <a:off x="685800" y="4288536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A231E"/>
                </a:solidFill>
                <a:latin typeface="Consolas"/>
              </a:rPr>
              <a:t>validate.py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0AD2C4-90F1-00EB-BACC-D3847905ECD2}"/>
              </a:ext>
            </a:extLst>
          </p:cNvPr>
          <p:cNvSpPr txBox="1"/>
          <p:nvPr/>
        </p:nvSpPr>
        <p:spPr>
          <a:xfrm>
            <a:off x="3291840" y="425196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B564E"/>
                </a:solidFill>
                <a:latin typeface="Calibri"/>
              </a:rPr>
              <a:t>Independent DuckDB check: validates the “geo” metadata against the official JSON Schema and reads geometries back as WKT.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642863A-5558-5A6E-2406-2A52BCAFBA91}"/>
              </a:ext>
            </a:extLst>
          </p:cNvPr>
          <p:cNvSpPr/>
          <p:nvPr/>
        </p:nvSpPr>
        <p:spPr>
          <a:xfrm>
            <a:off x="502920" y="4800600"/>
            <a:ext cx="11185855" cy="62179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8B0E0F-4170-153E-8DC7-568BB4764C8E}"/>
              </a:ext>
            </a:extLst>
          </p:cNvPr>
          <p:cNvSpPr txBox="1"/>
          <p:nvPr/>
        </p:nvSpPr>
        <p:spPr>
          <a:xfrm>
            <a:off x="685800" y="491032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A231E"/>
                </a:solidFill>
                <a:latin typeface="Consolas"/>
              </a:rPr>
              <a:t>data/013_Grindelwald.gpkg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C7CCB7-385B-DB33-E956-37662E5C62AA}"/>
              </a:ext>
            </a:extLst>
          </p:cNvPr>
          <p:cNvSpPr txBox="1"/>
          <p:nvPr/>
        </p:nvSpPr>
        <p:spPr>
          <a:xfrm>
            <a:off x="3291840" y="4873752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B564E"/>
                </a:solidFill>
                <a:latin typeface="Calibri"/>
              </a:rPr>
              <a:t>Real Swiss geological survey data, EPSG:2056, 18 layers — not synthetic samples.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5BD0989-AF5B-6276-02FC-8AB1326211A6}"/>
              </a:ext>
            </a:extLst>
          </p:cNvPr>
          <p:cNvSpPr/>
          <p:nvPr/>
        </p:nvSpPr>
        <p:spPr>
          <a:xfrm>
            <a:off x="502920" y="5422392"/>
            <a:ext cx="11185855" cy="6217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9A826CC-70BB-24ED-6925-214533488F22}"/>
              </a:ext>
            </a:extLst>
          </p:cNvPr>
          <p:cNvSpPr txBox="1"/>
          <p:nvPr/>
        </p:nvSpPr>
        <p:spPr>
          <a:xfrm>
            <a:off x="685800" y="553212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A231E"/>
                </a:solidFill>
                <a:latin typeface="Consolas"/>
              </a:rPr>
              <a:t>NOTES.md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3C1FF76-6038-9FBF-EF4E-D7B0EC8DE6A9}"/>
              </a:ext>
            </a:extLst>
          </p:cNvPr>
          <p:cNvSpPr txBox="1"/>
          <p:nvPr/>
        </p:nvSpPr>
        <p:spPr>
          <a:xfrm>
            <a:off x="3291840" y="5495544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B564E"/>
                </a:solidFill>
                <a:latin typeface="Calibri"/>
              </a:rPr>
              <a:t>The full investigation log this deck distills.</a:t>
            </a:r>
          </a:p>
        </p:txBody>
      </p:sp>
    </p:spTree>
    <p:extLst>
      <p:ext uri="{BB962C8B-B14F-4D97-AF65-F5344CB8AC3E}">
        <p14:creationId xmlns:p14="http://schemas.microsoft.com/office/powerpoint/2010/main" val="92215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287" descr="A picture containing drawing&#10;&#10;Description automatically generated">
            <a:extLst>
              <a:ext uri="{FF2B5EF4-FFF2-40B4-BE49-F238E27FC236}">
                <a16:creationId xmlns:a16="http://schemas.microsoft.com/office/drawing/2014/main" id="{2972DA13-FAB1-4D1D-82F3-70E1A4BE60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580" y="374073"/>
            <a:ext cx="505170" cy="505170"/>
          </a:xfrm>
          <a:prstGeom prst="rect">
            <a:avLst/>
          </a:prstGeom>
        </p:spPr>
      </p:pic>
      <p:sp>
        <p:nvSpPr>
          <p:cNvPr id="113" name="Slide Number Placeholder 103">
            <a:extLst>
              <a:ext uri="{FF2B5EF4-FFF2-40B4-BE49-F238E27FC236}">
                <a16:creationId xmlns:a16="http://schemas.microsoft.com/office/drawing/2014/main" id="{B875F0F2-9EFF-44CF-B88B-14B87E85A499}"/>
              </a:ext>
            </a:extLst>
          </p:cNvPr>
          <p:cNvSpPr txBox="1">
            <a:spLocks/>
          </p:cNvSpPr>
          <p:nvPr/>
        </p:nvSpPr>
        <p:spPr>
          <a:xfrm>
            <a:off x="11784278" y="6421969"/>
            <a:ext cx="268022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577D2D2-DD48-490C-91B1-F9CF36E8FB7C}" type="slidenum">
              <a:rPr lang="en-US" smtClean="0">
                <a:solidFill>
                  <a:srgbClr val="51A1E9"/>
                </a:solidFill>
                <a:latin typeface="PT Sans Pro Light" panose="020B0403020203020204" pitchFamily="34" charset="0"/>
              </a:rPr>
              <a:pPr/>
              <a:t>8</a:t>
            </a:fld>
            <a:endParaRPr lang="en-US" dirty="0">
              <a:solidFill>
                <a:srgbClr val="51A1E9"/>
              </a:solidFill>
              <a:latin typeface="PT Sans Pro Light" panose="020B0403020203020204" pitchFamily="34" charset="0"/>
            </a:endParaRPr>
          </a:p>
        </p:txBody>
      </p:sp>
      <p:sp>
        <p:nvSpPr>
          <p:cNvPr id="7" name="TextBox 34">
            <a:extLst>
              <a:ext uri="{FF2B5EF4-FFF2-40B4-BE49-F238E27FC236}">
                <a16:creationId xmlns:a16="http://schemas.microsoft.com/office/drawing/2014/main" id="{4E0B5CF1-50AF-C5A9-E4A5-106CF09A68DC}"/>
              </a:ext>
            </a:extLst>
          </p:cNvPr>
          <p:cNvSpPr txBox="1"/>
          <p:nvPr/>
        </p:nvSpPr>
        <p:spPr>
          <a:xfrm>
            <a:off x="464023" y="340948"/>
            <a:ext cx="75034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51A1E9"/>
                </a:solidFill>
                <a:latin typeface="PT Sans" panose="020B0503020203020204" pitchFamily="34" charset="77"/>
              </a:rPr>
              <a:t>GeoParquetPoc.java — the core mechanics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AF855E-56A5-81C6-4A9E-6B6BB0F75847}"/>
              </a:ext>
            </a:extLst>
          </p:cNvPr>
          <p:cNvSpPr txBox="1"/>
          <p:nvPr/>
        </p:nvSpPr>
        <p:spPr>
          <a:xfrm>
            <a:off x="502920" y="1600200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4B564E"/>
                </a:solidFill>
                <a:latin typeface="Calibri"/>
              </a:rPr>
              <a:t>The schema line that makes a column actually GeoParquet-2.0-compliant: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7754EB-EC1D-A1F4-CA4D-C4B712177A5B}"/>
              </a:ext>
            </a:extLst>
          </p:cNvPr>
          <p:cNvSpPr/>
          <p:nvPr/>
        </p:nvSpPr>
        <p:spPr>
          <a:xfrm>
            <a:off x="502920" y="2057400"/>
            <a:ext cx="5669280" cy="1371600"/>
          </a:xfrm>
          <a:prstGeom prst="rect">
            <a:avLst/>
          </a:prstGeom>
          <a:solidFill>
            <a:srgbClr val="161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D35FBE-4457-F1A0-9482-BDEC27B32BE3}"/>
              </a:ext>
            </a:extLst>
          </p:cNvPr>
          <p:cNvSpPr txBox="1"/>
          <p:nvPr/>
        </p:nvSpPr>
        <p:spPr>
          <a:xfrm>
            <a:off x="731520" y="2212848"/>
            <a:ext cx="5212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DCE6D6"/>
                </a:solidFill>
                <a:latin typeface="Consolas"/>
              </a:rPr>
              <a:t>.required(BINARY)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DCE6D6"/>
                </a:solidFill>
                <a:latin typeface="Consolas"/>
              </a:rPr>
              <a:t>  .as(LogicalTypeAnnotation.geometryType(crsIdentifier))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DCE6D6"/>
                </a:solidFill>
                <a:latin typeface="Consolas"/>
              </a:rPr>
              <a:t>  .named("geometry")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180BF6-B296-0769-1786-AF004DD54FD3}"/>
              </a:ext>
            </a:extLst>
          </p:cNvPr>
          <p:cNvSpPr txBox="1"/>
          <p:nvPr/>
        </p:nvSpPr>
        <p:spPr>
          <a:xfrm>
            <a:off x="502920" y="3749039"/>
            <a:ext cx="5669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2F5B49"/>
                </a:solidFill>
                <a:latin typeface="Calibri"/>
              </a:rPr>
              <a:t>•  </a:t>
            </a:r>
            <a:r>
              <a:rPr sz="1500">
                <a:solidFill>
                  <a:srgbClr val="4B564E"/>
                </a:solidFill>
                <a:latin typeface="Calibri"/>
              </a:rPr>
              <a:t>Writes 3 synthetic features: point, line, polygon.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2F5B49"/>
                </a:solidFill>
                <a:latin typeface="Calibri"/>
              </a:rPr>
              <a:t>•  </a:t>
            </a:r>
            <a:r>
              <a:rPr sz="1500">
                <a:solidFill>
                  <a:srgbClr val="4B564E"/>
                </a:solidFill>
                <a:latin typeface="Calibri"/>
              </a:rPr>
              <a:t>Encodes geometry to WKB via JTS's WKBWriter — same encoder hale already uses elsewhere.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2F5B49"/>
                </a:solidFill>
                <a:latin typeface="Calibri"/>
              </a:rPr>
              <a:t>•  </a:t>
            </a:r>
            <a:r>
              <a:rPr sz="1500">
                <a:solidFill>
                  <a:srgbClr val="4B564E"/>
                </a:solidFill>
                <a:latin typeface="Calibri"/>
              </a:rPr>
              <a:t>Attaches a "geo" JSON file-metadata block (CRS, geometry types) alongside the native column type.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2F5B49"/>
                </a:solidFill>
                <a:latin typeface="Calibri"/>
              </a:rPr>
              <a:t>•  </a:t>
            </a:r>
            <a:r>
              <a:rPr sz="1500">
                <a:solidFill>
                  <a:srgbClr val="4B564E"/>
                </a:solidFill>
                <a:latin typeface="Calibri"/>
              </a:rPr>
              <a:t>Runs on parquet-hadoop with PlainParquetConfiguration — zero org.apache.hadoop.* classes touched at runtime.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EAFDB4-0E16-51C7-073B-6104DA67A555}"/>
              </a:ext>
            </a:extLst>
          </p:cNvPr>
          <p:cNvSpPr/>
          <p:nvPr/>
        </p:nvSpPr>
        <p:spPr>
          <a:xfrm>
            <a:off x="6492240" y="2057400"/>
            <a:ext cx="512064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AA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36F44F-47B0-9D1C-08ED-B96C60AF1E89}"/>
              </a:ext>
            </a:extLst>
          </p:cNvPr>
          <p:cNvSpPr txBox="1"/>
          <p:nvPr/>
        </p:nvSpPr>
        <p:spPr>
          <a:xfrm>
            <a:off x="6766560" y="22402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231E"/>
                </a:solidFill>
                <a:latin typeface="Calibri"/>
              </a:rPr>
              <a:t>Why this line matters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2FADF5-F7F5-BA0C-27CE-9068A7D56C66}"/>
              </a:ext>
            </a:extLst>
          </p:cNvPr>
          <p:cNvSpPr txBox="1"/>
          <p:nvPr/>
        </p:nvSpPr>
        <p:spPr>
          <a:xfrm>
            <a:off x="6766560" y="2697480"/>
            <a:ext cx="4572000" cy="2127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1" dirty="0">
                <a:solidFill>
                  <a:srgbClr val="2F5B49"/>
                </a:solidFill>
                <a:latin typeface="Calibri"/>
              </a:rPr>
              <a:t>•  </a:t>
            </a:r>
            <a:r>
              <a:rPr sz="1400" dirty="0" err="1">
                <a:solidFill>
                  <a:srgbClr val="4B564E"/>
                </a:solidFill>
                <a:latin typeface="Calibri"/>
              </a:rPr>
              <a:t>GeoParquet</a:t>
            </a:r>
            <a:r>
              <a:rPr sz="1400" dirty="0">
                <a:solidFill>
                  <a:srgbClr val="4B564E"/>
                </a:solidFill>
                <a:latin typeface="Calibri"/>
              </a:rPr>
              <a:t> 1.x wrote WKB into a plain BINARY column and put ALL spatial meaning in file metadata.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1" dirty="0">
                <a:solidFill>
                  <a:srgbClr val="2F5B49"/>
                </a:solidFill>
                <a:latin typeface="Calibri"/>
              </a:rPr>
              <a:t>•  </a:t>
            </a:r>
            <a:r>
              <a:rPr sz="1400" dirty="0">
                <a:solidFill>
                  <a:srgbClr val="4B564E"/>
                </a:solidFill>
                <a:latin typeface="Calibri"/>
              </a:rPr>
              <a:t>2.0 requires the column itself to carry Parquet's native GEOMETRY logical type — discovered mid-investigation, not assumed from the start.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1" dirty="0">
                <a:solidFill>
                  <a:srgbClr val="2F5B49"/>
                </a:solidFill>
                <a:latin typeface="Calibri"/>
              </a:rPr>
              <a:t>•  </a:t>
            </a:r>
            <a:r>
              <a:rPr sz="1400" dirty="0">
                <a:solidFill>
                  <a:srgbClr val="4B564E"/>
                </a:solidFill>
                <a:latin typeface="Calibri"/>
              </a:rPr>
              <a:t>This was a real compliance gap in the spike's first version, not a nice-to-have.</a:t>
            </a:r>
          </a:p>
        </p:txBody>
      </p:sp>
      <p:sp>
        <p:nvSpPr>
          <p:cNvPr id="289" name="Takeaway 289"/>
          <p:cNvSpPr txBox="1"/>
          <p:nvPr/>
        </p:nvSpPr>
        <p:spPr>
          <a:xfrm>
            <a:off x="508000" y="1168400"/>
            <a:ext cx="10795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GB" sz="1300" b="1" i="1" dirty="0">
                <a:solidFill>
                  <a:srgbClr val="4B564E"/>
                </a:solidFill>
                <a:latin typeface="Calibri"/>
              </a:rPr>
              <a:t>In plain words: </a:t>
            </a:r>
            <a:r>
              <a:rPr lang="en-GB" sz="1300" b="0" i="1" dirty="0">
                <a:solidFill>
                  <a:srgbClr val="4B564E"/>
                </a:solidFill>
                <a:latin typeface="Calibri"/>
              </a:rPr>
              <a:t>this one line labels the column as “geometry”. Without it, the file looked fine – but wasn't really GeoParquet 2.0.</a:t>
            </a:r>
          </a:p>
        </p:txBody>
      </p:sp>
    </p:spTree>
    <p:extLst>
      <p:ext uri="{BB962C8B-B14F-4D97-AF65-F5344CB8AC3E}">
        <p14:creationId xmlns:p14="http://schemas.microsoft.com/office/powerpoint/2010/main" val="880688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287" descr="A picture containing drawing&#10;&#10;Description automatically generated">
            <a:extLst>
              <a:ext uri="{FF2B5EF4-FFF2-40B4-BE49-F238E27FC236}">
                <a16:creationId xmlns:a16="http://schemas.microsoft.com/office/drawing/2014/main" id="{2972DA13-FAB1-4D1D-82F3-70E1A4BE60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580" y="374073"/>
            <a:ext cx="505170" cy="505170"/>
          </a:xfrm>
          <a:prstGeom prst="rect">
            <a:avLst/>
          </a:prstGeom>
        </p:spPr>
      </p:pic>
      <p:sp>
        <p:nvSpPr>
          <p:cNvPr id="113" name="Slide Number Placeholder 103">
            <a:extLst>
              <a:ext uri="{FF2B5EF4-FFF2-40B4-BE49-F238E27FC236}">
                <a16:creationId xmlns:a16="http://schemas.microsoft.com/office/drawing/2014/main" id="{B875F0F2-9EFF-44CF-B88B-14B87E85A499}"/>
              </a:ext>
            </a:extLst>
          </p:cNvPr>
          <p:cNvSpPr txBox="1">
            <a:spLocks/>
          </p:cNvSpPr>
          <p:nvPr/>
        </p:nvSpPr>
        <p:spPr>
          <a:xfrm>
            <a:off x="11784278" y="6421969"/>
            <a:ext cx="268022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577D2D2-DD48-490C-91B1-F9CF36E8FB7C}" type="slidenum">
              <a:rPr lang="en-US" smtClean="0">
                <a:solidFill>
                  <a:srgbClr val="51A1E9"/>
                </a:solidFill>
                <a:latin typeface="PT Sans Pro Light" panose="020B0403020203020204" pitchFamily="34" charset="0"/>
              </a:rPr>
              <a:pPr/>
              <a:t>9</a:t>
            </a:fld>
            <a:endParaRPr lang="en-US" dirty="0">
              <a:solidFill>
                <a:srgbClr val="51A1E9"/>
              </a:solidFill>
              <a:latin typeface="PT Sans Pro Light" panose="020B0403020203020204" pitchFamily="34" charset="0"/>
            </a:endParaRPr>
          </a:p>
        </p:txBody>
      </p:sp>
      <p:sp>
        <p:nvSpPr>
          <p:cNvPr id="7" name="TextBox 34">
            <a:extLst>
              <a:ext uri="{FF2B5EF4-FFF2-40B4-BE49-F238E27FC236}">
                <a16:creationId xmlns:a16="http://schemas.microsoft.com/office/drawing/2014/main" id="{4E0B5CF1-50AF-C5A9-E4A5-106CF09A68DC}"/>
              </a:ext>
            </a:extLst>
          </p:cNvPr>
          <p:cNvSpPr txBox="1"/>
          <p:nvPr/>
        </p:nvSpPr>
        <p:spPr>
          <a:xfrm>
            <a:off x="464023" y="340948"/>
            <a:ext cx="99356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51A1E9"/>
                </a:solidFill>
                <a:latin typeface="PT Sans" panose="020B0503020203020204" pitchFamily="34" charset="77"/>
              </a:rPr>
              <a:t>GeoPackageToGeoParquet.java — proving it on real 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571149-79A7-C155-1276-6DE47EBD5678}"/>
              </a:ext>
            </a:extLst>
          </p:cNvPr>
          <p:cNvSpPr txBox="1"/>
          <p:nvPr/>
        </p:nvSpPr>
        <p:spPr>
          <a:xfrm>
            <a:off x="502920" y="1737360"/>
            <a:ext cx="6035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50" b="1">
                <a:solidFill>
                  <a:srgbClr val="2F5B49"/>
                </a:solidFill>
                <a:latin typeface="Calibri"/>
              </a:rPr>
              <a:t>•  </a:t>
            </a:r>
            <a:r>
              <a:rPr sz="1650" b="1">
                <a:solidFill>
                  <a:srgbClr val="1A231E"/>
                </a:solidFill>
                <a:latin typeface="Calibri"/>
              </a:rPr>
              <a:t>Reads a real GeoPackage layer</a:t>
            </a:r>
            <a:r>
              <a:rPr sz="1650">
                <a:solidFill>
                  <a:srgbClr val="4B564E"/>
                </a:solidFill>
                <a:latin typeface="Calibri"/>
              </a:rPr>
              <a:t> over plain JDBC (org.xerial:sqlite-jdbc) — used only to load test input, not part of the write-path footprint.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50" b="1">
                <a:solidFill>
                  <a:srgbClr val="2F5B49"/>
                </a:solidFill>
                <a:latin typeface="Calibri"/>
              </a:rPr>
              <a:t>•  </a:t>
            </a:r>
            <a:r>
              <a:rPr sz="1650" b="1">
                <a:solidFill>
                  <a:srgbClr val="1A231E"/>
                </a:solidFill>
                <a:latin typeface="Calibri"/>
              </a:rPr>
              <a:t>Hand-parses GeoPackage's binary geometry header</a:t>
            </a:r>
            <a:r>
              <a:rPr sz="1650">
                <a:solidFill>
                  <a:srgbClr val="4B564E"/>
                </a:solidFill>
                <a:latin typeface="Calibri"/>
              </a:rPr>
              <a:t> (magic bytes, flags, SRS id, optional envelope) directly from the OGC spec to get at the raw WKB underneath.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50" b="1">
                <a:solidFill>
                  <a:srgbClr val="2F5B49"/>
                </a:solidFill>
                <a:latin typeface="Calibri"/>
              </a:rPr>
              <a:t>•  </a:t>
            </a:r>
            <a:r>
              <a:rPr sz="1650" b="1">
                <a:solidFill>
                  <a:srgbClr val="1A231E"/>
                </a:solidFill>
                <a:latin typeface="Calibri"/>
              </a:rPr>
              <a:t>Feeds those bytes through the exact same writer</a:t>
            </a:r>
            <a:r>
              <a:rPr sz="1650">
                <a:solidFill>
                  <a:srgbClr val="4B564E"/>
                </a:solidFill>
                <a:latin typeface="Calibri"/>
              </a:rPr>
              <a:t> as the synthetic demo — no separate code path.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50" b="1">
                <a:solidFill>
                  <a:srgbClr val="2F5B49"/>
                </a:solidFill>
                <a:latin typeface="Calibri"/>
              </a:rPr>
              <a:t>•  </a:t>
            </a:r>
            <a:r>
              <a:rPr sz="1650" b="1">
                <a:solidFill>
                  <a:srgbClr val="1A231E"/>
                </a:solidFill>
                <a:latin typeface="Calibri"/>
              </a:rPr>
              <a:t>Test data: </a:t>
            </a:r>
            <a:r>
              <a:rPr sz="1650">
                <a:solidFill>
                  <a:srgbClr val="4B564E"/>
                </a:solidFill>
                <a:latin typeface="Calibri"/>
              </a:rPr>
              <a:t>Bedrock_PLG layer, Swiss geological survey, EPSG:2056 (CH1903+ / LV95).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5FA8A4-1F31-7E61-6BCF-A43B1D4AFD40}"/>
              </a:ext>
            </a:extLst>
          </p:cNvPr>
          <p:cNvSpPr/>
          <p:nvPr/>
        </p:nvSpPr>
        <p:spPr>
          <a:xfrm>
            <a:off x="6492240" y="1828800"/>
            <a:ext cx="24917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AA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11A543-22AD-224F-EB3D-4A99578445AA}"/>
              </a:ext>
            </a:extLst>
          </p:cNvPr>
          <p:cNvSpPr txBox="1"/>
          <p:nvPr/>
        </p:nvSpPr>
        <p:spPr>
          <a:xfrm>
            <a:off x="6675120" y="1901952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0402F"/>
                </a:solidFill>
                <a:latin typeface="Consolas"/>
              </a:rPr>
              <a:t>1,097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44C23A-F261-CDF1-A82C-45A852E61732}"/>
              </a:ext>
            </a:extLst>
          </p:cNvPr>
          <p:cNvSpPr txBox="1"/>
          <p:nvPr/>
        </p:nvSpPr>
        <p:spPr>
          <a:xfrm>
            <a:off x="6675120" y="2395728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B564E"/>
                </a:solidFill>
                <a:latin typeface="Calibri"/>
              </a:rPr>
              <a:t>real polygon features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B3856A-1518-2A43-2034-36055A0D3FB5}"/>
              </a:ext>
            </a:extLst>
          </p:cNvPr>
          <p:cNvSpPr/>
          <p:nvPr/>
        </p:nvSpPr>
        <p:spPr>
          <a:xfrm>
            <a:off x="9121140" y="1828800"/>
            <a:ext cx="24917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AA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BF7D5D-3C58-19F4-5303-1F70F9A308AA}"/>
              </a:ext>
            </a:extLst>
          </p:cNvPr>
          <p:cNvSpPr txBox="1"/>
          <p:nvPr/>
        </p:nvSpPr>
        <p:spPr>
          <a:xfrm>
            <a:off x="9304020" y="1901952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0402F"/>
                </a:solidFill>
                <a:latin typeface="Consolas"/>
              </a:rPr>
              <a:t>2.77 MB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FE4FC2-3147-4258-3E70-09A78950B2BE}"/>
              </a:ext>
            </a:extLst>
          </p:cNvPr>
          <p:cNvSpPr txBox="1"/>
          <p:nvPr/>
        </p:nvSpPr>
        <p:spPr>
          <a:xfrm>
            <a:off x="9304020" y="2395728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B564E"/>
                </a:solidFill>
                <a:latin typeface="Calibri"/>
              </a:rPr>
              <a:t>uncompressed 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BABB71-5CA8-0FB3-532E-A874F2E6C26D}"/>
              </a:ext>
            </a:extLst>
          </p:cNvPr>
          <p:cNvSpPr/>
          <p:nvPr/>
        </p:nvSpPr>
        <p:spPr>
          <a:xfrm>
            <a:off x="6492240" y="2880360"/>
            <a:ext cx="24917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AA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5E4EC6-A72E-E993-E673-861B7C214A16}"/>
              </a:ext>
            </a:extLst>
          </p:cNvPr>
          <p:cNvSpPr txBox="1"/>
          <p:nvPr/>
        </p:nvSpPr>
        <p:spPr>
          <a:xfrm>
            <a:off x="6675120" y="2953512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0402F"/>
                </a:solidFill>
                <a:latin typeface="Consolas"/>
              </a:rPr>
              <a:t>14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A7F812-6626-1357-B0C7-0611BB5A4118}"/>
              </a:ext>
            </a:extLst>
          </p:cNvPr>
          <p:cNvSpPr txBox="1"/>
          <p:nvPr/>
        </p:nvSpPr>
        <p:spPr>
          <a:xfrm>
            <a:off x="6675120" y="3447288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B564E"/>
                </a:solidFill>
                <a:latin typeface="Calibri"/>
              </a:rPr>
              <a:t>text attribute columns, incl. UUIDs + non-ASCII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4DA586-C3C4-6BD9-FF01-69C39DC2A3AC}"/>
              </a:ext>
            </a:extLst>
          </p:cNvPr>
          <p:cNvSpPr/>
          <p:nvPr/>
        </p:nvSpPr>
        <p:spPr>
          <a:xfrm>
            <a:off x="9121140" y="2880360"/>
            <a:ext cx="24917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AA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973EA8-6D66-3C89-22E6-F075412BF7B2}"/>
              </a:ext>
            </a:extLst>
          </p:cNvPr>
          <p:cNvSpPr txBox="1"/>
          <p:nvPr/>
        </p:nvSpPr>
        <p:spPr>
          <a:xfrm>
            <a:off x="9304020" y="2953512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0402F"/>
                </a:solidFill>
                <a:latin typeface="Consolas"/>
              </a:rPr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4A0D7D-DCAE-9EC0-EDCF-E974F2649C8A}"/>
              </a:ext>
            </a:extLst>
          </p:cNvPr>
          <p:cNvSpPr txBox="1"/>
          <p:nvPr/>
        </p:nvSpPr>
        <p:spPr>
          <a:xfrm>
            <a:off x="9304020" y="3447288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B564E"/>
                </a:solidFill>
                <a:latin typeface="Calibri"/>
              </a:rPr>
              <a:t>Hadoop classes touched at runtime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85C9B8-AC5C-C3A0-7762-E70A3B1213DC}"/>
              </a:ext>
            </a:extLst>
          </p:cNvPr>
          <p:cNvSpPr txBox="1"/>
          <p:nvPr/>
        </p:nvSpPr>
        <p:spPr>
          <a:xfrm>
            <a:off x="6492240" y="4023360"/>
            <a:ext cx="51206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4B564E"/>
                </a:solidFill>
                <a:latin typeface="Calibri"/>
              </a:rPr>
              <a:t>All 1,097 rows read back correctly — including non-ASCII attribute text like “Aalénien” — through DuckDB, independently of this spike's own writer code.</a:t>
            </a:r>
          </a:p>
        </p:txBody>
      </p:sp>
      <p:sp>
        <p:nvSpPr>
          <p:cNvPr id="289" name="Takeaway 289"/>
          <p:cNvSpPr txBox="1"/>
          <p:nvPr/>
        </p:nvSpPr>
        <p:spPr>
          <a:xfrm>
            <a:off x="508000" y="1168400"/>
            <a:ext cx="10795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GB" sz="1300" b="1" i="1" dirty="0">
                <a:solidFill>
                  <a:srgbClr val="4B564E"/>
                </a:solidFill>
                <a:latin typeface="Calibri"/>
              </a:rPr>
              <a:t>In plain words: </a:t>
            </a:r>
            <a:r>
              <a:rPr lang="en-GB" sz="1300" b="0" i="1" dirty="0">
                <a:solidFill>
                  <a:srgbClr val="4B564E"/>
                </a:solidFill>
                <a:latin typeface="Calibri"/>
              </a:rPr>
              <a:t>we didn't stop at made-up examples – real Swiss geology data went in, and all 1,097 rows came out correct.</a:t>
            </a:r>
          </a:p>
        </p:txBody>
      </p:sp>
    </p:spTree>
    <p:extLst>
      <p:ext uri="{BB962C8B-B14F-4D97-AF65-F5344CB8AC3E}">
        <p14:creationId xmlns:p14="http://schemas.microsoft.com/office/powerpoint/2010/main" val="2407178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287" descr="A picture containing drawing&#10;&#10;Description automatically generated">
            <a:extLst>
              <a:ext uri="{FF2B5EF4-FFF2-40B4-BE49-F238E27FC236}">
                <a16:creationId xmlns:a16="http://schemas.microsoft.com/office/drawing/2014/main" id="{2972DA13-FAB1-4D1D-82F3-70E1A4BE60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580" y="374073"/>
            <a:ext cx="505170" cy="505170"/>
          </a:xfrm>
          <a:prstGeom prst="rect">
            <a:avLst/>
          </a:prstGeom>
        </p:spPr>
      </p:pic>
      <p:sp>
        <p:nvSpPr>
          <p:cNvPr id="113" name="Slide Number Placeholder 103">
            <a:extLst>
              <a:ext uri="{FF2B5EF4-FFF2-40B4-BE49-F238E27FC236}">
                <a16:creationId xmlns:a16="http://schemas.microsoft.com/office/drawing/2014/main" id="{B875F0F2-9EFF-44CF-B88B-14B87E85A499}"/>
              </a:ext>
            </a:extLst>
          </p:cNvPr>
          <p:cNvSpPr txBox="1">
            <a:spLocks/>
          </p:cNvSpPr>
          <p:nvPr/>
        </p:nvSpPr>
        <p:spPr>
          <a:xfrm>
            <a:off x="11784278" y="6421969"/>
            <a:ext cx="268022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577D2D2-DD48-490C-91B1-F9CF36E8FB7C}" type="slidenum">
              <a:rPr lang="en-US" smtClean="0">
                <a:solidFill>
                  <a:srgbClr val="51A1E9"/>
                </a:solidFill>
                <a:latin typeface="PT Sans Pro Light" panose="020B0403020203020204" pitchFamily="34" charset="0"/>
              </a:rPr>
              <a:pPr/>
              <a:t>10</a:t>
            </a:fld>
            <a:endParaRPr lang="en-US" dirty="0">
              <a:solidFill>
                <a:srgbClr val="51A1E9"/>
              </a:solidFill>
              <a:latin typeface="PT Sans Pro Light" panose="020B0403020203020204" pitchFamily="34" charset="0"/>
            </a:endParaRPr>
          </a:p>
        </p:txBody>
      </p:sp>
      <p:sp>
        <p:nvSpPr>
          <p:cNvPr id="7" name="TextBox 34">
            <a:extLst>
              <a:ext uri="{FF2B5EF4-FFF2-40B4-BE49-F238E27FC236}">
                <a16:creationId xmlns:a16="http://schemas.microsoft.com/office/drawing/2014/main" id="{4E0B5CF1-50AF-C5A9-E4A5-106CF09A68DC}"/>
              </a:ext>
            </a:extLst>
          </p:cNvPr>
          <p:cNvSpPr txBox="1"/>
          <p:nvPr/>
        </p:nvSpPr>
        <p:spPr>
          <a:xfrm>
            <a:off x="464023" y="340948"/>
            <a:ext cx="61715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51A1E9"/>
                </a:solidFill>
                <a:latin typeface="PT Sans" panose="020B0503020203020204" pitchFamily="34" charset="77"/>
              </a:rPr>
              <a:t>What running it actually taught us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3DC04C-DA3D-18C1-ABEA-1D19E0AE92E1}"/>
              </a:ext>
            </a:extLst>
          </p:cNvPr>
          <p:cNvSpPr/>
          <p:nvPr/>
        </p:nvSpPr>
        <p:spPr>
          <a:xfrm>
            <a:off x="502920" y="1691640"/>
            <a:ext cx="3545738" cy="214884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2041772C-A43B-9273-6D4C-83EE3793BA44}"/>
              </a:ext>
            </a:extLst>
          </p:cNvPr>
          <p:cNvSpPr/>
          <p:nvPr/>
        </p:nvSpPr>
        <p:spPr>
          <a:xfrm>
            <a:off x="685800" y="1856232"/>
            <a:ext cx="1051560" cy="292608"/>
          </a:xfrm>
          <a:prstGeom prst="roundRect">
            <a:avLst>
              <a:gd name="adj" fmla="val 50000"/>
            </a:avLst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50800" tIns="12700" rIns="50800" bIns="12700" rtlCol="0" anchor="ctr"/>
          <a:lstStyle/>
          <a:p>
            <a:pPr algn="ctr"/>
            <a:r>
              <a:rPr sz="1100" b="1">
                <a:solidFill>
                  <a:srgbClr val="20402F"/>
                </a:solidFill>
                <a:latin typeface="Calibri"/>
              </a:rPr>
              <a:t>FIXED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B9F3E1-B8EC-665C-71EB-E58074E5A507}"/>
              </a:ext>
            </a:extLst>
          </p:cNvPr>
          <p:cNvSpPr txBox="1"/>
          <p:nvPr/>
        </p:nvSpPr>
        <p:spPr>
          <a:xfrm>
            <a:off x="685800" y="2286000"/>
            <a:ext cx="317997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A231E"/>
                </a:solidFill>
                <a:latin typeface="Calibri"/>
              </a:rPr>
              <a:t>Plain WKB wasn't 2.0-compliant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675912-9AEC-A703-E145-A18ED73D778A}"/>
              </a:ext>
            </a:extLst>
          </p:cNvPr>
          <p:cNvSpPr txBox="1"/>
          <p:nvPr/>
        </p:nvSpPr>
        <p:spPr>
          <a:xfrm>
            <a:off x="685800" y="2834640"/>
            <a:ext cx="317997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B564E"/>
                </a:solidFill>
                <a:latin typeface="Calibri"/>
              </a:rPr>
              <a:t>The obvious approach (WKB + file metadata only) is the old 1.x convention. Fixed once found — no library upgrade needed.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8AD3FB-C197-3C00-67D5-7B45141675FA}"/>
              </a:ext>
            </a:extLst>
          </p:cNvPr>
          <p:cNvSpPr/>
          <p:nvPr/>
        </p:nvSpPr>
        <p:spPr>
          <a:xfrm>
            <a:off x="4322978" y="1691640"/>
            <a:ext cx="3545738" cy="214884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CC1326EF-65B5-B957-2193-54D124F99207}"/>
              </a:ext>
            </a:extLst>
          </p:cNvPr>
          <p:cNvSpPr/>
          <p:nvPr/>
        </p:nvSpPr>
        <p:spPr>
          <a:xfrm>
            <a:off x="4505858" y="1856232"/>
            <a:ext cx="1051560" cy="292608"/>
          </a:xfrm>
          <a:prstGeom prst="roundRect">
            <a:avLst>
              <a:gd name="adj" fmla="val 50000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50800" tIns="12700" rIns="50800" bIns="12700" rtlCol="0" anchor="ctr"/>
          <a:lstStyle/>
          <a:p>
            <a:pPr algn="ctr"/>
            <a:r>
              <a:rPr sz="1100" b="1" dirty="0">
                <a:solidFill>
                  <a:srgbClr val="7E3D19"/>
                </a:solidFill>
                <a:latin typeface="Calibri"/>
              </a:rPr>
              <a:t>RISK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2E73C6-3CE7-699B-9ED8-4DCDFCF1EA37}"/>
              </a:ext>
            </a:extLst>
          </p:cNvPr>
          <p:cNvSpPr txBox="1"/>
          <p:nvPr/>
        </p:nvSpPr>
        <p:spPr>
          <a:xfrm>
            <a:off x="4505858" y="2286000"/>
            <a:ext cx="317997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A231E"/>
                </a:solidFill>
                <a:latin typeface="Calibri"/>
              </a:rPr>
              <a:t>Compression drags Hadoop back 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BE8DF3-5B52-3F9E-55E5-7AD3220D75E7}"/>
              </a:ext>
            </a:extLst>
          </p:cNvPr>
          <p:cNvSpPr txBox="1"/>
          <p:nvPr/>
        </p:nvSpPr>
        <p:spPr>
          <a:xfrm>
            <a:off x="4505858" y="2834640"/>
            <a:ext cx="317997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B564E"/>
                </a:solidFill>
                <a:latin typeface="Calibri"/>
              </a:rPr>
              <a:t>Every codec except UNCOMPRESSED — GZIP included — makes parquet-hadoop construct a real Hadoop Configuration internally.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D95209-70BE-0780-4675-E2358C606A81}"/>
              </a:ext>
            </a:extLst>
          </p:cNvPr>
          <p:cNvSpPr/>
          <p:nvPr/>
        </p:nvSpPr>
        <p:spPr>
          <a:xfrm>
            <a:off x="8143036" y="1691640"/>
            <a:ext cx="3545738" cy="214884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3">
            <a:extLst>
              <a:ext uri="{FF2B5EF4-FFF2-40B4-BE49-F238E27FC236}">
                <a16:creationId xmlns:a16="http://schemas.microsoft.com/office/drawing/2014/main" id="{36745F2F-1679-E7F8-DF3A-6BE22BB43C7F}"/>
              </a:ext>
            </a:extLst>
          </p:cNvPr>
          <p:cNvSpPr/>
          <p:nvPr/>
        </p:nvSpPr>
        <p:spPr>
          <a:xfrm>
            <a:off x="8325916" y="1856232"/>
            <a:ext cx="1051560" cy="292608"/>
          </a:xfrm>
          <a:prstGeom prst="roundRect">
            <a:avLst>
              <a:gd name="adj" fmla="val 50000"/>
            </a:avLst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50800" tIns="12700" rIns="50800" bIns="12700" rtlCol="0" anchor="ctr"/>
          <a:lstStyle/>
          <a:p>
            <a:pPr algn="ctr"/>
            <a:r>
              <a:rPr sz="1100" b="1">
                <a:solidFill>
                  <a:srgbClr val="20402F"/>
                </a:solidFill>
                <a:latin typeface="Calibri"/>
              </a:rPr>
              <a:t>FIXED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EDBF44-DA88-4C65-FC6A-6B9AAF43C0C5}"/>
              </a:ext>
            </a:extLst>
          </p:cNvPr>
          <p:cNvSpPr txBox="1"/>
          <p:nvPr/>
        </p:nvSpPr>
        <p:spPr>
          <a:xfrm>
            <a:off x="8325916" y="2286000"/>
            <a:ext cx="317997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A231E"/>
                </a:solidFill>
                <a:latin typeface="Calibri"/>
              </a:rPr>
              <a:t>OSGi bundling needed real testing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0F12ED-B17C-2E40-5526-CFE308E66BCC}"/>
              </a:ext>
            </a:extLst>
          </p:cNvPr>
          <p:cNvSpPr txBox="1"/>
          <p:nvPr/>
        </p:nvSpPr>
        <p:spPr>
          <a:xfrm>
            <a:off x="8325916" y="2834640"/>
            <a:ext cx="317997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B564E"/>
                </a:solidFill>
                <a:latin typeface="Calibri"/>
              </a:rPr>
              <a:t>Built an actual bundle with hale's own tooling. Found hard, unresolvable imports on Hadoop/Snappy/Zstd — fixed by marking them optional.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8DCAD0-75D7-2D6B-F4B8-0295CA1FE4EB}"/>
              </a:ext>
            </a:extLst>
          </p:cNvPr>
          <p:cNvSpPr/>
          <p:nvPr/>
        </p:nvSpPr>
        <p:spPr>
          <a:xfrm>
            <a:off x="502920" y="4069080"/>
            <a:ext cx="3545738" cy="214884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7">
            <a:extLst>
              <a:ext uri="{FF2B5EF4-FFF2-40B4-BE49-F238E27FC236}">
                <a16:creationId xmlns:a16="http://schemas.microsoft.com/office/drawing/2014/main" id="{DBF86583-A004-8C5C-C174-B4266D7FEBD5}"/>
              </a:ext>
            </a:extLst>
          </p:cNvPr>
          <p:cNvSpPr/>
          <p:nvPr/>
        </p:nvSpPr>
        <p:spPr>
          <a:xfrm>
            <a:off x="685800" y="4233672"/>
            <a:ext cx="1051560" cy="292608"/>
          </a:xfrm>
          <a:prstGeom prst="roundRect">
            <a:avLst>
              <a:gd name="adj" fmla="val 50000"/>
            </a:avLst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50800" tIns="12700" rIns="50800" bIns="12700" rtlCol="0" anchor="ctr"/>
          <a:lstStyle/>
          <a:p>
            <a:pPr algn="ctr"/>
            <a:r>
              <a:rPr sz="1100" b="1">
                <a:solidFill>
                  <a:srgbClr val="4B564E"/>
                </a:solidFill>
                <a:latin typeface="Calibri"/>
              </a:rPr>
              <a:t>OPEN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5744C2-33A4-6AEF-09D9-34160983A5F7}"/>
              </a:ext>
            </a:extLst>
          </p:cNvPr>
          <p:cNvSpPr txBox="1"/>
          <p:nvPr/>
        </p:nvSpPr>
        <p:spPr>
          <a:xfrm>
            <a:off x="685800" y="4663440"/>
            <a:ext cx="317997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A231E"/>
                </a:solidFill>
                <a:latin typeface="Calibri"/>
              </a:rPr>
              <a:t>One more manifest fix, unapplied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5A7854-8FC1-884D-000E-7F12A82CCE70}"/>
              </a:ext>
            </a:extLst>
          </p:cNvPr>
          <p:cNvSpPr txBox="1"/>
          <p:nvPr/>
        </p:nvSpPr>
        <p:spPr>
          <a:xfrm>
            <a:off x="685800" y="5212080"/>
            <a:ext cx="317997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B564E"/>
                </a:solidFill>
                <a:latin typeface="Calibri"/>
              </a:rPr>
              <a:t>Parquet's own relocated Jackson classes aren't declared private — small, mechanical, identified but not done.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F32D79-7573-B975-19E9-5FA67FD6B041}"/>
              </a:ext>
            </a:extLst>
          </p:cNvPr>
          <p:cNvSpPr/>
          <p:nvPr/>
        </p:nvSpPr>
        <p:spPr>
          <a:xfrm>
            <a:off x="4322978" y="4069080"/>
            <a:ext cx="3545738" cy="214884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1">
            <a:extLst>
              <a:ext uri="{FF2B5EF4-FFF2-40B4-BE49-F238E27FC236}">
                <a16:creationId xmlns:a16="http://schemas.microsoft.com/office/drawing/2014/main" id="{E8922BDA-2E31-4BAE-F432-FFB56C4AC230}"/>
              </a:ext>
            </a:extLst>
          </p:cNvPr>
          <p:cNvSpPr/>
          <p:nvPr/>
        </p:nvSpPr>
        <p:spPr>
          <a:xfrm>
            <a:off x="4505858" y="4233672"/>
            <a:ext cx="1051560" cy="292608"/>
          </a:xfrm>
          <a:prstGeom prst="roundRect">
            <a:avLst>
              <a:gd name="adj" fmla="val 50000"/>
            </a:avLst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50800" tIns="12700" rIns="50800" bIns="12700" rtlCol="0" anchor="ctr"/>
          <a:lstStyle/>
          <a:p>
            <a:pPr algn="ctr"/>
            <a:r>
              <a:rPr sz="1100" b="1">
                <a:solidFill>
                  <a:srgbClr val="20402F"/>
                </a:solidFill>
                <a:latin typeface="Calibri"/>
              </a:rPr>
              <a:t>CONFIRMED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EDCA1F-E451-88DB-9173-F173246481AC}"/>
              </a:ext>
            </a:extLst>
          </p:cNvPr>
          <p:cNvSpPr txBox="1"/>
          <p:nvPr/>
        </p:nvSpPr>
        <p:spPr>
          <a:xfrm>
            <a:off x="4505858" y="4663440"/>
            <a:ext cx="317997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A231E"/>
                </a:solidFill>
                <a:latin typeface="Calibri"/>
              </a:rPr>
              <a:t>Real data, not just synthetic samples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40DC44-5752-73E2-7448-E470B05D86C9}"/>
              </a:ext>
            </a:extLst>
          </p:cNvPr>
          <p:cNvSpPr txBox="1"/>
          <p:nvPr/>
        </p:nvSpPr>
        <p:spPr>
          <a:xfrm>
            <a:off x="4505858" y="5212080"/>
            <a:ext cx="317997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B564E"/>
                </a:solidFill>
                <a:latin typeface="Calibri"/>
              </a:rPr>
              <a:t>1,097 real polygons with non-ASCII text round-tripped correctly through an independent reader.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5D9559A-A344-6ED1-B9AD-B5C8D9E2B55B}"/>
              </a:ext>
            </a:extLst>
          </p:cNvPr>
          <p:cNvSpPr/>
          <p:nvPr/>
        </p:nvSpPr>
        <p:spPr>
          <a:xfrm>
            <a:off x="8143036" y="4069080"/>
            <a:ext cx="3545738" cy="214884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5">
            <a:extLst>
              <a:ext uri="{FF2B5EF4-FFF2-40B4-BE49-F238E27FC236}">
                <a16:creationId xmlns:a16="http://schemas.microsoft.com/office/drawing/2014/main" id="{53ADB24D-C707-76C3-0C0F-9CD8D8E4A1B9}"/>
              </a:ext>
            </a:extLst>
          </p:cNvPr>
          <p:cNvSpPr/>
          <p:nvPr/>
        </p:nvSpPr>
        <p:spPr>
          <a:xfrm>
            <a:off x="8325916" y="4233672"/>
            <a:ext cx="1051560" cy="292608"/>
          </a:xfrm>
          <a:prstGeom prst="roundRect">
            <a:avLst>
              <a:gd name="adj" fmla="val 50000"/>
            </a:avLst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50800" tIns="12700" rIns="50800" bIns="12700" rtlCol="0" anchor="ctr"/>
          <a:lstStyle/>
          <a:p>
            <a:pPr algn="ctr"/>
            <a:r>
              <a:rPr sz="1100" b="1">
                <a:solidFill>
                  <a:srgbClr val="4B564E"/>
                </a:solidFill>
                <a:latin typeface="Calibri"/>
              </a:rPr>
              <a:t>OPEN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E28231-09FF-3379-42B4-014729D13225}"/>
              </a:ext>
            </a:extLst>
          </p:cNvPr>
          <p:cNvSpPr txBox="1"/>
          <p:nvPr/>
        </p:nvSpPr>
        <p:spPr>
          <a:xfrm>
            <a:off x="8325916" y="4663440"/>
            <a:ext cx="317997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A231E"/>
                </a:solidFill>
                <a:latin typeface="Calibri"/>
              </a:rPr>
              <a:t>CRS string convention unverified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DEC532-BE5D-1C7D-0A53-ECF2F26EA07F}"/>
              </a:ext>
            </a:extLst>
          </p:cNvPr>
          <p:cNvSpPr txBox="1"/>
          <p:nvPr/>
        </p:nvSpPr>
        <p:spPr>
          <a:xfrm>
            <a:off x="8325916" y="5212080"/>
            <a:ext cx="317997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B564E"/>
                </a:solidFill>
                <a:latin typeface="Calibri"/>
              </a:rPr>
              <a:t>The native logical type's crs field is left undefined by the spec itself — not checked against a reference writer yet.</a:t>
            </a:r>
          </a:p>
        </p:txBody>
      </p:sp>
    </p:spTree>
    <p:extLst>
      <p:ext uri="{BB962C8B-B14F-4D97-AF65-F5344CB8AC3E}">
        <p14:creationId xmlns:p14="http://schemas.microsoft.com/office/powerpoint/2010/main" val="2509713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287" descr="A picture containing drawing&#10;&#10;Description automatically generated">
            <a:extLst>
              <a:ext uri="{FF2B5EF4-FFF2-40B4-BE49-F238E27FC236}">
                <a16:creationId xmlns:a16="http://schemas.microsoft.com/office/drawing/2014/main" id="{2972DA13-FAB1-4D1D-82F3-70E1A4BE60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580" y="374073"/>
            <a:ext cx="505170" cy="505170"/>
          </a:xfrm>
          <a:prstGeom prst="rect">
            <a:avLst/>
          </a:prstGeom>
        </p:spPr>
      </p:pic>
      <p:sp>
        <p:nvSpPr>
          <p:cNvPr id="113" name="Slide Number Placeholder 103">
            <a:extLst>
              <a:ext uri="{FF2B5EF4-FFF2-40B4-BE49-F238E27FC236}">
                <a16:creationId xmlns:a16="http://schemas.microsoft.com/office/drawing/2014/main" id="{B875F0F2-9EFF-44CF-B88B-14B87E85A499}"/>
              </a:ext>
            </a:extLst>
          </p:cNvPr>
          <p:cNvSpPr txBox="1">
            <a:spLocks/>
          </p:cNvSpPr>
          <p:nvPr/>
        </p:nvSpPr>
        <p:spPr>
          <a:xfrm>
            <a:off x="11784278" y="6421969"/>
            <a:ext cx="268022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577D2D2-DD48-490C-91B1-F9CF36E8FB7C}" type="slidenum">
              <a:rPr lang="en-US" smtClean="0">
                <a:solidFill>
                  <a:srgbClr val="51A1E9"/>
                </a:solidFill>
                <a:latin typeface="PT Sans Pro Light" panose="020B0403020203020204" pitchFamily="34" charset="0"/>
              </a:rPr>
              <a:pPr/>
              <a:t>11</a:t>
            </a:fld>
            <a:endParaRPr lang="en-US" dirty="0">
              <a:solidFill>
                <a:srgbClr val="51A1E9"/>
              </a:solidFill>
              <a:latin typeface="PT Sans Pro Light" panose="020B0403020203020204" pitchFamily="34" charset="0"/>
            </a:endParaRPr>
          </a:p>
        </p:txBody>
      </p:sp>
      <p:sp>
        <p:nvSpPr>
          <p:cNvPr id="7" name="TextBox 34">
            <a:extLst>
              <a:ext uri="{FF2B5EF4-FFF2-40B4-BE49-F238E27FC236}">
                <a16:creationId xmlns:a16="http://schemas.microsoft.com/office/drawing/2014/main" id="{4E0B5CF1-50AF-C5A9-E4A5-106CF09A68DC}"/>
              </a:ext>
            </a:extLst>
          </p:cNvPr>
          <p:cNvSpPr txBox="1"/>
          <p:nvPr/>
        </p:nvSpPr>
        <p:spPr>
          <a:xfrm>
            <a:off x="464023" y="340948"/>
            <a:ext cx="71343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51A1E9"/>
                </a:solidFill>
                <a:latin typeface="PT Sans" panose="020B0503020203020204" pitchFamily="34" charset="77"/>
              </a:rPr>
              <a:t>Pure-Java, non-Arrow options compared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E6813E7-B98E-D4D0-36BE-94F9148B98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034322"/>
              </p:ext>
            </p:extLst>
          </p:nvPr>
        </p:nvGraphicFramePr>
        <p:xfrm>
          <a:off x="502920" y="1737360"/>
          <a:ext cx="11064240" cy="396849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Option</a:t>
                      </a:r>
                      <a:endParaRPr sz="135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101600" marR="101600" anchor="ctr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License</a:t>
                      </a:r>
                      <a:endParaRPr sz="135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101600" marR="101600" anchor="ctr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Verdict</a:t>
                      </a:r>
                      <a:endParaRPr sz="135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101600" marR="1016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0402F"/>
                          </a:solidFill>
                        </a:rPr>
                        <a:t>parquet-java (direct)</a:t>
                      </a:r>
                      <a:endParaRPr sz="1300" b="1">
                        <a:solidFill>
                          <a:srgbClr val="20402F"/>
                        </a:solidFill>
                        <a:latin typeface="Calibri"/>
                      </a:endParaRPr>
                    </a:p>
                  </a:txBody>
                  <a:tcPr marL="101600" marR="101600" anchor="ctr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402F"/>
                          </a:solidFill>
                        </a:rPr>
                        <a:t>Apache-2.0</a:t>
                      </a:r>
                      <a:endParaRPr sz="1300" b="0">
                        <a:solidFill>
                          <a:srgbClr val="20402F"/>
                        </a:solidFill>
                        <a:latin typeface="Calibri"/>
                      </a:endParaRPr>
                    </a:p>
                  </a:txBody>
                  <a:tcPr marL="101600" marR="101600" anchor="ctr"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0402F"/>
                          </a:solidFill>
                        </a:rPr>
                        <a:t>Recommended — this spike</a:t>
                      </a:r>
                      <a:endParaRPr sz="1300" b="1">
                        <a:solidFill>
                          <a:srgbClr val="20402F"/>
                        </a:solidFill>
                        <a:latin typeface="Calibri"/>
                      </a:endParaRPr>
                    </a:p>
                  </a:txBody>
                  <a:tcPr marL="101600" marR="1016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1E"/>
                          </a:solidFill>
                        </a:rPr>
                        <a:t>Carpet (com.jerolba)</a:t>
                      </a:r>
                      <a:endParaRPr sz="1300" b="0">
                        <a:solidFill>
                          <a:srgbClr val="1A231E"/>
                        </a:solidFill>
                        <a:latin typeface="Calibri"/>
                      </a:endParaRPr>
                    </a:p>
                  </a:txBody>
                  <a:tcPr marL="101600" marR="101600" anchor="ctr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1E"/>
                          </a:solidFill>
                        </a:rPr>
                        <a:t>Apache-2.0</a:t>
                      </a:r>
                      <a:endParaRPr sz="1300" b="0">
                        <a:solidFill>
                          <a:srgbClr val="1A231E"/>
                        </a:solidFill>
                        <a:latin typeface="Calibri"/>
                      </a:endParaRPr>
                    </a:p>
                  </a:txBody>
                  <a:tcPr marL="101600" marR="101600" anchor="ctr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1E"/>
                          </a:solidFill>
                        </a:rPr>
                        <a:t>Not recommended — quietly needs hadoop-common</a:t>
                      </a:r>
                      <a:endParaRPr sz="1300" b="0">
                        <a:solidFill>
                          <a:srgbClr val="1A231E"/>
                        </a:solidFill>
                        <a:latin typeface="Calibri"/>
                      </a:endParaRPr>
                    </a:p>
                  </a:txBody>
                  <a:tcPr marL="101600" marR="1016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1E"/>
                          </a:solidFill>
                        </a:rPr>
                        <a:t>tileverse-io/parquetry</a:t>
                      </a:r>
                      <a:endParaRPr sz="1300" b="0">
                        <a:solidFill>
                          <a:srgbClr val="1A231E"/>
                        </a:solidFill>
                        <a:latin typeface="Calibri"/>
                      </a:endParaRPr>
                    </a:p>
                  </a:txBody>
                  <a:tcPr marL="101600" marR="101600" anchor="ctr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1E"/>
                          </a:solidFill>
                        </a:rPr>
                        <a:t>Apache-2.0</a:t>
                      </a:r>
                      <a:endParaRPr sz="1300" b="0">
                        <a:solidFill>
                          <a:srgbClr val="1A231E"/>
                        </a:solidFill>
                        <a:latin typeface="Calibri"/>
                      </a:endParaRPr>
                    </a:p>
                  </a:txBody>
                  <a:tcPr marL="101600" marR="101600" anchor="ctr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1E"/>
                          </a:solidFill>
                        </a:rPr>
                        <a:t>Promising, unusable now — needs Java 25</a:t>
                      </a:r>
                      <a:endParaRPr sz="1300" b="0">
                        <a:solidFill>
                          <a:srgbClr val="1A231E"/>
                        </a:solidFill>
                        <a:latin typeface="Calibri"/>
                      </a:endParaRPr>
                    </a:p>
                  </a:txBody>
                  <a:tcPr marL="101600" marR="1016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1E"/>
                          </a:solidFill>
                        </a:rPr>
                        <a:t>GeoTools GeoParquet DataStore</a:t>
                      </a:r>
                      <a:endParaRPr sz="1300" b="0">
                        <a:solidFill>
                          <a:srgbClr val="1A231E"/>
                        </a:solidFill>
                        <a:latin typeface="Calibri"/>
                      </a:endParaRPr>
                    </a:p>
                  </a:txBody>
                  <a:tcPr marL="101600" marR="101600" anchor="ctr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1E"/>
                          </a:solidFill>
                        </a:rPr>
                        <a:t>LGPL-2.1</a:t>
                      </a:r>
                      <a:endParaRPr sz="1300" b="0">
                        <a:solidFill>
                          <a:srgbClr val="1A231E"/>
                        </a:solidFill>
                        <a:latin typeface="Calibri"/>
                      </a:endParaRPr>
                    </a:p>
                  </a:txBody>
                  <a:tcPr marL="101600" marR="101600" anchor="ctr"/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1A231E"/>
                          </a:solidFill>
                        </a:rPr>
                        <a:t>Disqualified — read-only</a:t>
                      </a:r>
                      <a:endParaRPr sz="1300" b="0" dirty="0">
                        <a:solidFill>
                          <a:srgbClr val="1A231E"/>
                        </a:solidFill>
                        <a:latin typeface="Calibri"/>
                      </a:endParaRPr>
                    </a:p>
                  </a:txBody>
                  <a:tcPr marL="101600" marR="1016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1E"/>
                          </a:solidFill>
                        </a:rPr>
                        <a:t>GDAL / OGR</a:t>
                      </a:r>
                      <a:endParaRPr sz="1300" b="0">
                        <a:solidFill>
                          <a:srgbClr val="1A231E"/>
                        </a:solidFill>
                        <a:latin typeface="Calibri"/>
                      </a:endParaRPr>
                    </a:p>
                  </a:txBody>
                  <a:tcPr marL="101600" marR="101600" anchor="ctr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1E"/>
                          </a:solidFill>
                        </a:rPr>
                        <a:t>MIT-style</a:t>
                      </a:r>
                      <a:endParaRPr sz="1300" b="0">
                        <a:solidFill>
                          <a:srgbClr val="1A231E"/>
                        </a:solidFill>
                        <a:latin typeface="Calibri"/>
                      </a:endParaRPr>
                    </a:p>
                  </a:txBody>
                  <a:tcPr marL="101600" marR="101600" anchor="ctr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1E"/>
                          </a:solidFill>
                        </a:rPr>
                        <a:t>Disqualified — native/JNI dependency</a:t>
                      </a:r>
                      <a:endParaRPr sz="1300" b="0">
                        <a:solidFill>
                          <a:srgbClr val="1A231E"/>
                        </a:solidFill>
                        <a:latin typeface="Calibri"/>
                      </a:endParaRPr>
                    </a:p>
                  </a:txBody>
                  <a:tcPr marL="101600" marR="1016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1E"/>
                          </a:solidFill>
                        </a:rPr>
                        <a:t>Apache Sedona</a:t>
                      </a:r>
                      <a:endParaRPr sz="1300" b="0">
                        <a:solidFill>
                          <a:srgbClr val="1A231E"/>
                        </a:solidFill>
                        <a:latin typeface="Calibri"/>
                      </a:endParaRPr>
                    </a:p>
                  </a:txBody>
                  <a:tcPr marL="101600" marR="101600" anchor="ctr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231E"/>
                          </a:solidFill>
                        </a:rPr>
                        <a:t>Apache-2.0</a:t>
                      </a:r>
                      <a:endParaRPr sz="1300" b="0">
                        <a:solidFill>
                          <a:srgbClr val="1A231E"/>
                        </a:solidFill>
                        <a:latin typeface="Calibri"/>
                      </a:endParaRPr>
                    </a:p>
                  </a:txBody>
                  <a:tcPr marL="101600" marR="101600" anchor="ctr"/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1A231E"/>
                          </a:solidFill>
                        </a:rPr>
                        <a:t>Disqualified — Spark/</a:t>
                      </a:r>
                      <a:r>
                        <a:rPr sz="1300" b="0" dirty="0" err="1">
                          <a:solidFill>
                            <a:srgbClr val="1A231E"/>
                          </a:solidFill>
                        </a:rPr>
                        <a:t>Flink</a:t>
                      </a:r>
                      <a:r>
                        <a:rPr sz="1300" b="0" dirty="0">
                          <a:solidFill>
                            <a:srgbClr val="1A231E"/>
                          </a:solidFill>
                        </a:rPr>
                        <a:t>-only runtime</a:t>
                      </a:r>
                      <a:endParaRPr sz="1300" b="0" dirty="0">
                        <a:solidFill>
                          <a:srgbClr val="1A231E"/>
                        </a:solidFill>
                        <a:latin typeface="Calibri"/>
                      </a:endParaRPr>
                    </a:p>
                  </a:txBody>
                  <a:tcPr marL="101600" marR="1016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3A01152-E767-643C-4EF7-6368EF7FB2C8}"/>
              </a:ext>
            </a:extLst>
          </p:cNvPr>
          <p:cNvSpPr txBox="1"/>
          <p:nvPr/>
        </p:nvSpPr>
        <p:spPr>
          <a:xfrm>
            <a:off x="502920" y="5980176"/>
            <a:ext cx="1118585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4B564E"/>
                </a:solidFill>
                <a:latin typeface="Calibri"/>
              </a:rPr>
              <a:t>All permissively licensed except GeoTools (LGPL-2.1 — already how hale-core consumes GeoTools elsewhere, not a new constraint). License wasn't the differentiator here — fit and maturity were.</a:t>
            </a:r>
          </a:p>
        </p:txBody>
      </p:sp>
    </p:spTree>
    <p:extLst>
      <p:ext uri="{BB962C8B-B14F-4D97-AF65-F5344CB8AC3E}">
        <p14:creationId xmlns:p14="http://schemas.microsoft.com/office/powerpoint/2010/main" val="1244512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287" descr="A picture containing drawing&#10;&#10;Description automatically generated">
            <a:extLst>
              <a:ext uri="{FF2B5EF4-FFF2-40B4-BE49-F238E27FC236}">
                <a16:creationId xmlns:a16="http://schemas.microsoft.com/office/drawing/2014/main" id="{2972DA13-FAB1-4D1D-82F3-70E1A4BE60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580" y="374073"/>
            <a:ext cx="505170" cy="505170"/>
          </a:xfrm>
          <a:prstGeom prst="rect">
            <a:avLst/>
          </a:prstGeom>
        </p:spPr>
      </p:pic>
      <p:sp>
        <p:nvSpPr>
          <p:cNvPr id="113" name="Slide Number Placeholder 103">
            <a:extLst>
              <a:ext uri="{FF2B5EF4-FFF2-40B4-BE49-F238E27FC236}">
                <a16:creationId xmlns:a16="http://schemas.microsoft.com/office/drawing/2014/main" id="{B875F0F2-9EFF-44CF-B88B-14B87E85A499}"/>
              </a:ext>
            </a:extLst>
          </p:cNvPr>
          <p:cNvSpPr txBox="1">
            <a:spLocks/>
          </p:cNvSpPr>
          <p:nvPr/>
        </p:nvSpPr>
        <p:spPr>
          <a:xfrm>
            <a:off x="11784278" y="6421969"/>
            <a:ext cx="268022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577D2D2-DD48-490C-91B1-F9CF36E8FB7C}" type="slidenum">
              <a:rPr lang="en-US" smtClean="0">
                <a:solidFill>
                  <a:srgbClr val="51A1E9"/>
                </a:solidFill>
                <a:latin typeface="PT Sans Pro Light" panose="020B0403020203020204" pitchFamily="34" charset="0"/>
              </a:rPr>
              <a:pPr/>
              <a:t>12</a:t>
            </a:fld>
            <a:endParaRPr lang="en-US" dirty="0">
              <a:solidFill>
                <a:srgbClr val="51A1E9"/>
              </a:solidFill>
              <a:latin typeface="PT Sans Pro Light" panose="020B0403020203020204" pitchFamily="34" charset="0"/>
            </a:endParaRPr>
          </a:p>
        </p:txBody>
      </p:sp>
      <p:sp>
        <p:nvSpPr>
          <p:cNvPr id="7" name="TextBox 34">
            <a:extLst>
              <a:ext uri="{FF2B5EF4-FFF2-40B4-BE49-F238E27FC236}">
                <a16:creationId xmlns:a16="http://schemas.microsoft.com/office/drawing/2014/main" id="{4E0B5CF1-50AF-C5A9-E4A5-106CF09A68DC}"/>
              </a:ext>
            </a:extLst>
          </p:cNvPr>
          <p:cNvSpPr txBox="1"/>
          <p:nvPr/>
        </p:nvSpPr>
        <p:spPr>
          <a:xfrm>
            <a:off x="464023" y="340948"/>
            <a:ext cx="44498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51A1E9"/>
                </a:solidFill>
                <a:latin typeface="PT Sans" panose="020B0503020203020204" pitchFamily="34" charset="77"/>
              </a:rPr>
              <a:t>The case for and against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56AF68-BD53-4728-E918-CF87902EF4D2}"/>
              </a:ext>
            </a:extLst>
          </p:cNvPr>
          <p:cNvSpPr/>
          <p:nvPr/>
        </p:nvSpPr>
        <p:spPr>
          <a:xfrm>
            <a:off x="502920" y="1691640"/>
            <a:ext cx="5455767" cy="457200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47D112-E687-C5CF-82D5-933B8A176DB2}"/>
              </a:ext>
            </a:extLst>
          </p:cNvPr>
          <p:cNvSpPr/>
          <p:nvPr/>
        </p:nvSpPr>
        <p:spPr>
          <a:xfrm>
            <a:off x="502920" y="1691640"/>
            <a:ext cx="5455767" cy="5486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CCC016-B8FE-2DB5-42DB-2D8C665878D2}"/>
              </a:ext>
            </a:extLst>
          </p:cNvPr>
          <p:cNvSpPr txBox="1"/>
          <p:nvPr/>
        </p:nvSpPr>
        <p:spPr>
          <a:xfrm>
            <a:off x="777240" y="1920240"/>
            <a:ext cx="49071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0402F"/>
                </a:solidFill>
                <a:latin typeface="Calibri"/>
              </a:rPr>
              <a:t>FOR BUILDING 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763419-210F-1C68-080D-E01CCD2484AB}"/>
              </a:ext>
            </a:extLst>
          </p:cNvPr>
          <p:cNvSpPr txBox="1"/>
          <p:nvPr/>
        </p:nvSpPr>
        <p:spPr>
          <a:xfrm>
            <a:off x="777240" y="2423160"/>
            <a:ext cx="490712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2F5B49"/>
                </a:solidFill>
                <a:latin typeface="Calibri"/>
              </a:rPr>
              <a:t>•  </a:t>
            </a:r>
            <a:r>
              <a:rPr sz="1400" b="1">
                <a:solidFill>
                  <a:srgbClr val="1A231E"/>
                </a:solidFill>
                <a:latin typeface="Calibri"/>
              </a:rPr>
              <a:t>Real, not theoretical. </a:t>
            </a:r>
            <a:r>
              <a:rPr sz="1400">
                <a:solidFill>
                  <a:srgbClr val="4B564E"/>
                </a:solidFill>
                <a:latin typeface="Calibri"/>
              </a:rPr>
              <a:t>Pure Java, no Arrow, validated against the actual 2.0 spec text.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2F5B49"/>
                </a:solidFill>
                <a:latin typeface="Calibri"/>
              </a:rPr>
              <a:t>•  </a:t>
            </a:r>
            <a:r>
              <a:rPr sz="1400" b="1">
                <a:solidFill>
                  <a:srgbClr val="1A231E"/>
                </a:solidFill>
                <a:latin typeface="Calibri"/>
              </a:rPr>
              <a:t>Fits hale's existing pattern exactly. </a:t>
            </a:r>
            <a:r>
              <a:rPr sz="1400">
                <a:solidFill>
                  <a:srgbClr val="4B564E"/>
                </a:solidFill>
                <a:latin typeface="Calibri"/>
              </a:rPr>
              <a:t>Same shape as the GeoPackage/Shapefile writers already in the codebase.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2F5B49"/>
                </a:solidFill>
                <a:latin typeface="Calibri"/>
              </a:rPr>
              <a:t>•  </a:t>
            </a:r>
            <a:r>
              <a:rPr sz="1400" b="1">
                <a:solidFill>
                  <a:srgbClr val="1A231E"/>
                </a:solidFill>
                <a:latin typeface="Calibri"/>
              </a:rPr>
              <a:t>OSGi bundling is solved, not new. </a:t>
            </a:r>
            <a:r>
              <a:rPr sz="1400">
                <a:solidFill>
                  <a:srgbClr val="4B564E"/>
                </a:solidFill>
                <a:latin typeface="Calibri"/>
              </a:rPr>
              <a:t>hale already has a proven shadow+bnd convention; this spike confirmed it works here too.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2F5B49"/>
                </a:solidFill>
                <a:latin typeface="Calibri"/>
              </a:rPr>
              <a:t>•  </a:t>
            </a:r>
            <a:r>
              <a:rPr sz="1400" b="1">
                <a:solidFill>
                  <a:srgbClr val="1A231E"/>
                </a:solidFill>
                <a:latin typeface="Calibri"/>
              </a:rPr>
              <a:t>Small, bounded dependency footprint.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2F5B49"/>
                </a:solidFill>
                <a:latin typeface="Calibri"/>
              </a:rPr>
              <a:t>•  </a:t>
            </a:r>
            <a:r>
              <a:rPr sz="1400" b="1">
                <a:solidFill>
                  <a:srgbClr val="1A231E"/>
                </a:solidFill>
                <a:latin typeface="Calibri"/>
              </a:rPr>
              <a:t>Proven against real, representative data,</a:t>
            </a:r>
            <a:r>
              <a:rPr sz="1400">
                <a:solidFill>
                  <a:srgbClr val="4B564E"/>
                </a:solidFill>
                <a:latin typeface="Calibri"/>
              </a:rPr>
              <a:t> not just a synthetic sample.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2F5B49"/>
                </a:solidFill>
                <a:latin typeface="Calibri"/>
              </a:rPr>
              <a:t>•  </a:t>
            </a:r>
            <a:r>
              <a:rPr sz="1400" b="1">
                <a:solidFill>
                  <a:srgbClr val="1A231E"/>
                </a:solidFill>
                <a:latin typeface="Calibri"/>
              </a:rPr>
              <a:t>Permissively licensed.</a:t>
            </a:r>
            <a:r>
              <a:rPr sz="1400">
                <a:solidFill>
                  <a:srgbClr val="4B564E"/>
                </a:solidFill>
                <a:latin typeface="Calibri"/>
              </a:rPr>
              <a:t> No new legal review needed.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DEF1D5-E78A-C999-823D-0C1AD6F50687}"/>
              </a:ext>
            </a:extLst>
          </p:cNvPr>
          <p:cNvSpPr/>
          <p:nvPr/>
        </p:nvSpPr>
        <p:spPr>
          <a:xfrm>
            <a:off x="6233007" y="1691640"/>
            <a:ext cx="5455767" cy="45720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4884FC-8725-2C66-2747-6059F7724579}"/>
              </a:ext>
            </a:extLst>
          </p:cNvPr>
          <p:cNvSpPr/>
          <p:nvPr/>
        </p:nvSpPr>
        <p:spPr>
          <a:xfrm>
            <a:off x="6233007" y="1691640"/>
            <a:ext cx="5455767" cy="54864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1C7CA3-A2F8-F3A0-12AF-6556D1C9FFA0}"/>
              </a:ext>
            </a:extLst>
          </p:cNvPr>
          <p:cNvSpPr txBox="1"/>
          <p:nvPr/>
        </p:nvSpPr>
        <p:spPr>
          <a:xfrm>
            <a:off x="6507327" y="1920240"/>
            <a:ext cx="49071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E3D19"/>
                </a:solidFill>
                <a:latin typeface="Calibri"/>
              </a:rPr>
              <a:t>REASONS TO PAUSE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E04B7D-1ED6-E2D5-7137-CBC518BB7A7E}"/>
              </a:ext>
            </a:extLst>
          </p:cNvPr>
          <p:cNvSpPr txBox="1"/>
          <p:nvPr/>
        </p:nvSpPr>
        <p:spPr>
          <a:xfrm>
            <a:off x="6507327" y="2423160"/>
            <a:ext cx="490712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 dirty="0">
                <a:solidFill>
                  <a:srgbClr val="A85425"/>
                </a:solidFill>
                <a:latin typeface="Calibri"/>
              </a:rPr>
              <a:t>•  </a:t>
            </a:r>
            <a:r>
              <a:rPr sz="1400" b="1" dirty="0">
                <a:solidFill>
                  <a:srgbClr val="1A231E"/>
                </a:solidFill>
                <a:latin typeface="Calibri"/>
              </a:rPr>
              <a:t>No compression story. </a:t>
            </a:r>
            <a:r>
              <a:rPr sz="1400" dirty="0">
                <a:solidFill>
                  <a:srgbClr val="4B564E"/>
                </a:solidFill>
                <a:latin typeface="Calibri"/>
              </a:rPr>
              <a:t>Files ship uncompressed until the Hadoop-coupling in parquet-</a:t>
            </a:r>
            <a:r>
              <a:rPr sz="1400" dirty="0" err="1">
                <a:solidFill>
                  <a:srgbClr val="4B564E"/>
                </a:solidFill>
                <a:latin typeface="Calibri"/>
              </a:rPr>
              <a:t>hadoop's</a:t>
            </a:r>
            <a:r>
              <a:rPr sz="1400" dirty="0">
                <a:solidFill>
                  <a:srgbClr val="4B564E"/>
                </a:solidFill>
                <a:latin typeface="Calibri"/>
              </a:rPr>
              <a:t> codec factory is solved.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 dirty="0">
                <a:solidFill>
                  <a:srgbClr val="A85425"/>
                </a:solidFill>
                <a:latin typeface="Calibri"/>
              </a:rPr>
              <a:t>•  </a:t>
            </a:r>
            <a:r>
              <a:rPr sz="1400" b="1" dirty="0">
                <a:solidFill>
                  <a:srgbClr val="1A231E"/>
                </a:solidFill>
                <a:latin typeface="Calibri"/>
              </a:rPr>
              <a:t>CRS handling isn't production-ready. </a:t>
            </a:r>
            <a:r>
              <a:rPr sz="1400" dirty="0">
                <a:solidFill>
                  <a:srgbClr val="4B564E"/>
                </a:solidFill>
                <a:latin typeface="Calibri"/>
              </a:rPr>
              <a:t>PROJJSON is fetched from a public website at runtime right now.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 dirty="0">
                <a:solidFill>
                  <a:srgbClr val="A85425"/>
                </a:solidFill>
                <a:latin typeface="Calibri"/>
              </a:rPr>
              <a:t>•  </a:t>
            </a:r>
            <a:r>
              <a:rPr sz="1400" b="1" dirty="0">
                <a:solidFill>
                  <a:srgbClr val="1A231E"/>
                </a:solidFill>
                <a:latin typeface="Calibri"/>
              </a:rPr>
              <a:t>Two OSGi manifest details still open</a:t>
            </a:r>
            <a:r>
              <a:rPr sz="1400" dirty="0">
                <a:solidFill>
                  <a:srgbClr val="4B564E"/>
                </a:solidFill>
                <a:latin typeface="Calibri"/>
              </a:rPr>
              <a:t> before a real plugin build resolves cleanly.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 dirty="0">
                <a:solidFill>
                  <a:srgbClr val="A85425"/>
                </a:solidFill>
                <a:latin typeface="Calibri"/>
              </a:rPr>
              <a:t>•  </a:t>
            </a:r>
            <a:r>
              <a:rPr sz="1400" b="1" dirty="0">
                <a:solidFill>
                  <a:srgbClr val="1A231E"/>
                </a:solidFill>
                <a:latin typeface="Calibri"/>
              </a:rPr>
              <a:t>The </a:t>
            </a:r>
            <a:r>
              <a:rPr sz="1400" b="1" dirty="0" err="1">
                <a:solidFill>
                  <a:srgbClr val="1A231E"/>
                </a:solidFill>
                <a:latin typeface="Calibri"/>
              </a:rPr>
              <a:t>crs</a:t>
            </a:r>
            <a:r>
              <a:rPr sz="1400" b="1" dirty="0">
                <a:solidFill>
                  <a:srgbClr val="1A231E"/>
                </a:solidFill>
                <a:latin typeface="Calibri"/>
              </a:rPr>
              <a:t> field convention is a guess</a:t>
            </a:r>
            <a:r>
              <a:rPr sz="1400" dirty="0">
                <a:solidFill>
                  <a:srgbClr val="4B564E"/>
                </a:solidFill>
                <a:latin typeface="Calibri"/>
              </a:rPr>
              <a:t> until checked against a reference writer.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 dirty="0">
                <a:solidFill>
                  <a:srgbClr val="A85425"/>
                </a:solidFill>
                <a:latin typeface="Calibri"/>
              </a:rPr>
              <a:t>•  </a:t>
            </a:r>
            <a:r>
              <a:rPr sz="1400" b="1" dirty="0">
                <a:solidFill>
                  <a:srgbClr val="1A231E"/>
                </a:solidFill>
                <a:latin typeface="Calibri"/>
              </a:rPr>
              <a:t>The spec is still a release candidate</a:t>
            </a:r>
            <a:r>
              <a:rPr sz="1400" dirty="0">
                <a:solidFill>
                  <a:srgbClr val="4B564E"/>
                </a:solidFill>
                <a:latin typeface="Calibri"/>
              </a:rPr>
              <a:t> (2.0.0-rc.1), not final.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 dirty="0">
                <a:solidFill>
                  <a:srgbClr val="A85425"/>
                </a:solidFill>
                <a:latin typeface="Calibri"/>
              </a:rPr>
              <a:t>•  </a:t>
            </a:r>
            <a:r>
              <a:rPr sz="1400" b="1" dirty="0">
                <a:solidFill>
                  <a:srgbClr val="1A231E"/>
                </a:solidFill>
                <a:latin typeface="Calibri"/>
              </a:rPr>
              <a:t>No convenience library helps yet.</a:t>
            </a:r>
            <a:r>
              <a:rPr sz="1400" dirty="0">
                <a:solidFill>
                  <a:srgbClr val="4B564E"/>
                </a:solidFill>
                <a:latin typeface="Calibri"/>
              </a:rPr>
              <a:t> The metadata/schema work is hand-rolled either way.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 dirty="0">
                <a:solidFill>
                  <a:srgbClr val="A85425"/>
                </a:solidFill>
                <a:latin typeface="Calibri"/>
              </a:rPr>
              <a:t>•  </a:t>
            </a:r>
            <a:r>
              <a:rPr sz="1400" b="1" dirty="0">
                <a:solidFill>
                  <a:srgbClr val="1A231E"/>
                </a:solidFill>
                <a:latin typeface="Calibri"/>
              </a:rPr>
              <a:t>Two more gaps:</a:t>
            </a:r>
            <a:r>
              <a:rPr sz="1400" dirty="0">
                <a:solidFill>
                  <a:srgbClr val="4B564E"/>
                </a:solidFill>
                <a:latin typeface="Calibri"/>
              </a:rPr>
              <a:t> no </a:t>
            </a:r>
            <a:r>
              <a:rPr sz="1400" dirty="0" err="1">
                <a:solidFill>
                  <a:srgbClr val="4B564E"/>
                </a:solidFill>
                <a:latin typeface="Calibri"/>
              </a:rPr>
              <a:t>bbox</a:t>
            </a:r>
            <a:r>
              <a:rPr sz="1400" dirty="0">
                <a:solidFill>
                  <a:srgbClr val="4B564E"/>
                </a:solidFill>
                <a:latin typeface="Calibri"/>
              </a:rPr>
              <a:t> column, no CRS-without-EPSG path.</a:t>
            </a:r>
          </a:p>
        </p:txBody>
      </p:sp>
    </p:spTree>
    <p:extLst>
      <p:ext uri="{BB962C8B-B14F-4D97-AF65-F5344CB8AC3E}">
        <p14:creationId xmlns:p14="http://schemas.microsoft.com/office/powerpoint/2010/main" val="4095241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287" descr="A picture containing drawing&#10;&#10;Description automatically generated">
            <a:extLst>
              <a:ext uri="{FF2B5EF4-FFF2-40B4-BE49-F238E27FC236}">
                <a16:creationId xmlns:a16="http://schemas.microsoft.com/office/drawing/2014/main" id="{2972DA13-FAB1-4D1D-82F3-70E1A4BE60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580" y="374073"/>
            <a:ext cx="505170" cy="505170"/>
          </a:xfrm>
          <a:prstGeom prst="rect">
            <a:avLst/>
          </a:prstGeom>
        </p:spPr>
      </p:pic>
      <p:sp>
        <p:nvSpPr>
          <p:cNvPr id="113" name="Slide Number Placeholder 103">
            <a:extLst>
              <a:ext uri="{FF2B5EF4-FFF2-40B4-BE49-F238E27FC236}">
                <a16:creationId xmlns:a16="http://schemas.microsoft.com/office/drawing/2014/main" id="{B875F0F2-9EFF-44CF-B88B-14B87E85A499}"/>
              </a:ext>
            </a:extLst>
          </p:cNvPr>
          <p:cNvSpPr txBox="1">
            <a:spLocks/>
          </p:cNvSpPr>
          <p:nvPr/>
        </p:nvSpPr>
        <p:spPr>
          <a:xfrm>
            <a:off x="11784278" y="6421969"/>
            <a:ext cx="268022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577D2D2-DD48-490C-91B1-F9CF36E8FB7C}" type="slidenum">
              <a:rPr lang="en-US" smtClean="0">
                <a:solidFill>
                  <a:srgbClr val="51A1E9"/>
                </a:solidFill>
                <a:latin typeface="PT Sans Pro Light" panose="020B0403020203020204" pitchFamily="34" charset="0"/>
              </a:rPr>
              <a:pPr/>
              <a:t>13</a:t>
            </a:fld>
            <a:endParaRPr lang="en-US" dirty="0">
              <a:solidFill>
                <a:srgbClr val="51A1E9"/>
              </a:solidFill>
              <a:latin typeface="PT Sans Pro Light" panose="020B0403020203020204" pitchFamily="34" charset="0"/>
            </a:endParaRPr>
          </a:p>
        </p:txBody>
      </p:sp>
      <p:sp>
        <p:nvSpPr>
          <p:cNvPr id="7" name="TextBox 34">
            <a:extLst>
              <a:ext uri="{FF2B5EF4-FFF2-40B4-BE49-F238E27FC236}">
                <a16:creationId xmlns:a16="http://schemas.microsoft.com/office/drawing/2014/main" id="{4E0B5CF1-50AF-C5A9-E4A5-106CF09A68DC}"/>
              </a:ext>
            </a:extLst>
          </p:cNvPr>
          <p:cNvSpPr txBox="1"/>
          <p:nvPr/>
        </p:nvSpPr>
        <p:spPr>
          <a:xfrm>
            <a:off x="464023" y="340948"/>
            <a:ext cx="104640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51A1E9"/>
                </a:solidFill>
                <a:latin typeface="PT Sans" panose="020B0503020203020204" pitchFamily="34" charset="77"/>
              </a:rPr>
              <a:t>Where ING-5399 stands against its own Definition of Done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2CB38E-46B3-4846-8620-618059F78C97}"/>
              </a:ext>
            </a:extLst>
          </p:cNvPr>
          <p:cNvSpPr/>
          <p:nvPr/>
        </p:nvSpPr>
        <p:spPr>
          <a:xfrm>
            <a:off x="502920" y="1737360"/>
            <a:ext cx="457200" cy="457200"/>
          </a:xfrm>
          <a:prstGeom prst="rect">
            <a:avLst/>
          </a:prstGeom>
          <a:solidFill>
            <a:srgbClr val="DCE6DB"/>
          </a:solidFill>
          <a:ln w="9525">
            <a:solidFill>
              <a:srgbClr val="2F5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E9B6A2-85AA-4AE6-0DE1-1C6F8D76608A}"/>
              </a:ext>
            </a:extLst>
          </p:cNvPr>
          <p:cNvSpPr txBox="1"/>
          <p:nvPr/>
        </p:nvSpPr>
        <p:spPr>
          <a:xfrm>
            <a:off x="502920" y="1737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2F5B49"/>
                </a:solidFill>
                <a:latin typeface="Calibri"/>
              </a:rPr>
              <a:t>✓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7F03C9-0264-0794-4216-A55F29DDBE7E}"/>
              </a:ext>
            </a:extLst>
          </p:cNvPr>
          <p:cNvSpPr txBox="1"/>
          <p:nvPr/>
        </p:nvSpPr>
        <p:spPr>
          <a:xfrm>
            <a:off x="1143000" y="1801368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A231E"/>
                </a:solidFill>
                <a:latin typeface="Calibri"/>
              </a:rPr>
              <a:t>Written library comparison (maturity, license, OSGi/JTS fit)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D2E9D2-EFDE-F2A1-1261-9DE9470FAD43}"/>
              </a:ext>
            </a:extLst>
          </p:cNvPr>
          <p:cNvSpPr/>
          <p:nvPr/>
        </p:nvSpPr>
        <p:spPr>
          <a:xfrm>
            <a:off x="502920" y="2514600"/>
            <a:ext cx="457200" cy="457200"/>
          </a:xfrm>
          <a:prstGeom prst="rect">
            <a:avLst/>
          </a:prstGeom>
          <a:solidFill>
            <a:srgbClr val="DCE6DB"/>
          </a:solidFill>
          <a:ln w="9525">
            <a:solidFill>
              <a:srgbClr val="2F5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97E44C-ADD8-6003-375C-91E89046D0C0}"/>
              </a:ext>
            </a:extLst>
          </p:cNvPr>
          <p:cNvSpPr txBox="1"/>
          <p:nvPr/>
        </p:nvSpPr>
        <p:spPr>
          <a:xfrm>
            <a:off x="502920" y="2514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2F5B49"/>
                </a:solidFill>
                <a:latin typeface="Calibri"/>
              </a:rPr>
              <a:t>✓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426712-7634-C8A6-1AA5-C242689E1725}"/>
              </a:ext>
            </a:extLst>
          </p:cNvPr>
          <p:cNvSpPr txBox="1"/>
          <p:nvPr/>
        </p:nvSpPr>
        <p:spPr>
          <a:xfrm>
            <a:off x="1143000" y="2578608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A231E"/>
                </a:solidFill>
                <a:latin typeface="Calibri"/>
              </a:rPr>
              <a:t>A recommendation for the follow-up implementation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7793FC-4ED2-4C92-A130-224EE579099F}"/>
              </a:ext>
            </a:extLst>
          </p:cNvPr>
          <p:cNvSpPr/>
          <p:nvPr/>
        </p:nvSpPr>
        <p:spPr>
          <a:xfrm>
            <a:off x="502920" y="3291840"/>
            <a:ext cx="457200" cy="457200"/>
          </a:xfrm>
          <a:prstGeom prst="rect">
            <a:avLst/>
          </a:prstGeom>
          <a:solidFill>
            <a:srgbClr val="DCE6DB"/>
          </a:solidFill>
          <a:ln w="9525">
            <a:solidFill>
              <a:srgbClr val="2F5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6456D6-7161-472F-07CA-BFEC36224E2E}"/>
              </a:ext>
            </a:extLst>
          </p:cNvPr>
          <p:cNvSpPr txBox="1"/>
          <p:nvPr/>
        </p:nvSpPr>
        <p:spPr>
          <a:xfrm>
            <a:off x="502920" y="3291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2F5B49"/>
                </a:solidFill>
                <a:latin typeface="Calibri"/>
              </a:rPr>
              <a:t>✓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75FE09-462D-6A20-46E0-C5176454A6A8}"/>
              </a:ext>
            </a:extLst>
          </p:cNvPr>
          <p:cNvSpPr txBox="1"/>
          <p:nvPr/>
        </p:nvSpPr>
        <p:spPr>
          <a:xfrm>
            <a:off x="1143000" y="3355848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A231E"/>
                </a:solidFill>
                <a:latin typeface="Calibri"/>
              </a:rPr>
              <a:t>Small PoC on real data, validated by an independent tool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C3BD44-CE2B-0DAC-A4E7-3596E6E71E88}"/>
              </a:ext>
            </a:extLst>
          </p:cNvPr>
          <p:cNvSpPr/>
          <p:nvPr/>
        </p:nvSpPr>
        <p:spPr>
          <a:xfrm>
            <a:off x="502920" y="4069080"/>
            <a:ext cx="457200" cy="457200"/>
          </a:xfrm>
          <a:prstGeom prst="rect">
            <a:avLst/>
          </a:prstGeom>
          <a:solidFill>
            <a:srgbClr val="DCE6DB"/>
          </a:solidFill>
          <a:ln w="9525">
            <a:solidFill>
              <a:srgbClr val="2F5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2ECCEC-CC96-3FAF-EE55-E3154D35253C}"/>
              </a:ext>
            </a:extLst>
          </p:cNvPr>
          <p:cNvSpPr txBox="1"/>
          <p:nvPr/>
        </p:nvSpPr>
        <p:spPr>
          <a:xfrm>
            <a:off x="502920" y="40690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2F5B49"/>
                </a:solidFill>
                <a:latin typeface="Calibri"/>
              </a:rPr>
              <a:t>✓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EB860B-400E-0B04-4CD5-0804E7F4C70E}"/>
              </a:ext>
            </a:extLst>
          </p:cNvPr>
          <p:cNvSpPr txBox="1"/>
          <p:nvPr/>
        </p:nvSpPr>
        <p:spPr>
          <a:xfrm>
            <a:off x="1143000" y="4133088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A231E"/>
                </a:solidFill>
                <a:latin typeface="Calibri"/>
              </a:rPr>
              <a:t>Documented open questions / risks for the follow-up ticket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C31445-FEE7-7A1B-834B-2F7ED7912A4F}"/>
              </a:ext>
            </a:extLst>
          </p:cNvPr>
          <p:cNvSpPr txBox="1"/>
          <p:nvPr/>
        </p:nvSpPr>
        <p:spPr>
          <a:xfrm>
            <a:off x="502920" y="5074920"/>
            <a:ext cx="1118585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4B564E"/>
                </a:solidFill>
                <a:latin typeface="Calibri"/>
              </a:rPr>
              <a:t>All four DoD items are met. What's left is process: getting this in front of the team (this deck, plus NOTES.md) and a 16h time-box gut-check given how much ground this covered.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500" b="1" i="1">
                <a:solidFill>
                  <a:srgbClr val="4B564E"/>
                </a:solidFill>
                <a:latin typeface="Calibri"/>
              </a:rPr>
              <a:t>Caveat on that third item: </a:t>
            </a:r>
            <a:r>
              <a:rPr sz="1500" b="0" i="1">
                <a:solidFill>
                  <a:srgbClr val="4B564E"/>
                </a:solidFill>
                <a:latin typeface="Calibri"/>
              </a:rPr>
              <a:t>only DuckDB has actually validated the output so far — a second attempt via GDAL/pyogrio was inconclusive for environment reasons (no Parquet driver in either build tested), not a finding about the file itself. Worth re-running with a full GDAL build before final sign-off.</a:t>
            </a:r>
          </a:p>
        </p:txBody>
      </p:sp>
    </p:spTree>
    <p:extLst>
      <p:ext uri="{BB962C8B-B14F-4D97-AF65-F5344CB8AC3E}">
        <p14:creationId xmlns:p14="http://schemas.microsoft.com/office/powerpoint/2010/main" val="1818247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287" descr="A picture containing drawing&#10;&#10;Description automatically generated">
            <a:extLst>
              <a:ext uri="{FF2B5EF4-FFF2-40B4-BE49-F238E27FC236}">
                <a16:creationId xmlns:a16="http://schemas.microsoft.com/office/drawing/2014/main" id="{2972DA13-FAB1-4D1D-82F3-70E1A4BE60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580" y="374073"/>
            <a:ext cx="505170" cy="505170"/>
          </a:xfrm>
          <a:prstGeom prst="rect">
            <a:avLst/>
          </a:prstGeom>
        </p:spPr>
      </p:pic>
      <p:sp>
        <p:nvSpPr>
          <p:cNvPr id="113" name="Slide Number Placeholder 103">
            <a:extLst>
              <a:ext uri="{FF2B5EF4-FFF2-40B4-BE49-F238E27FC236}">
                <a16:creationId xmlns:a16="http://schemas.microsoft.com/office/drawing/2014/main" id="{B875F0F2-9EFF-44CF-B88B-14B87E85A499}"/>
              </a:ext>
            </a:extLst>
          </p:cNvPr>
          <p:cNvSpPr txBox="1">
            <a:spLocks/>
          </p:cNvSpPr>
          <p:nvPr/>
        </p:nvSpPr>
        <p:spPr>
          <a:xfrm>
            <a:off x="11784278" y="6421969"/>
            <a:ext cx="268022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577D2D2-DD48-490C-91B1-F9CF36E8FB7C}" type="slidenum">
              <a:rPr lang="en-US" smtClean="0">
                <a:solidFill>
                  <a:srgbClr val="51A1E9"/>
                </a:solidFill>
                <a:latin typeface="PT Sans Pro Light" panose="020B0403020203020204" pitchFamily="34" charset="0"/>
              </a:rPr>
              <a:pPr/>
              <a:t>14</a:t>
            </a:fld>
            <a:endParaRPr lang="en-US" dirty="0">
              <a:solidFill>
                <a:srgbClr val="51A1E9"/>
              </a:solidFill>
              <a:latin typeface="PT Sans Pro Light" panose="020B0403020203020204" pitchFamily="34" charset="0"/>
            </a:endParaRPr>
          </a:p>
        </p:txBody>
      </p:sp>
      <p:sp>
        <p:nvSpPr>
          <p:cNvPr id="8" name="TextBox 26">
            <a:extLst>
              <a:ext uri="{FF2B5EF4-FFF2-40B4-BE49-F238E27FC236}">
                <a16:creationId xmlns:a16="http://schemas.microsoft.com/office/drawing/2014/main" id="{415C9A0B-49F0-AB33-1A9C-601A5CF6AFFA}"/>
              </a:ext>
            </a:extLst>
          </p:cNvPr>
          <p:cNvSpPr txBox="1"/>
          <p:nvPr/>
        </p:nvSpPr>
        <p:spPr>
          <a:xfrm>
            <a:off x="593874" y="1327291"/>
            <a:ext cx="11035142" cy="5232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2000"/>
              </a:spcAft>
            </a:pPr>
            <a:r>
              <a:rPr lang="en-GB" sz="2400" b="1" dirty="0">
                <a:solidFill>
                  <a:srgbClr val="2F5B49"/>
                </a:solidFill>
                <a:latin typeface="Calibri"/>
              </a:rPr>
              <a:t>•  </a:t>
            </a:r>
            <a:r>
              <a:rPr lang="en-GB" sz="2400" dirty="0">
                <a:solidFill>
                  <a:srgbClr val="4B564E"/>
                </a:solidFill>
                <a:latin typeface="Calibri"/>
              </a:rPr>
              <a:t>Do we accept the open risks (compression, CRS convention, the two OSGi fixes) as scope for a follow-up implementation ticket — rather than blockers to starting one?</a:t>
            </a:r>
          </a:p>
          <a:p>
            <a:pPr>
              <a:lnSpc>
                <a:spcPct val="112000"/>
              </a:lnSpc>
              <a:spcAft>
                <a:spcPts val="2000"/>
              </a:spcAft>
            </a:pPr>
            <a:r>
              <a:rPr lang="en-GB" sz="2400" b="1" dirty="0">
                <a:solidFill>
                  <a:srgbClr val="2F5B49"/>
                </a:solidFill>
                <a:latin typeface="Calibri"/>
              </a:rPr>
              <a:t>•  </a:t>
            </a:r>
            <a:r>
              <a:rPr lang="en-GB" sz="2400" dirty="0">
                <a:solidFill>
                  <a:srgbClr val="4B564E"/>
                </a:solidFill>
                <a:latin typeface="Calibri"/>
              </a:rPr>
              <a:t>Is uncompressed-only output acceptable for a first shipped version, given no pure-Java compressed path exists today?</a:t>
            </a:r>
          </a:p>
          <a:p>
            <a:pPr>
              <a:lnSpc>
                <a:spcPct val="112000"/>
              </a:lnSpc>
              <a:spcAft>
                <a:spcPts val="2000"/>
              </a:spcAft>
            </a:pPr>
            <a:r>
              <a:rPr lang="en-GB" sz="2400" b="1" dirty="0">
                <a:solidFill>
                  <a:srgbClr val="2F5B49"/>
                </a:solidFill>
                <a:latin typeface="Calibri"/>
              </a:rPr>
              <a:t>•  </a:t>
            </a:r>
            <a:r>
              <a:rPr lang="en-GB" sz="2400" dirty="0">
                <a:solidFill>
                  <a:srgbClr val="4B564E"/>
                </a:solidFill>
                <a:latin typeface="Calibri"/>
              </a:rPr>
              <a:t>Who owns closing the two known, bounded OSGi manifest fixes before a real plugin build?</a:t>
            </a:r>
          </a:p>
          <a:p>
            <a:pPr>
              <a:lnSpc>
                <a:spcPct val="112000"/>
              </a:lnSpc>
              <a:spcAft>
                <a:spcPts val="2000"/>
              </a:spcAft>
            </a:pPr>
            <a:r>
              <a:rPr lang="en-GB" sz="2400" b="1" dirty="0">
                <a:solidFill>
                  <a:srgbClr val="2F5B49"/>
                </a:solidFill>
                <a:latin typeface="Calibri"/>
              </a:rPr>
              <a:t>•  </a:t>
            </a:r>
            <a:r>
              <a:rPr lang="en-GB" sz="2400" dirty="0">
                <a:solidFill>
                  <a:srgbClr val="4B564E"/>
                </a:solidFill>
                <a:latin typeface="Calibri"/>
              </a:rPr>
              <a:t>Does the CRS/PROJJSON story (currently a network fetch, not shippable) need solving before or during the follow-up ticket?</a:t>
            </a:r>
          </a:p>
          <a:p>
            <a:pPr>
              <a:lnSpc>
                <a:spcPct val="112000"/>
              </a:lnSpc>
              <a:spcAft>
                <a:spcPts val="2000"/>
              </a:spcAft>
            </a:pPr>
            <a:r>
              <a:rPr lang="en-GB" sz="2400" b="1" dirty="0">
                <a:solidFill>
                  <a:srgbClr val="2F5B49"/>
                </a:solidFill>
                <a:latin typeface="Calibri"/>
              </a:rPr>
              <a:t>•  </a:t>
            </a:r>
            <a:r>
              <a:rPr lang="en-GB" sz="2400" dirty="0">
                <a:solidFill>
                  <a:srgbClr val="4B564E"/>
                </a:solidFill>
                <a:latin typeface="Calibri"/>
              </a:rPr>
              <a:t>Are we comfortable building against a spec that's still officially a release candidate (2.0.0-rc.1)?</a:t>
            </a:r>
          </a:p>
        </p:txBody>
      </p:sp>
      <p:sp>
        <p:nvSpPr>
          <p:cNvPr id="7" name="TextBox 34">
            <a:extLst>
              <a:ext uri="{FF2B5EF4-FFF2-40B4-BE49-F238E27FC236}">
                <a16:creationId xmlns:a16="http://schemas.microsoft.com/office/drawing/2014/main" id="{4E0B5CF1-50AF-C5A9-E4A5-106CF09A68DC}"/>
              </a:ext>
            </a:extLst>
          </p:cNvPr>
          <p:cNvSpPr txBox="1"/>
          <p:nvPr/>
        </p:nvSpPr>
        <p:spPr>
          <a:xfrm>
            <a:off x="464023" y="340948"/>
            <a:ext cx="39626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51A1E9"/>
                </a:solidFill>
                <a:latin typeface="PT Sans" panose="020B0503020203020204" pitchFamily="34" charset="77"/>
              </a:rPr>
              <a:t>The decision we need</a:t>
            </a:r>
          </a:p>
        </p:txBody>
      </p:sp>
    </p:spTree>
    <p:extLst>
      <p:ext uri="{BB962C8B-B14F-4D97-AF65-F5344CB8AC3E}">
        <p14:creationId xmlns:p14="http://schemas.microsoft.com/office/powerpoint/2010/main" val="2075817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287" descr="A picture containing drawing&#10;&#10;Description automatically generated">
            <a:extLst>
              <a:ext uri="{FF2B5EF4-FFF2-40B4-BE49-F238E27FC236}">
                <a16:creationId xmlns:a16="http://schemas.microsoft.com/office/drawing/2014/main" id="{2972DA13-FAB1-4D1D-82F3-70E1A4BE60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580" y="374073"/>
            <a:ext cx="505170" cy="505170"/>
          </a:xfrm>
          <a:prstGeom prst="rect">
            <a:avLst/>
          </a:prstGeom>
        </p:spPr>
      </p:pic>
      <p:sp>
        <p:nvSpPr>
          <p:cNvPr id="113" name="Slide Number Placeholder 103">
            <a:extLst>
              <a:ext uri="{FF2B5EF4-FFF2-40B4-BE49-F238E27FC236}">
                <a16:creationId xmlns:a16="http://schemas.microsoft.com/office/drawing/2014/main" id="{B875F0F2-9EFF-44CF-B88B-14B87E85A499}"/>
              </a:ext>
            </a:extLst>
          </p:cNvPr>
          <p:cNvSpPr txBox="1">
            <a:spLocks/>
          </p:cNvSpPr>
          <p:nvPr/>
        </p:nvSpPr>
        <p:spPr>
          <a:xfrm>
            <a:off x="11784278" y="6421969"/>
            <a:ext cx="268022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577D2D2-DD48-490C-91B1-F9CF36E8FB7C}" type="slidenum">
              <a:rPr lang="en-US" smtClean="0">
                <a:solidFill>
                  <a:srgbClr val="51A1E9"/>
                </a:solidFill>
                <a:latin typeface="PT Sans Pro Light" panose="020B0403020203020204" pitchFamily="34" charset="0"/>
              </a:rPr>
              <a:pPr/>
              <a:t>15</a:t>
            </a:fld>
            <a:endParaRPr lang="en-US" dirty="0">
              <a:solidFill>
                <a:srgbClr val="51A1E9"/>
              </a:solidFill>
              <a:latin typeface="PT Sans Pro Light" panose="020B0403020203020204" pitchFamily="34" charset="0"/>
            </a:endParaRPr>
          </a:p>
        </p:txBody>
      </p:sp>
      <p:sp>
        <p:nvSpPr>
          <p:cNvPr id="8" name="TextBox 26">
            <a:extLst>
              <a:ext uri="{FF2B5EF4-FFF2-40B4-BE49-F238E27FC236}">
                <a16:creationId xmlns:a16="http://schemas.microsoft.com/office/drawing/2014/main" id="{415C9A0B-49F0-AB33-1A9C-601A5CF6AFFA}"/>
              </a:ext>
            </a:extLst>
          </p:cNvPr>
          <p:cNvSpPr txBox="1"/>
          <p:nvPr/>
        </p:nvSpPr>
        <p:spPr>
          <a:xfrm>
            <a:off x="489473" y="2372717"/>
            <a:ext cx="11035142" cy="2112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GB" sz="2400" b="0" i="0" dirty="0">
                <a:solidFill>
                  <a:srgbClr val="20402F"/>
                </a:solidFill>
                <a:latin typeface="Calibri"/>
              </a:rPr>
              <a:t>No pure-Java, non-Arrow alternative beats it today: Carpet adds an API layer without solving anything </a:t>
            </a:r>
            <a:r>
              <a:rPr lang="en-GB" sz="2400" b="0" i="0" dirty="0" err="1">
                <a:solidFill>
                  <a:srgbClr val="20402F"/>
                </a:solidFill>
                <a:latin typeface="Calibri"/>
              </a:rPr>
              <a:t>GeoParquet</a:t>
            </a:r>
            <a:r>
              <a:rPr lang="en-GB" sz="2400" b="0" i="0" dirty="0">
                <a:solidFill>
                  <a:srgbClr val="20402F"/>
                </a:solidFill>
                <a:latin typeface="Calibri"/>
              </a:rPr>
              <a:t>-specific, and Parquetry — the one library built for this — needs Java 25, which hale doesn't run yet. The open items aren't reasons to stop — they're exactly what the follow-up ticket should be scoped around.</a:t>
            </a:r>
          </a:p>
        </p:txBody>
      </p:sp>
      <p:sp>
        <p:nvSpPr>
          <p:cNvPr id="7" name="TextBox 34">
            <a:extLst>
              <a:ext uri="{FF2B5EF4-FFF2-40B4-BE49-F238E27FC236}">
                <a16:creationId xmlns:a16="http://schemas.microsoft.com/office/drawing/2014/main" id="{4E0B5CF1-50AF-C5A9-E4A5-106CF09A68DC}"/>
              </a:ext>
            </a:extLst>
          </p:cNvPr>
          <p:cNvSpPr txBox="1"/>
          <p:nvPr/>
        </p:nvSpPr>
        <p:spPr>
          <a:xfrm>
            <a:off x="464023" y="340948"/>
            <a:ext cx="1027742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51A1E9"/>
                </a:solidFill>
                <a:latin typeface="PT Sans" panose="020B0503020203020204" pitchFamily="34" charset="77"/>
              </a:rPr>
              <a:t>Move forward with parquet-java direct — </a:t>
            </a:r>
          </a:p>
          <a:p>
            <a:r>
              <a:rPr lang="en-GB" sz="3200" b="1" dirty="0">
                <a:solidFill>
                  <a:srgbClr val="51A1E9"/>
                </a:solidFill>
                <a:latin typeface="PT Sans" panose="020B0503020203020204" pitchFamily="34" charset="77"/>
              </a:rPr>
              <a:t>with the risks scoped into the next ticket, not solved by it.</a:t>
            </a:r>
          </a:p>
        </p:txBody>
      </p:sp>
    </p:spTree>
    <p:extLst>
      <p:ext uri="{BB962C8B-B14F-4D97-AF65-F5344CB8AC3E}">
        <p14:creationId xmlns:p14="http://schemas.microsoft.com/office/powerpoint/2010/main" val="3802642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287" descr="A picture containing drawing&#10;&#10;Description automatically generated">
            <a:extLst>
              <a:ext uri="{FF2B5EF4-FFF2-40B4-BE49-F238E27FC236}">
                <a16:creationId xmlns:a16="http://schemas.microsoft.com/office/drawing/2014/main" id="{2972DA13-FAB1-4D1D-82F3-70E1A4BE60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580" y="374073"/>
            <a:ext cx="505170" cy="505170"/>
          </a:xfrm>
          <a:prstGeom prst="rect">
            <a:avLst/>
          </a:prstGeom>
        </p:spPr>
      </p:pic>
      <p:sp>
        <p:nvSpPr>
          <p:cNvPr id="113" name="Slide Number Placeholder 103">
            <a:extLst>
              <a:ext uri="{FF2B5EF4-FFF2-40B4-BE49-F238E27FC236}">
                <a16:creationId xmlns:a16="http://schemas.microsoft.com/office/drawing/2014/main" id="{B875F0F2-9EFF-44CF-B88B-14B87E85A499}"/>
              </a:ext>
            </a:extLst>
          </p:cNvPr>
          <p:cNvSpPr txBox="1">
            <a:spLocks/>
          </p:cNvSpPr>
          <p:nvPr/>
        </p:nvSpPr>
        <p:spPr>
          <a:xfrm>
            <a:off x="11784278" y="6421969"/>
            <a:ext cx="268022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577D2D2-DD48-490C-91B1-F9CF36E8FB7C}" type="slidenum">
              <a:rPr lang="en-US" smtClean="0">
                <a:solidFill>
                  <a:srgbClr val="51A1E9"/>
                </a:solidFill>
                <a:latin typeface="PT Sans Pro Light" panose="020B0403020203020204" pitchFamily="34" charset="0"/>
              </a:rPr>
              <a:pPr/>
              <a:t>16</a:t>
            </a:fld>
            <a:endParaRPr lang="en-US" dirty="0">
              <a:solidFill>
                <a:srgbClr val="51A1E9"/>
              </a:solidFill>
              <a:latin typeface="PT Sans Pro Light" panose="020B0403020203020204" pitchFamily="34" charset="0"/>
            </a:endParaRPr>
          </a:p>
        </p:txBody>
      </p:sp>
      <p:sp>
        <p:nvSpPr>
          <p:cNvPr id="7" name="TextBox 34">
            <a:extLst>
              <a:ext uri="{FF2B5EF4-FFF2-40B4-BE49-F238E27FC236}">
                <a16:creationId xmlns:a16="http://schemas.microsoft.com/office/drawing/2014/main" id="{4E0B5CF1-50AF-C5A9-E4A5-106CF09A68DC}"/>
              </a:ext>
            </a:extLst>
          </p:cNvPr>
          <p:cNvSpPr txBox="1"/>
          <p:nvPr/>
        </p:nvSpPr>
        <p:spPr>
          <a:xfrm>
            <a:off x="4143446" y="2668512"/>
            <a:ext cx="390510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600" b="1" dirty="0">
                <a:solidFill>
                  <a:srgbClr val="51A1E9"/>
                </a:solidFill>
                <a:latin typeface="PT Sans" panose="020B0503020203020204" pitchFamily="34" charset="77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48787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51A1E9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6732</Words>
  <Application>Microsoft Office PowerPoint</Application>
  <PresentationFormat>Widescreen</PresentationFormat>
  <Paragraphs>419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Consolas</vt:lpstr>
      <vt:lpstr>PT Sans</vt:lpstr>
      <vt:lpstr>PT Sans Pro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UnicornPitch</dc:creator>
  <cp:keywords/>
  <dc:description/>
  <cp:lastModifiedBy>Emanuela Epure</cp:lastModifiedBy>
  <cp:revision>247</cp:revision>
  <cp:lastPrinted>2020-07-10T05:12:34Z</cp:lastPrinted>
  <dcterms:created xsi:type="dcterms:W3CDTF">2020-07-06T22:28:46Z</dcterms:created>
  <dcterms:modified xsi:type="dcterms:W3CDTF">2026-09-29T11:36:35Z</dcterms:modified>
  <cp:category/>
</cp:coreProperties>
</file>